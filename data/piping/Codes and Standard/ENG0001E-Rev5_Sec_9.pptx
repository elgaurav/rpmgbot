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5"/>
  </p:notesMasterIdLst>
  <p:sldIdLst>
    <p:sldId id="257" r:id="rId2"/>
    <p:sldId id="258" r:id="rId3"/>
    <p:sldId id="270" r:id="rId4"/>
    <p:sldId id="280" r:id="rId5"/>
    <p:sldId id="281" r:id="rId6"/>
    <p:sldId id="282" r:id="rId7"/>
    <p:sldId id="288" r:id="rId8"/>
    <p:sldId id="278" r:id="rId9"/>
    <p:sldId id="271" r:id="rId10"/>
    <p:sldId id="279" r:id="rId11"/>
    <p:sldId id="283" r:id="rId12"/>
    <p:sldId id="284" r:id="rId13"/>
    <p:sldId id="285" r:id="rId14"/>
    <p:sldId id="272" r:id="rId15"/>
    <p:sldId id="275" r:id="rId16"/>
    <p:sldId id="286" r:id="rId17"/>
    <p:sldId id="287" r:id="rId18"/>
    <p:sldId id="273" r:id="rId19"/>
    <p:sldId id="264" r:id="rId20"/>
    <p:sldId id="276" r:id="rId21"/>
    <p:sldId id="265" r:id="rId22"/>
    <p:sldId id="274" r:id="rId23"/>
    <p:sldId id="268" r:id="rId2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5620"/>
    <p:restoredTop sz="94660"/>
  </p:normalViewPr>
  <p:slideViewPr>
    <p:cSldViewPr>
      <p:cViewPr>
        <p:scale>
          <a:sx n="100" d="100"/>
          <a:sy n="100" d="100"/>
        </p:scale>
        <p:origin x="-1938" y="-528"/>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4B01A22C-7892-40E5-B8EB-741976A7B65B}" type="datetimeFigureOut">
              <a:rPr lang="en-US"/>
              <a:pPr>
                <a:defRPr/>
              </a:pPr>
              <a:t>9/23/2013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062CD5D4-7BFB-4DD9-AA4F-177ED5A8D760}"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218" name="Rectangle 3"/>
          <p:cNvSpPr>
            <a:spLocks noGrp="1" noChangeArrowheads="1"/>
          </p:cNvSpPr>
          <p:nvPr>
            <p:ph type="body" idx="1"/>
          </p:nvPr>
        </p:nvSpPr>
        <p:spPr bwMode="auto">
          <a:xfrm>
            <a:off x="684213" y="4341813"/>
            <a:ext cx="5489575" cy="4116387"/>
          </a:xfrm>
          <a:noFill/>
        </p:spPr>
        <p:txBody>
          <a:bodyPr wrap="square" numCol="1" anchor="t" anchorCtr="0" compatLnSpc="1">
            <a:prstTxWarp prst="textNoShape">
              <a:avLst/>
            </a:prstTxWarp>
          </a:bodyPr>
          <a:lstStyle/>
          <a:p>
            <a:pPr eaLnBrk="1" hangingPunct="1">
              <a:spcBef>
                <a:spcPct val="0"/>
              </a:spcBef>
            </a:pPr>
            <a:endParaRPr lang="en-US" smtClean="0">
              <a:cs typeface="Arial" charset="0"/>
            </a:endParaRPr>
          </a:p>
          <a:p>
            <a:pPr eaLnBrk="1" hangingPunct="1">
              <a:spcBef>
                <a:spcPct val="0"/>
              </a:spcBef>
            </a:pPr>
            <a:endParaRPr lang="en-US" smtClean="0">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290" name="Rectangle 3"/>
          <p:cNvSpPr>
            <a:spLocks noGrp="1" noChangeArrowheads="1"/>
          </p:cNvSpPr>
          <p:nvPr>
            <p:ph type="body" idx="1"/>
          </p:nvPr>
        </p:nvSpPr>
        <p:spPr bwMode="auto">
          <a:xfrm>
            <a:off x="684213" y="4341813"/>
            <a:ext cx="5489575" cy="4116387"/>
          </a:xfrm>
          <a:noFill/>
        </p:spPr>
        <p:txBody>
          <a:bodyPr wrap="square" numCol="1" anchor="t" anchorCtr="0" compatLnSpc="1">
            <a:prstTxWarp prst="textNoShape">
              <a:avLst/>
            </a:prstTxWarp>
          </a:bodyPr>
          <a:lstStyle/>
          <a:p>
            <a:pPr eaLnBrk="1" hangingPunct="1">
              <a:spcBef>
                <a:spcPct val="0"/>
              </a:spcBef>
            </a:pPr>
            <a:endParaRPr lang="en-US" smtClean="0">
              <a:cs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482" name="Rectangle 3"/>
          <p:cNvSpPr>
            <a:spLocks noGrp="1" noChangeArrowheads="1"/>
          </p:cNvSpPr>
          <p:nvPr>
            <p:ph type="body" idx="1"/>
          </p:nvPr>
        </p:nvSpPr>
        <p:spPr bwMode="auto">
          <a:xfrm>
            <a:off x="684213" y="4341813"/>
            <a:ext cx="5489575" cy="4116387"/>
          </a:xfrm>
          <a:noFill/>
        </p:spPr>
        <p:txBody>
          <a:bodyPr wrap="square" numCol="1" anchor="t" anchorCtr="0" compatLnSpc="1">
            <a:prstTxWarp prst="textNoShape">
              <a:avLst/>
            </a:prstTxWarp>
          </a:bodyPr>
          <a:lstStyle/>
          <a:p>
            <a:pPr eaLnBrk="1" hangingPunct="1">
              <a:spcBef>
                <a:spcPct val="0"/>
              </a:spcBef>
            </a:pPr>
            <a:endParaRPr lang="en-US" smtClean="0">
              <a:cs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5602" name="Rectangle 3"/>
          <p:cNvSpPr>
            <a:spLocks noGrp="1" noChangeArrowheads="1"/>
          </p:cNvSpPr>
          <p:nvPr>
            <p:ph type="body" idx="1"/>
          </p:nvPr>
        </p:nvSpPr>
        <p:spPr bwMode="auto">
          <a:xfrm>
            <a:off x="684213" y="4341813"/>
            <a:ext cx="5489575" cy="4116387"/>
          </a:xfrm>
          <a:noFill/>
        </p:spPr>
        <p:txBody>
          <a:bodyPr wrap="square" numCol="1" anchor="t" anchorCtr="0" compatLnSpc="1">
            <a:prstTxWarp prst="textNoShape">
              <a:avLst/>
            </a:prstTxWarp>
          </a:bodyPr>
          <a:lstStyle/>
          <a:p>
            <a:pPr eaLnBrk="1" hangingPunct="1">
              <a:spcBef>
                <a:spcPct val="0"/>
              </a:spcBef>
            </a:pPr>
            <a:endParaRPr lang="en-US" smtClean="0">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9698" name="Rectangle 3"/>
          <p:cNvSpPr>
            <a:spLocks noGrp="1" noChangeArrowheads="1"/>
          </p:cNvSpPr>
          <p:nvPr>
            <p:ph type="body" idx="1"/>
          </p:nvPr>
        </p:nvSpPr>
        <p:spPr bwMode="auto">
          <a:xfrm>
            <a:off x="684213" y="4341813"/>
            <a:ext cx="5489575" cy="4116387"/>
          </a:xfrm>
          <a:noFill/>
        </p:spPr>
        <p:txBody>
          <a:bodyPr wrap="square" numCol="1" anchor="t" anchorCtr="0" compatLnSpc="1">
            <a:prstTxWarp prst="textNoShape">
              <a:avLst/>
            </a:prstTxWarp>
          </a:bodyPr>
          <a:lstStyle/>
          <a:p>
            <a:pPr eaLnBrk="1" hangingPunct="1">
              <a:spcBef>
                <a:spcPct val="0"/>
              </a:spcBef>
            </a:pPr>
            <a:endParaRPr lang="en-US" smtClean="0">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3" name="Group 20"/>
          <p:cNvGrpSpPr>
            <a:grpSpLocks noChangeAspect="1"/>
          </p:cNvGrpSpPr>
          <p:nvPr/>
        </p:nvGrpSpPr>
        <p:grpSpPr bwMode="auto">
          <a:xfrm>
            <a:off x="2978150" y="1717675"/>
            <a:ext cx="5153025" cy="269875"/>
            <a:chOff x="1902" y="1062"/>
            <a:chExt cx="3246" cy="170"/>
          </a:xfrm>
        </p:grpSpPr>
        <p:sp>
          <p:nvSpPr>
            <p:cNvPr id="4" name="AutoShape 19"/>
            <p:cNvSpPr>
              <a:spLocks noChangeAspect="1" noChangeArrowheads="1" noTextEdit="1"/>
            </p:cNvSpPr>
            <p:nvPr/>
          </p:nvSpPr>
          <p:spPr bwMode="white">
            <a:xfrm>
              <a:off x="1902" y="1062"/>
              <a:ext cx="3246" cy="170"/>
            </a:xfrm>
            <a:prstGeom prst="rect">
              <a:avLst/>
            </a:prstGeom>
            <a:noFill/>
            <a:ln>
              <a:noFill/>
            </a:ln>
            <a:extLst>
              <a:ext uri="{909E8E84-426E-40DD-AFC4-6F175D3DCCD1}"/>
              <a:ext uri="{91240B29-F687-4F45-9708-019B960494DF}"/>
            </a:extLst>
          </p:spPr>
          <p:txBody>
            <a:bodyPr/>
            <a:lstStyle/>
            <a:p>
              <a:pPr fontAlgn="auto">
                <a:spcBef>
                  <a:spcPts val="0"/>
                </a:spcBef>
                <a:spcAft>
                  <a:spcPts val="0"/>
                </a:spcAft>
                <a:defRPr/>
              </a:pPr>
              <a:endParaRPr lang="en-US">
                <a:latin typeface="+mn-lt"/>
              </a:endParaRPr>
            </a:p>
          </p:txBody>
        </p:sp>
        <p:sp>
          <p:nvSpPr>
            <p:cNvPr id="5" name="Freeform 21"/>
            <p:cNvSpPr>
              <a:spLocks noEditPoints="1"/>
            </p:cNvSpPr>
            <p:nvPr/>
          </p:nvSpPr>
          <p:spPr bwMode="white">
            <a:xfrm>
              <a:off x="1901" y="1063"/>
              <a:ext cx="99" cy="126"/>
            </a:xfrm>
            <a:custGeom>
              <a:avLst/>
              <a:gdLst>
                <a:gd name="T0" fmla="*/ 9 w 121"/>
                <a:gd name="T1" fmla="*/ 6 h 156"/>
                <a:gd name="T2" fmla="*/ 9 w 121"/>
                <a:gd name="T3" fmla="*/ 2 h 156"/>
                <a:gd name="T4" fmla="*/ 11 w 121"/>
                <a:gd name="T5" fmla="*/ 0 h 156"/>
                <a:gd name="T6" fmla="*/ 11 w 121"/>
                <a:gd name="T7" fmla="*/ 12 h 156"/>
                <a:gd name="T8" fmla="*/ 11 w 121"/>
                <a:gd name="T9" fmla="*/ 14 h 156"/>
                <a:gd name="T10" fmla="*/ 13 w 121"/>
                <a:gd name="T11" fmla="*/ 14 h 156"/>
                <a:gd name="T12" fmla="*/ 13 w 121"/>
                <a:gd name="T13" fmla="*/ 14 h 156"/>
                <a:gd name="T14" fmla="*/ 13 w 121"/>
                <a:gd name="T15" fmla="*/ 15 h 156"/>
                <a:gd name="T16" fmla="*/ 11 w 121"/>
                <a:gd name="T17" fmla="*/ 15 h 156"/>
                <a:gd name="T18" fmla="*/ 9 w 121"/>
                <a:gd name="T19" fmla="*/ 14 h 156"/>
                <a:gd name="T20" fmla="*/ 7 w 121"/>
                <a:gd name="T21" fmla="*/ 15 h 156"/>
                <a:gd name="T22" fmla="*/ 6 w 121"/>
                <a:gd name="T23" fmla="*/ 15 h 156"/>
                <a:gd name="T24" fmla="*/ 2 w 121"/>
                <a:gd name="T25" fmla="*/ 14 h 156"/>
                <a:gd name="T26" fmla="*/ 0 w 121"/>
                <a:gd name="T27" fmla="*/ 10 h 156"/>
                <a:gd name="T28" fmla="*/ 2 w 121"/>
                <a:gd name="T29" fmla="*/ 6 h 156"/>
                <a:gd name="T30" fmla="*/ 6 w 121"/>
                <a:gd name="T31" fmla="*/ 5 h 156"/>
                <a:gd name="T32" fmla="*/ 7 w 121"/>
                <a:gd name="T33" fmla="*/ 5 h 156"/>
                <a:gd name="T34" fmla="*/ 9 w 121"/>
                <a:gd name="T35" fmla="*/ 6 h 156"/>
                <a:gd name="T36" fmla="*/ 2 w 121"/>
                <a:gd name="T37" fmla="*/ 10 h 156"/>
                <a:gd name="T38" fmla="*/ 3 w 121"/>
                <a:gd name="T39" fmla="*/ 12 h 156"/>
                <a:gd name="T40" fmla="*/ 6 w 121"/>
                <a:gd name="T41" fmla="*/ 14 h 156"/>
                <a:gd name="T42" fmla="*/ 7 w 121"/>
                <a:gd name="T43" fmla="*/ 12 h 156"/>
                <a:gd name="T44" fmla="*/ 9 w 121"/>
                <a:gd name="T45" fmla="*/ 12 h 156"/>
                <a:gd name="T46" fmla="*/ 9 w 121"/>
                <a:gd name="T47" fmla="*/ 8 h 156"/>
                <a:gd name="T48" fmla="*/ 7 w 121"/>
                <a:gd name="T49" fmla="*/ 7 h 156"/>
                <a:gd name="T50" fmla="*/ 6 w 121"/>
                <a:gd name="T51" fmla="*/ 6 h 156"/>
                <a:gd name="T52" fmla="*/ 3 w 121"/>
                <a:gd name="T53" fmla="*/ 8 h 156"/>
                <a:gd name="T54" fmla="*/ 2 w 121"/>
                <a:gd name="T55" fmla="*/ 10 h 15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21" h="156">
                  <a:moveTo>
                    <a:pt x="85" y="63"/>
                  </a:moveTo>
                  <a:cubicBezTo>
                    <a:pt x="85" y="6"/>
                    <a:pt x="85" y="6"/>
                    <a:pt x="85" y="6"/>
                  </a:cubicBezTo>
                  <a:cubicBezTo>
                    <a:pt x="105" y="0"/>
                    <a:pt x="105" y="0"/>
                    <a:pt x="105" y="0"/>
                  </a:cubicBezTo>
                  <a:cubicBezTo>
                    <a:pt x="105" y="132"/>
                    <a:pt x="105" y="132"/>
                    <a:pt x="105" y="132"/>
                  </a:cubicBezTo>
                  <a:cubicBezTo>
                    <a:pt x="105" y="135"/>
                    <a:pt x="105" y="138"/>
                    <a:pt x="107" y="139"/>
                  </a:cubicBezTo>
                  <a:cubicBezTo>
                    <a:pt x="108" y="140"/>
                    <a:pt x="111" y="141"/>
                    <a:pt x="114" y="141"/>
                  </a:cubicBezTo>
                  <a:cubicBezTo>
                    <a:pt x="117" y="141"/>
                    <a:pt x="119" y="140"/>
                    <a:pt x="121" y="139"/>
                  </a:cubicBezTo>
                  <a:cubicBezTo>
                    <a:pt x="121" y="152"/>
                    <a:pt x="121" y="152"/>
                    <a:pt x="121" y="152"/>
                  </a:cubicBezTo>
                  <a:cubicBezTo>
                    <a:pt x="116" y="154"/>
                    <a:pt x="110" y="156"/>
                    <a:pt x="104" y="156"/>
                  </a:cubicBezTo>
                  <a:cubicBezTo>
                    <a:pt x="93" y="156"/>
                    <a:pt x="87" y="152"/>
                    <a:pt x="85" y="145"/>
                  </a:cubicBezTo>
                  <a:cubicBezTo>
                    <a:pt x="81" y="148"/>
                    <a:pt x="75" y="151"/>
                    <a:pt x="69" y="153"/>
                  </a:cubicBezTo>
                  <a:cubicBezTo>
                    <a:pt x="63" y="155"/>
                    <a:pt x="57" y="156"/>
                    <a:pt x="52" y="156"/>
                  </a:cubicBezTo>
                  <a:cubicBezTo>
                    <a:pt x="36" y="156"/>
                    <a:pt x="23" y="151"/>
                    <a:pt x="14" y="142"/>
                  </a:cubicBezTo>
                  <a:cubicBezTo>
                    <a:pt x="5" y="132"/>
                    <a:pt x="0" y="120"/>
                    <a:pt x="0" y="104"/>
                  </a:cubicBezTo>
                  <a:cubicBezTo>
                    <a:pt x="0" y="89"/>
                    <a:pt x="5" y="76"/>
                    <a:pt x="14" y="67"/>
                  </a:cubicBezTo>
                  <a:cubicBezTo>
                    <a:pt x="23" y="58"/>
                    <a:pt x="36" y="53"/>
                    <a:pt x="52" y="53"/>
                  </a:cubicBezTo>
                  <a:cubicBezTo>
                    <a:pt x="58" y="53"/>
                    <a:pt x="64" y="54"/>
                    <a:pt x="70" y="56"/>
                  </a:cubicBezTo>
                  <a:cubicBezTo>
                    <a:pt x="75" y="58"/>
                    <a:pt x="80" y="60"/>
                    <a:pt x="85" y="63"/>
                  </a:cubicBezTo>
                  <a:close/>
                  <a:moveTo>
                    <a:pt x="20" y="104"/>
                  </a:moveTo>
                  <a:cubicBezTo>
                    <a:pt x="20" y="114"/>
                    <a:pt x="23" y="122"/>
                    <a:pt x="28" y="129"/>
                  </a:cubicBezTo>
                  <a:cubicBezTo>
                    <a:pt x="33" y="135"/>
                    <a:pt x="42" y="138"/>
                    <a:pt x="53" y="138"/>
                  </a:cubicBezTo>
                  <a:cubicBezTo>
                    <a:pt x="60" y="138"/>
                    <a:pt x="66" y="137"/>
                    <a:pt x="72" y="134"/>
                  </a:cubicBezTo>
                  <a:cubicBezTo>
                    <a:pt x="77" y="132"/>
                    <a:pt x="81" y="129"/>
                    <a:pt x="85" y="125"/>
                  </a:cubicBezTo>
                  <a:cubicBezTo>
                    <a:pt x="85" y="84"/>
                    <a:pt x="85" y="84"/>
                    <a:pt x="85" y="84"/>
                  </a:cubicBezTo>
                  <a:cubicBezTo>
                    <a:pt x="82" y="80"/>
                    <a:pt x="78" y="77"/>
                    <a:pt x="72" y="75"/>
                  </a:cubicBezTo>
                  <a:cubicBezTo>
                    <a:pt x="67" y="72"/>
                    <a:pt x="60" y="71"/>
                    <a:pt x="53" y="71"/>
                  </a:cubicBezTo>
                  <a:cubicBezTo>
                    <a:pt x="42" y="71"/>
                    <a:pt x="33" y="74"/>
                    <a:pt x="28" y="80"/>
                  </a:cubicBezTo>
                  <a:cubicBezTo>
                    <a:pt x="23" y="86"/>
                    <a:pt x="20" y="94"/>
                    <a:pt x="20" y="104"/>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6" name="Freeform 22"/>
            <p:cNvSpPr>
              <a:spLocks noEditPoints="1"/>
            </p:cNvSpPr>
            <p:nvPr/>
          </p:nvSpPr>
          <p:spPr bwMode="white">
            <a:xfrm>
              <a:off x="2016" y="1106"/>
              <a:ext cx="85" cy="83"/>
            </a:xfrm>
            <a:custGeom>
              <a:avLst/>
              <a:gdLst>
                <a:gd name="T0" fmla="*/ 2 w 103"/>
                <a:gd name="T1" fmla="*/ 5 h 103"/>
                <a:gd name="T2" fmla="*/ 4 w 103"/>
                <a:gd name="T3" fmla="*/ 8 h 103"/>
                <a:gd name="T4" fmla="*/ 7 w 103"/>
                <a:gd name="T5" fmla="*/ 8 h 103"/>
                <a:gd name="T6" fmla="*/ 10 w 103"/>
                <a:gd name="T7" fmla="*/ 8 h 103"/>
                <a:gd name="T8" fmla="*/ 12 w 103"/>
                <a:gd name="T9" fmla="*/ 6 h 103"/>
                <a:gd name="T10" fmla="*/ 12 w 103"/>
                <a:gd name="T11" fmla="*/ 8 h 103"/>
                <a:gd name="T12" fmla="*/ 10 w 103"/>
                <a:gd name="T13" fmla="*/ 10 h 103"/>
                <a:gd name="T14" fmla="*/ 7 w 103"/>
                <a:gd name="T15" fmla="*/ 10 h 103"/>
                <a:gd name="T16" fmla="*/ 2 w 103"/>
                <a:gd name="T17" fmla="*/ 8 h 103"/>
                <a:gd name="T18" fmla="*/ 0 w 103"/>
                <a:gd name="T19" fmla="*/ 5 h 103"/>
                <a:gd name="T20" fmla="*/ 2 w 103"/>
                <a:gd name="T21" fmla="*/ 2 h 103"/>
                <a:gd name="T22" fmla="*/ 7 w 103"/>
                <a:gd name="T23" fmla="*/ 0 h 103"/>
                <a:gd name="T24" fmla="*/ 11 w 103"/>
                <a:gd name="T25" fmla="*/ 2 h 103"/>
                <a:gd name="T26" fmla="*/ 12 w 103"/>
                <a:gd name="T27" fmla="*/ 3 h 103"/>
                <a:gd name="T28" fmla="*/ 12 w 103"/>
                <a:gd name="T29" fmla="*/ 5 h 103"/>
                <a:gd name="T30" fmla="*/ 2 w 103"/>
                <a:gd name="T31" fmla="*/ 5 h 103"/>
                <a:gd name="T32" fmla="*/ 2 w 103"/>
                <a:gd name="T33" fmla="*/ 4 h 103"/>
                <a:gd name="T34" fmla="*/ 10 w 103"/>
                <a:gd name="T35" fmla="*/ 4 h 103"/>
                <a:gd name="T36" fmla="*/ 10 w 103"/>
                <a:gd name="T37" fmla="*/ 3 h 103"/>
                <a:gd name="T38" fmla="*/ 10 w 103"/>
                <a:gd name="T39" fmla="*/ 2 h 103"/>
                <a:gd name="T40" fmla="*/ 7 w 103"/>
                <a:gd name="T41" fmla="*/ 2 h 103"/>
                <a:gd name="T42" fmla="*/ 4 w 103"/>
                <a:gd name="T43" fmla="*/ 2 h 103"/>
                <a:gd name="T44" fmla="*/ 2 w 103"/>
                <a:gd name="T45" fmla="*/ 4 h 10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3" h="103">
                  <a:moveTo>
                    <a:pt x="20" y="56"/>
                  </a:moveTo>
                  <a:cubicBezTo>
                    <a:pt x="20" y="66"/>
                    <a:pt x="24" y="73"/>
                    <a:pt x="31" y="78"/>
                  </a:cubicBezTo>
                  <a:cubicBezTo>
                    <a:pt x="38" y="83"/>
                    <a:pt x="48" y="85"/>
                    <a:pt x="61" y="85"/>
                  </a:cubicBezTo>
                  <a:cubicBezTo>
                    <a:pt x="68" y="85"/>
                    <a:pt x="75" y="84"/>
                    <a:pt x="83" y="82"/>
                  </a:cubicBezTo>
                  <a:cubicBezTo>
                    <a:pt x="91" y="80"/>
                    <a:pt x="97" y="77"/>
                    <a:pt x="102" y="73"/>
                  </a:cubicBezTo>
                  <a:cubicBezTo>
                    <a:pt x="102" y="93"/>
                    <a:pt x="102" y="93"/>
                    <a:pt x="102" y="93"/>
                  </a:cubicBezTo>
                  <a:cubicBezTo>
                    <a:pt x="97" y="95"/>
                    <a:pt x="90" y="98"/>
                    <a:pt x="82" y="100"/>
                  </a:cubicBezTo>
                  <a:cubicBezTo>
                    <a:pt x="74" y="102"/>
                    <a:pt x="66" y="103"/>
                    <a:pt x="57" y="103"/>
                  </a:cubicBezTo>
                  <a:cubicBezTo>
                    <a:pt x="40" y="103"/>
                    <a:pt x="26" y="98"/>
                    <a:pt x="16" y="90"/>
                  </a:cubicBezTo>
                  <a:cubicBezTo>
                    <a:pt x="5" y="81"/>
                    <a:pt x="0" y="68"/>
                    <a:pt x="0" y="51"/>
                  </a:cubicBezTo>
                  <a:cubicBezTo>
                    <a:pt x="0" y="35"/>
                    <a:pt x="5" y="22"/>
                    <a:pt x="15" y="13"/>
                  </a:cubicBezTo>
                  <a:cubicBezTo>
                    <a:pt x="26" y="4"/>
                    <a:pt x="39" y="0"/>
                    <a:pt x="56" y="0"/>
                  </a:cubicBezTo>
                  <a:cubicBezTo>
                    <a:pt x="72" y="0"/>
                    <a:pt x="84" y="4"/>
                    <a:pt x="92" y="12"/>
                  </a:cubicBezTo>
                  <a:cubicBezTo>
                    <a:pt x="99" y="19"/>
                    <a:pt x="103" y="27"/>
                    <a:pt x="103" y="37"/>
                  </a:cubicBezTo>
                  <a:cubicBezTo>
                    <a:pt x="103" y="45"/>
                    <a:pt x="101" y="51"/>
                    <a:pt x="96" y="56"/>
                  </a:cubicBezTo>
                  <a:lnTo>
                    <a:pt x="20" y="56"/>
                  </a:lnTo>
                  <a:close/>
                  <a:moveTo>
                    <a:pt x="21" y="40"/>
                  </a:moveTo>
                  <a:cubicBezTo>
                    <a:pt x="83" y="40"/>
                    <a:pt x="83" y="40"/>
                    <a:pt x="83" y="40"/>
                  </a:cubicBezTo>
                  <a:cubicBezTo>
                    <a:pt x="83" y="39"/>
                    <a:pt x="84" y="37"/>
                    <a:pt x="84" y="35"/>
                  </a:cubicBezTo>
                  <a:cubicBezTo>
                    <a:pt x="84" y="31"/>
                    <a:pt x="82" y="27"/>
                    <a:pt x="77" y="23"/>
                  </a:cubicBezTo>
                  <a:cubicBezTo>
                    <a:pt x="72" y="20"/>
                    <a:pt x="65" y="18"/>
                    <a:pt x="56" y="18"/>
                  </a:cubicBezTo>
                  <a:cubicBezTo>
                    <a:pt x="47" y="18"/>
                    <a:pt x="40" y="20"/>
                    <a:pt x="34" y="23"/>
                  </a:cubicBezTo>
                  <a:cubicBezTo>
                    <a:pt x="27" y="27"/>
                    <a:pt x="23" y="32"/>
                    <a:pt x="21" y="40"/>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7" name="Freeform 23"/>
            <p:cNvSpPr>
              <a:spLocks noEditPoints="1"/>
            </p:cNvSpPr>
            <p:nvPr/>
          </p:nvSpPr>
          <p:spPr bwMode="white">
            <a:xfrm>
              <a:off x="2128" y="1103"/>
              <a:ext cx="85" cy="127"/>
            </a:xfrm>
            <a:custGeom>
              <a:avLst/>
              <a:gdLst>
                <a:gd name="T0" fmla="*/ 10 w 105"/>
                <a:gd name="T1" fmla="*/ 5 h 157"/>
                <a:gd name="T2" fmla="*/ 9 w 105"/>
                <a:gd name="T3" fmla="*/ 9 h 157"/>
                <a:gd name="T4" fmla="*/ 5 w 105"/>
                <a:gd name="T5" fmla="*/ 10 h 157"/>
                <a:gd name="T6" fmla="*/ 3 w 105"/>
                <a:gd name="T7" fmla="*/ 10 h 157"/>
                <a:gd name="T8" fmla="*/ 2 w 105"/>
                <a:gd name="T9" fmla="*/ 10 h 157"/>
                <a:gd name="T10" fmla="*/ 2 w 105"/>
                <a:gd name="T11" fmla="*/ 15 h 157"/>
                <a:gd name="T12" fmla="*/ 0 w 105"/>
                <a:gd name="T13" fmla="*/ 15 h 157"/>
                <a:gd name="T14" fmla="*/ 0 w 105"/>
                <a:gd name="T15" fmla="*/ 2 h 157"/>
                <a:gd name="T16" fmla="*/ 2 w 105"/>
                <a:gd name="T17" fmla="*/ 0 h 157"/>
                <a:gd name="T18" fmla="*/ 2 w 105"/>
                <a:gd name="T19" fmla="*/ 2 h 157"/>
                <a:gd name="T20" fmla="*/ 3 w 105"/>
                <a:gd name="T21" fmla="*/ 2 h 157"/>
                <a:gd name="T22" fmla="*/ 5 w 105"/>
                <a:gd name="T23" fmla="*/ 2 h 157"/>
                <a:gd name="T24" fmla="*/ 9 w 105"/>
                <a:gd name="T25" fmla="*/ 2 h 157"/>
                <a:gd name="T26" fmla="*/ 10 w 105"/>
                <a:gd name="T27" fmla="*/ 5 h 157"/>
                <a:gd name="T28" fmla="*/ 8 w 105"/>
                <a:gd name="T29" fmla="*/ 5 h 157"/>
                <a:gd name="T30" fmla="*/ 7 w 105"/>
                <a:gd name="T31" fmla="*/ 2 h 157"/>
                <a:gd name="T32" fmla="*/ 5 w 105"/>
                <a:gd name="T33" fmla="*/ 2 h 157"/>
                <a:gd name="T34" fmla="*/ 3 w 105"/>
                <a:gd name="T35" fmla="*/ 2 h 157"/>
                <a:gd name="T36" fmla="*/ 2 w 105"/>
                <a:gd name="T37" fmla="*/ 3 h 157"/>
                <a:gd name="T38" fmla="*/ 2 w 105"/>
                <a:gd name="T39" fmla="*/ 7 h 157"/>
                <a:gd name="T40" fmla="*/ 3 w 105"/>
                <a:gd name="T41" fmla="*/ 8 h 157"/>
                <a:gd name="T42" fmla="*/ 5 w 105"/>
                <a:gd name="T43" fmla="*/ 8 h 157"/>
                <a:gd name="T44" fmla="*/ 7 w 105"/>
                <a:gd name="T45" fmla="*/ 8 h 157"/>
                <a:gd name="T46" fmla="*/ 8 w 105"/>
                <a:gd name="T47" fmla="*/ 5 h 15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5" h="157">
                  <a:moveTo>
                    <a:pt x="105" y="54"/>
                  </a:moveTo>
                  <a:cubicBezTo>
                    <a:pt x="105" y="70"/>
                    <a:pt x="100" y="82"/>
                    <a:pt x="91" y="92"/>
                  </a:cubicBezTo>
                  <a:cubicBezTo>
                    <a:pt x="82" y="101"/>
                    <a:pt x="69" y="106"/>
                    <a:pt x="53" y="106"/>
                  </a:cubicBezTo>
                  <a:cubicBezTo>
                    <a:pt x="47" y="106"/>
                    <a:pt x="41" y="105"/>
                    <a:pt x="35" y="103"/>
                  </a:cubicBezTo>
                  <a:cubicBezTo>
                    <a:pt x="29" y="101"/>
                    <a:pt x="24" y="98"/>
                    <a:pt x="20" y="96"/>
                  </a:cubicBezTo>
                  <a:cubicBezTo>
                    <a:pt x="20" y="157"/>
                    <a:pt x="20" y="157"/>
                    <a:pt x="20" y="157"/>
                  </a:cubicBezTo>
                  <a:cubicBezTo>
                    <a:pt x="0" y="157"/>
                    <a:pt x="0" y="157"/>
                    <a:pt x="0" y="157"/>
                  </a:cubicBezTo>
                  <a:cubicBezTo>
                    <a:pt x="0" y="7"/>
                    <a:pt x="0" y="7"/>
                    <a:pt x="0" y="7"/>
                  </a:cubicBezTo>
                  <a:cubicBezTo>
                    <a:pt x="20" y="0"/>
                    <a:pt x="20" y="0"/>
                    <a:pt x="20" y="0"/>
                  </a:cubicBezTo>
                  <a:cubicBezTo>
                    <a:pt x="20" y="13"/>
                    <a:pt x="20" y="13"/>
                    <a:pt x="20" y="13"/>
                  </a:cubicBezTo>
                  <a:cubicBezTo>
                    <a:pt x="24" y="10"/>
                    <a:pt x="29" y="8"/>
                    <a:pt x="35" y="6"/>
                  </a:cubicBezTo>
                  <a:cubicBezTo>
                    <a:pt x="41" y="4"/>
                    <a:pt x="47" y="3"/>
                    <a:pt x="53" y="3"/>
                  </a:cubicBezTo>
                  <a:cubicBezTo>
                    <a:pt x="69" y="3"/>
                    <a:pt x="82" y="8"/>
                    <a:pt x="91" y="17"/>
                  </a:cubicBezTo>
                  <a:cubicBezTo>
                    <a:pt x="100" y="26"/>
                    <a:pt x="105" y="39"/>
                    <a:pt x="105" y="54"/>
                  </a:cubicBezTo>
                  <a:close/>
                  <a:moveTo>
                    <a:pt x="85" y="54"/>
                  </a:moveTo>
                  <a:cubicBezTo>
                    <a:pt x="85" y="44"/>
                    <a:pt x="82" y="36"/>
                    <a:pt x="77" y="30"/>
                  </a:cubicBezTo>
                  <a:cubicBezTo>
                    <a:pt x="71" y="24"/>
                    <a:pt x="63" y="21"/>
                    <a:pt x="51" y="21"/>
                  </a:cubicBezTo>
                  <a:cubicBezTo>
                    <a:pt x="44" y="21"/>
                    <a:pt x="38" y="22"/>
                    <a:pt x="33" y="24"/>
                  </a:cubicBezTo>
                  <a:cubicBezTo>
                    <a:pt x="28" y="27"/>
                    <a:pt x="23" y="30"/>
                    <a:pt x="20" y="34"/>
                  </a:cubicBezTo>
                  <a:cubicBezTo>
                    <a:pt x="20" y="75"/>
                    <a:pt x="20" y="75"/>
                    <a:pt x="20" y="75"/>
                  </a:cubicBezTo>
                  <a:cubicBezTo>
                    <a:pt x="23" y="78"/>
                    <a:pt x="27" y="81"/>
                    <a:pt x="32" y="84"/>
                  </a:cubicBezTo>
                  <a:cubicBezTo>
                    <a:pt x="38" y="86"/>
                    <a:pt x="44" y="88"/>
                    <a:pt x="51" y="88"/>
                  </a:cubicBezTo>
                  <a:cubicBezTo>
                    <a:pt x="63" y="88"/>
                    <a:pt x="71" y="85"/>
                    <a:pt x="77" y="79"/>
                  </a:cubicBezTo>
                  <a:cubicBezTo>
                    <a:pt x="82" y="72"/>
                    <a:pt x="85" y="64"/>
                    <a:pt x="85" y="54"/>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8" name="Freeform 24"/>
            <p:cNvSpPr>
              <a:spLocks noEditPoints="1"/>
            </p:cNvSpPr>
            <p:nvPr/>
          </p:nvSpPr>
          <p:spPr bwMode="white">
            <a:xfrm>
              <a:off x="2235" y="1106"/>
              <a:ext cx="85" cy="83"/>
            </a:xfrm>
            <a:custGeom>
              <a:avLst/>
              <a:gdLst>
                <a:gd name="T0" fmla="*/ 2 w 103"/>
                <a:gd name="T1" fmla="*/ 5 h 103"/>
                <a:gd name="T2" fmla="*/ 4 w 103"/>
                <a:gd name="T3" fmla="*/ 8 h 103"/>
                <a:gd name="T4" fmla="*/ 7 w 103"/>
                <a:gd name="T5" fmla="*/ 8 h 103"/>
                <a:gd name="T6" fmla="*/ 10 w 103"/>
                <a:gd name="T7" fmla="*/ 8 h 103"/>
                <a:gd name="T8" fmla="*/ 12 w 103"/>
                <a:gd name="T9" fmla="*/ 6 h 103"/>
                <a:gd name="T10" fmla="*/ 12 w 103"/>
                <a:gd name="T11" fmla="*/ 8 h 103"/>
                <a:gd name="T12" fmla="*/ 10 w 103"/>
                <a:gd name="T13" fmla="*/ 10 h 103"/>
                <a:gd name="T14" fmla="*/ 7 w 103"/>
                <a:gd name="T15" fmla="*/ 10 h 103"/>
                <a:gd name="T16" fmla="*/ 2 w 103"/>
                <a:gd name="T17" fmla="*/ 8 h 103"/>
                <a:gd name="T18" fmla="*/ 0 w 103"/>
                <a:gd name="T19" fmla="*/ 5 h 103"/>
                <a:gd name="T20" fmla="*/ 2 w 103"/>
                <a:gd name="T21" fmla="*/ 2 h 103"/>
                <a:gd name="T22" fmla="*/ 7 w 103"/>
                <a:gd name="T23" fmla="*/ 0 h 103"/>
                <a:gd name="T24" fmla="*/ 11 w 103"/>
                <a:gd name="T25" fmla="*/ 2 h 103"/>
                <a:gd name="T26" fmla="*/ 12 w 103"/>
                <a:gd name="T27" fmla="*/ 3 h 103"/>
                <a:gd name="T28" fmla="*/ 12 w 103"/>
                <a:gd name="T29" fmla="*/ 5 h 103"/>
                <a:gd name="T30" fmla="*/ 2 w 103"/>
                <a:gd name="T31" fmla="*/ 5 h 103"/>
                <a:gd name="T32" fmla="*/ 2 w 103"/>
                <a:gd name="T33" fmla="*/ 4 h 103"/>
                <a:gd name="T34" fmla="*/ 10 w 103"/>
                <a:gd name="T35" fmla="*/ 4 h 103"/>
                <a:gd name="T36" fmla="*/ 10 w 103"/>
                <a:gd name="T37" fmla="*/ 3 h 103"/>
                <a:gd name="T38" fmla="*/ 10 w 103"/>
                <a:gd name="T39" fmla="*/ 2 h 103"/>
                <a:gd name="T40" fmla="*/ 7 w 103"/>
                <a:gd name="T41" fmla="*/ 2 h 103"/>
                <a:gd name="T42" fmla="*/ 4 w 103"/>
                <a:gd name="T43" fmla="*/ 2 h 103"/>
                <a:gd name="T44" fmla="*/ 2 w 103"/>
                <a:gd name="T45" fmla="*/ 4 h 10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3" h="103">
                  <a:moveTo>
                    <a:pt x="20" y="56"/>
                  </a:moveTo>
                  <a:cubicBezTo>
                    <a:pt x="20" y="66"/>
                    <a:pt x="24" y="73"/>
                    <a:pt x="31" y="78"/>
                  </a:cubicBezTo>
                  <a:cubicBezTo>
                    <a:pt x="38" y="83"/>
                    <a:pt x="48" y="85"/>
                    <a:pt x="61" y="85"/>
                  </a:cubicBezTo>
                  <a:cubicBezTo>
                    <a:pt x="68" y="85"/>
                    <a:pt x="75" y="84"/>
                    <a:pt x="83" y="82"/>
                  </a:cubicBezTo>
                  <a:cubicBezTo>
                    <a:pt x="91" y="80"/>
                    <a:pt x="97" y="77"/>
                    <a:pt x="102" y="73"/>
                  </a:cubicBezTo>
                  <a:cubicBezTo>
                    <a:pt x="102" y="93"/>
                    <a:pt x="102" y="93"/>
                    <a:pt x="102" y="93"/>
                  </a:cubicBezTo>
                  <a:cubicBezTo>
                    <a:pt x="97" y="95"/>
                    <a:pt x="90" y="98"/>
                    <a:pt x="82" y="100"/>
                  </a:cubicBezTo>
                  <a:cubicBezTo>
                    <a:pt x="74" y="102"/>
                    <a:pt x="66" y="103"/>
                    <a:pt x="57" y="103"/>
                  </a:cubicBezTo>
                  <a:cubicBezTo>
                    <a:pt x="40" y="103"/>
                    <a:pt x="26" y="98"/>
                    <a:pt x="16" y="90"/>
                  </a:cubicBezTo>
                  <a:cubicBezTo>
                    <a:pt x="6" y="81"/>
                    <a:pt x="0" y="68"/>
                    <a:pt x="0" y="51"/>
                  </a:cubicBezTo>
                  <a:cubicBezTo>
                    <a:pt x="0" y="35"/>
                    <a:pt x="5" y="22"/>
                    <a:pt x="16" y="13"/>
                  </a:cubicBezTo>
                  <a:cubicBezTo>
                    <a:pt x="26" y="4"/>
                    <a:pt x="39" y="0"/>
                    <a:pt x="56" y="0"/>
                  </a:cubicBezTo>
                  <a:cubicBezTo>
                    <a:pt x="72" y="0"/>
                    <a:pt x="84" y="4"/>
                    <a:pt x="92" y="12"/>
                  </a:cubicBezTo>
                  <a:cubicBezTo>
                    <a:pt x="99" y="19"/>
                    <a:pt x="103" y="27"/>
                    <a:pt x="103" y="37"/>
                  </a:cubicBezTo>
                  <a:cubicBezTo>
                    <a:pt x="103" y="45"/>
                    <a:pt x="101" y="51"/>
                    <a:pt x="97" y="56"/>
                  </a:cubicBezTo>
                  <a:lnTo>
                    <a:pt x="20" y="56"/>
                  </a:lnTo>
                  <a:close/>
                  <a:moveTo>
                    <a:pt x="22" y="40"/>
                  </a:moveTo>
                  <a:cubicBezTo>
                    <a:pt x="83" y="40"/>
                    <a:pt x="83" y="40"/>
                    <a:pt x="83" y="40"/>
                  </a:cubicBezTo>
                  <a:cubicBezTo>
                    <a:pt x="84" y="39"/>
                    <a:pt x="84" y="37"/>
                    <a:pt x="84" y="35"/>
                  </a:cubicBezTo>
                  <a:cubicBezTo>
                    <a:pt x="84" y="31"/>
                    <a:pt x="82" y="27"/>
                    <a:pt x="77" y="23"/>
                  </a:cubicBezTo>
                  <a:cubicBezTo>
                    <a:pt x="72" y="20"/>
                    <a:pt x="65" y="18"/>
                    <a:pt x="56" y="18"/>
                  </a:cubicBezTo>
                  <a:cubicBezTo>
                    <a:pt x="47" y="18"/>
                    <a:pt x="40" y="20"/>
                    <a:pt x="34" y="23"/>
                  </a:cubicBezTo>
                  <a:cubicBezTo>
                    <a:pt x="27" y="27"/>
                    <a:pt x="23" y="32"/>
                    <a:pt x="22" y="40"/>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9" name="Freeform 25"/>
            <p:cNvSpPr>
              <a:spLocks/>
            </p:cNvSpPr>
            <p:nvPr/>
          </p:nvSpPr>
          <p:spPr bwMode="white">
            <a:xfrm>
              <a:off x="2347" y="1103"/>
              <a:ext cx="80" cy="84"/>
            </a:xfrm>
            <a:custGeom>
              <a:avLst/>
              <a:gdLst>
                <a:gd name="T0" fmla="*/ 9 w 98"/>
                <a:gd name="T1" fmla="*/ 5 h 103"/>
                <a:gd name="T2" fmla="*/ 8 w 98"/>
                <a:gd name="T3" fmla="*/ 3 h 103"/>
                <a:gd name="T4" fmla="*/ 6 w 98"/>
                <a:gd name="T5" fmla="*/ 2 h 103"/>
                <a:gd name="T6" fmla="*/ 4 w 98"/>
                <a:gd name="T7" fmla="*/ 2 h 103"/>
                <a:gd name="T8" fmla="*/ 2 w 98"/>
                <a:gd name="T9" fmla="*/ 3 h 103"/>
                <a:gd name="T10" fmla="*/ 2 w 98"/>
                <a:gd name="T11" fmla="*/ 11 h 103"/>
                <a:gd name="T12" fmla="*/ 0 w 98"/>
                <a:gd name="T13" fmla="*/ 11 h 103"/>
                <a:gd name="T14" fmla="*/ 0 w 98"/>
                <a:gd name="T15" fmla="*/ 2 h 103"/>
                <a:gd name="T16" fmla="*/ 2 w 98"/>
                <a:gd name="T17" fmla="*/ 0 h 103"/>
                <a:gd name="T18" fmla="*/ 2 w 98"/>
                <a:gd name="T19" fmla="*/ 2 h 103"/>
                <a:gd name="T20" fmla="*/ 4 w 98"/>
                <a:gd name="T21" fmla="*/ 2 h 103"/>
                <a:gd name="T22" fmla="*/ 6 w 98"/>
                <a:gd name="T23" fmla="*/ 2 h 103"/>
                <a:gd name="T24" fmla="*/ 10 w 98"/>
                <a:gd name="T25" fmla="*/ 2 h 103"/>
                <a:gd name="T26" fmla="*/ 11 w 98"/>
                <a:gd name="T27" fmla="*/ 4 h 103"/>
                <a:gd name="T28" fmla="*/ 11 w 98"/>
                <a:gd name="T29" fmla="*/ 11 h 103"/>
                <a:gd name="T30" fmla="*/ 9 w 98"/>
                <a:gd name="T31" fmla="*/ 11 h 103"/>
                <a:gd name="T32" fmla="*/ 9 w 98"/>
                <a:gd name="T33" fmla="*/ 5 h 10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98" h="103">
                  <a:moveTo>
                    <a:pt x="79" y="41"/>
                  </a:moveTo>
                  <a:cubicBezTo>
                    <a:pt x="79" y="34"/>
                    <a:pt x="77" y="29"/>
                    <a:pt x="75" y="27"/>
                  </a:cubicBezTo>
                  <a:cubicBezTo>
                    <a:pt x="72" y="23"/>
                    <a:pt x="66" y="22"/>
                    <a:pt x="57" y="22"/>
                  </a:cubicBezTo>
                  <a:cubicBezTo>
                    <a:pt x="51" y="22"/>
                    <a:pt x="45" y="22"/>
                    <a:pt x="38" y="24"/>
                  </a:cubicBezTo>
                  <a:cubicBezTo>
                    <a:pt x="30" y="26"/>
                    <a:pt x="24" y="29"/>
                    <a:pt x="20" y="31"/>
                  </a:cubicBezTo>
                  <a:cubicBezTo>
                    <a:pt x="20" y="103"/>
                    <a:pt x="20" y="103"/>
                    <a:pt x="20" y="103"/>
                  </a:cubicBezTo>
                  <a:cubicBezTo>
                    <a:pt x="0" y="103"/>
                    <a:pt x="0" y="103"/>
                    <a:pt x="0" y="103"/>
                  </a:cubicBezTo>
                  <a:cubicBezTo>
                    <a:pt x="0" y="7"/>
                    <a:pt x="0" y="7"/>
                    <a:pt x="0" y="7"/>
                  </a:cubicBezTo>
                  <a:cubicBezTo>
                    <a:pt x="20" y="0"/>
                    <a:pt x="20" y="0"/>
                    <a:pt x="20" y="0"/>
                  </a:cubicBezTo>
                  <a:cubicBezTo>
                    <a:pt x="20" y="12"/>
                    <a:pt x="20" y="12"/>
                    <a:pt x="20" y="12"/>
                  </a:cubicBezTo>
                  <a:cubicBezTo>
                    <a:pt x="25" y="10"/>
                    <a:pt x="32" y="8"/>
                    <a:pt x="39" y="6"/>
                  </a:cubicBezTo>
                  <a:cubicBezTo>
                    <a:pt x="47" y="4"/>
                    <a:pt x="53" y="3"/>
                    <a:pt x="59" y="3"/>
                  </a:cubicBezTo>
                  <a:cubicBezTo>
                    <a:pt x="75" y="3"/>
                    <a:pt x="86" y="7"/>
                    <a:pt x="92" y="14"/>
                  </a:cubicBezTo>
                  <a:cubicBezTo>
                    <a:pt x="96" y="20"/>
                    <a:pt x="98" y="28"/>
                    <a:pt x="98" y="39"/>
                  </a:cubicBezTo>
                  <a:cubicBezTo>
                    <a:pt x="98" y="103"/>
                    <a:pt x="98" y="103"/>
                    <a:pt x="98" y="103"/>
                  </a:cubicBezTo>
                  <a:cubicBezTo>
                    <a:pt x="79" y="103"/>
                    <a:pt x="79" y="103"/>
                    <a:pt x="79" y="103"/>
                  </a:cubicBezTo>
                  <a:lnTo>
                    <a:pt x="79" y="41"/>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10" name="Freeform 26"/>
            <p:cNvSpPr>
              <a:spLocks noEditPoints="1"/>
            </p:cNvSpPr>
            <p:nvPr/>
          </p:nvSpPr>
          <p:spPr bwMode="white">
            <a:xfrm>
              <a:off x="2454" y="1063"/>
              <a:ext cx="98" cy="126"/>
            </a:xfrm>
            <a:custGeom>
              <a:avLst/>
              <a:gdLst>
                <a:gd name="T0" fmla="*/ 8 w 121"/>
                <a:gd name="T1" fmla="*/ 6 h 156"/>
                <a:gd name="T2" fmla="*/ 8 w 121"/>
                <a:gd name="T3" fmla="*/ 2 h 156"/>
                <a:gd name="T4" fmla="*/ 10 w 121"/>
                <a:gd name="T5" fmla="*/ 0 h 156"/>
                <a:gd name="T6" fmla="*/ 10 w 121"/>
                <a:gd name="T7" fmla="*/ 12 h 156"/>
                <a:gd name="T8" fmla="*/ 10 w 121"/>
                <a:gd name="T9" fmla="*/ 14 h 156"/>
                <a:gd name="T10" fmla="*/ 11 w 121"/>
                <a:gd name="T11" fmla="*/ 14 h 156"/>
                <a:gd name="T12" fmla="*/ 12 w 121"/>
                <a:gd name="T13" fmla="*/ 14 h 156"/>
                <a:gd name="T14" fmla="*/ 12 w 121"/>
                <a:gd name="T15" fmla="*/ 15 h 156"/>
                <a:gd name="T16" fmla="*/ 10 w 121"/>
                <a:gd name="T17" fmla="*/ 15 h 156"/>
                <a:gd name="T18" fmla="*/ 8 w 121"/>
                <a:gd name="T19" fmla="*/ 14 h 156"/>
                <a:gd name="T20" fmla="*/ 6 w 121"/>
                <a:gd name="T21" fmla="*/ 15 h 156"/>
                <a:gd name="T22" fmla="*/ 5 w 121"/>
                <a:gd name="T23" fmla="*/ 15 h 156"/>
                <a:gd name="T24" fmla="*/ 2 w 121"/>
                <a:gd name="T25" fmla="*/ 14 h 156"/>
                <a:gd name="T26" fmla="*/ 0 w 121"/>
                <a:gd name="T27" fmla="*/ 10 h 156"/>
                <a:gd name="T28" fmla="*/ 2 w 121"/>
                <a:gd name="T29" fmla="*/ 6 h 156"/>
                <a:gd name="T30" fmla="*/ 5 w 121"/>
                <a:gd name="T31" fmla="*/ 5 h 156"/>
                <a:gd name="T32" fmla="*/ 6 w 121"/>
                <a:gd name="T33" fmla="*/ 5 h 156"/>
                <a:gd name="T34" fmla="*/ 8 w 121"/>
                <a:gd name="T35" fmla="*/ 6 h 156"/>
                <a:gd name="T36" fmla="*/ 2 w 121"/>
                <a:gd name="T37" fmla="*/ 10 h 156"/>
                <a:gd name="T38" fmla="*/ 2 w 121"/>
                <a:gd name="T39" fmla="*/ 12 h 156"/>
                <a:gd name="T40" fmla="*/ 5 w 121"/>
                <a:gd name="T41" fmla="*/ 14 h 156"/>
                <a:gd name="T42" fmla="*/ 7 w 121"/>
                <a:gd name="T43" fmla="*/ 12 h 156"/>
                <a:gd name="T44" fmla="*/ 8 w 121"/>
                <a:gd name="T45" fmla="*/ 12 h 156"/>
                <a:gd name="T46" fmla="*/ 8 w 121"/>
                <a:gd name="T47" fmla="*/ 8 h 156"/>
                <a:gd name="T48" fmla="*/ 7 w 121"/>
                <a:gd name="T49" fmla="*/ 7 h 156"/>
                <a:gd name="T50" fmla="*/ 5 w 121"/>
                <a:gd name="T51" fmla="*/ 6 h 156"/>
                <a:gd name="T52" fmla="*/ 2 w 121"/>
                <a:gd name="T53" fmla="*/ 8 h 156"/>
                <a:gd name="T54" fmla="*/ 2 w 121"/>
                <a:gd name="T55" fmla="*/ 10 h 15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21" h="156">
                  <a:moveTo>
                    <a:pt x="85" y="63"/>
                  </a:moveTo>
                  <a:cubicBezTo>
                    <a:pt x="85" y="6"/>
                    <a:pt x="85" y="6"/>
                    <a:pt x="85" y="6"/>
                  </a:cubicBezTo>
                  <a:cubicBezTo>
                    <a:pt x="105" y="0"/>
                    <a:pt x="105" y="0"/>
                    <a:pt x="105" y="0"/>
                  </a:cubicBezTo>
                  <a:cubicBezTo>
                    <a:pt x="105" y="132"/>
                    <a:pt x="105" y="132"/>
                    <a:pt x="105" y="132"/>
                  </a:cubicBezTo>
                  <a:cubicBezTo>
                    <a:pt x="105" y="135"/>
                    <a:pt x="105" y="138"/>
                    <a:pt x="107" y="139"/>
                  </a:cubicBezTo>
                  <a:cubicBezTo>
                    <a:pt x="108" y="140"/>
                    <a:pt x="111" y="141"/>
                    <a:pt x="114" y="141"/>
                  </a:cubicBezTo>
                  <a:cubicBezTo>
                    <a:pt x="117" y="141"/>
                    <a:pt x="119" y="140"/>
                    <a:pt x="121" y="139"/>
                  </a:cubicBezTo>
                  <a:cubicBezTo>
                    <a:pt x="121" y="152"/>
                    <a:pt x="121" y="152"/>
                    <a:pt x="121" y="152"/>
                  </a:cubicBezTo>
                  <a:cubicBezTo>
                    <a:pt x="116" y="154"/>
                    <a:pt x="110" y="156"/>
                    <a:pt x="104" y="156"/>
                  </a:cubicBezTo>
                  <a:cubicBezTo>
                    <a:pt x="93" y="156"/>
                    <a:pt x="87" y="152"/>
                    <a:pt x="85" y="145"/>
                  </a:cubicBezTo>
                  <a:cubicBezTo>
                    <a:pt x="81" y="148"/>
                    <a:pt x="75" y="151"/>
                    <a:pt x="69" y="153"/>
                  </a:cubicBezTo>
                  <a:cubicBezTo>
                    <a:pt x="63" y="155"/>
                    <a:pt x="57" y="156"/>
                    <a:pt x="52" y="156"/>
                  </a:cubicBezTo>
                  <a:cubicBezTo>
                    <a:pt x="36" y="156"/>
                    <a:pt x="23" y="151"/>
                    <a:pt x="14" y="142"/>
                  </a:cubicBezTo>
                  <a:cubicBezTo>
                    <a:pt x="5" y="132"/>
                    <a:pt x="0" y="120"/>
                    <a:pt x="0" y="104"/>
                  </a:cubicBezTo>
                  <a:cubicBezTo>
                    <a:pt x="0" y="89"/>
                    <a:pt x="5" y="76"/>
                    <a:pt x="14" y="67"/>
                  </a:cubicBezTo>
                  <a:cubicBezTo>
                    <a:pt x="23" y="58"/>
                    <a:pt x="36" y="53"/>
                    <a:pt x="52" y="53"/>
                  </a:cubicBezTo>
                  <a:cubicBezTo>
                    <a:pt x="58" y="53"/>
                    <a:pt x="64" y="54"/>
                    <a:pt x="70" y="56"/>
                  </a:cubicBezTo>
                  <a:cubicBezTo>
                    <a:pt x="75" y="58"/>
                    <a:pt x="80" y="60"/>
                    <a:pt x="85" y="63"/>
                  </a:cubicBezTo>
                  <a:close/>
                  <a:moveTo>
                    <a:pt x="20" y="104"/>
                  </a:moveTo>
                  <a:cubicBezTo>
                    <a:pt x="20" y="114"/>
                    <a:pt x="22" y="122"/>
                    <a:pt x="28" y="129"/>
                  </a:cubicBezTo>
                  <a:cubicBezTo>
                    <a:pt x="33" y="135"/>
                    <a:pt x="42" y="138"/>
                    <a:pt x="53" y="138"/>
                  </a:cubicBezTo>
                  <a:cubicBezTo>
                    <a:pt x="60" y="138"/>
                    <a:pt x="66" y="137"/>
                    <a:pt x="72" y="134"/>
                  </a:cubicBezTo>
                  <a:cubicBezTo>
                    <a:pt x="77" y="132"/>
                    <a:pt x="81" y="129"/>
                    <a:pt x="85" y="125"/>
                  </a:cubicBezTo>
                  <a:cubicBezTo>
                    <a:pt x="85" y="84"/>
                    <a:pt x="85" y="84"/>
                    <a:pt x="85" y="84"/>
                  </a:cubicBezTo>
                  <a:cubicBezTo>
                    <a:pt x="82" y="80"/>
                    <a:pt x="78" y="77"/>
                    <a:pt x="72" y="75"/>
                  </a:cubicBezTo>
                  <a:cubicBezTo>
                    <a:pt x="67" y="72"/>
                    <a:pt x="60" y="71"/>
                    <a:pt x="53" y="71"/>
                  </a:cubicBezTo>
                  <a:cubicBezTo>
                    <a:pt x="42" y="71"/>
                    <a:pt x="33" y="74"/>
                    <a:pt x="28" y="80"/>
                  </a:cubicBezTo>
                  <a:cubicBezTo>
                    <a:pt x="22" y="86"/>
                    <a:pt x="20" y="94"/>
                    <a:pt x="20" y="104"/>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11" name="Freeform 27"/>
            <p:cNvSpPr>
              <a:spLocks noEditPoints="1"/>
            </p:cNvSpPr>
            <p:nvPr/>
          </p:nvSpPr>
          <p:spPr bwMode="white">
            <a:xfrm>
              <a:off x="2569" y="1106"/>
              <a:ext cx="98" cy="83"/>
            </a:xfrm>
            <a:custGeom>
              <a:avLst/>
              <a:gdLst>
                <a:gd name="T0" fmla="*/ 7 w 122"/>
                <a:gd name="T1" fmla="*/ 2 h 103"/>
                <a:gd name="T2" fmla="*/ 9 w 122"/>
                <a:gd name="T3" fmla="*/ 2 h 103"/>
                <a:gd name="T4" fmla="*/ 9 w 122"/>
                <a:gd name="T5" fmla="*/ 8 h 103"/>
                <a:gd name="T6" fmla="*/ 10 w 122"/>
                <a:gd name="T7" fmla="*/ 8 h 103"/>
                <a:gd name="T8" fmla="*/ 10 w 122"/>
                <a:gd name="T9" fmla="*/ 8 h 103"/>
                <a:gd name="T10" fmla="*/ 11 w 122"/>
                <a:gd name="T11" fmla="*/ 8 h 103"/>
                <a:gd name="T12" fmla="*/ 11 w 122"/>
                <a:gd name="T13" fmla="*/ 10 h 103"/>
                <a:gd name="T14" fmla="*/ 9 w 122"/>
                <a:gd name="T15" fmla="*/ 10 h 103"/>
                <a:gd name="T16" fmla="*/ 7 w 122"/>
                <a:gd name="T17" fmla="*/ 8 h 103"/>
                <a:gd name="T18" fmla="*/ 6 w 122"/>
                <a:gd name="T19" fmla="*/ 10 h 103"/>
                <a:gd name="T20" fmla="*/ 5 w 122"/>
                <a:gd name="T21" fmla="*/ 10 h 103"/>
                <a:gd name="T22" fmla="*/ 2 w 122"/>
                <a:gd name="T23" fmla="*/ 8 h 103"/>
                <a:gd name="T24" fmla="*/ 0 w 122"/>
                <a:gd name="T25" fmla="*/ 5 h 103"/>
                <a:gd name="T26" fmla="*/ 2 w 122"/>
                <a:gd name="T27" fmla="*/ 2 h 103"/>
                <a:gd name="T28" fmla="*/ 5 w 122"/>
                <a:gd name="T29" fmla="*/ 0 h 103"/>
                <a:gd name="T30" fmla="*/ 6 w 122"/>
                <a:gd name="T31" fmla="*/ 2 h 103"/>
                <a:gd name="T32" fmla="*/ 7 w 122"/>
                <a:gd name="T33" fmla="*/ 2 h 103"/>
                <a:gd name="T34" fmla="*/ 2 w 122"/>
                <a:gd name="T35" fmla="*/ 5 h 103"/>
                <a:gd name="T36" fmla="*/ 2 w 122"/>
                <a:gd name="T37" fmla="*/ 6 h 103"/>
                <a:gd name="T38" fmla="*/ 5 w 122"/>
                <a:gd name="T39" fmla="*/ 8 h 103"/>
                <a:gd name="T40" fmla="*/ 6 w 122"/>
                <a:gd name="T41" fmla="*/ 8 h 103"/>
                <a:gd name="T42" fmla="*/ 7 w 122"/>
                <a:gd name="T43" fmla="*/ 6 h 103"/>
                <a:gd name="T44" fmla="*/ 7 w 122"/>
                <a:gd name="T45" fmla="*/ 2 h 103"/>
                <a:gd name="T46" fmla="*/ 6 w 122"/>
                <a:gd name="T47" fmla="*/ 2 h 103"/>
                <a:gd name="T48" fmla="*/ 5 w 122"/>
                <a:gd name="T49" fmla="*/ 2 h 103"/>
                <a:gd name="T50" fmla="*/ 2 w 122"/>
                <a:gd name="T51" fmla="*/ 2 h 103"/>
                <a:gd name="T52" fmla="*/ 2 w 122"/>
                <a:gd name="T53" fmla="*/ 5 h 10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2" h="103">
                  <a:moveTo>
                    <a:pt x="85" y="10"/>
                  </a:moveTo>
                  <a:cubicBezTo>
                    <a:pt x="105" y="2"/>
                    <a:pt x="105" y="2"/>
                    <a:pt x="105" y="2"/>
                  </a:cubicBezTo>
                  <a:cubicBezTo>
                    <a:pt x="105" y="79"/>
                    <a:pt x="105" y="79"/>
                    <a:pt x="105" y="79"/>
                  </a:cubicBezTo>
                  <a:cubicBezTo>
                    <a:pt x="105" y="82"/>
                    <a:pt x="106" y="85"/>
                    <a:pt x="107" y="86"/>
                  </a:cubicBezTo>
                  <a:cubicBezTo>
                    <a:pt x="109" y="87"/>
                    <a:pt x="111" y="88"/>
                    <a:pt x="115" y="88"/>
                  </a:cubicBezTo>
                  <a:cubicBezTo>
                    <a:pt x="117" y="88"/>
                    <a:pt x="119" y="87"/>
                    <a:pt x="122" y="86"/>
                  </a:cubicBezTo>
                  <a:cubicBezTo>
                    <a:pt x="122" y="99"/>
                    <a:pt x="122" y="99"/>
                    <a:pt x="122" y="99"/>
                  </a:cubicBezTo>
                  <a:cubicBezTo>
                    <a:pt x="116" y="101"/>
                    <a:pt x="110" y="103"/>
                    <a:pt x="104" y="103"/>
                  </a:cubicBezTo>
                  <a:cubicBezTo>
                    <a:pt x="94" y="103"/>
                    <a:pt x="87" y="99"/>
                    <a:pt x="85" y="92"/>
                  </a:cubicBezTo>
                  <a:cubicBezTo>
                    <a:pt x="81" y="95"/>
                    <a:pt x="76" y="98"/>
                    <a:pt x="70" y="100"/>
                  </a:cubicBezTo>
                  <a:cubicBezTo>
                    <a:pt x="64" y="102"/>
                    <a:pt x="58" y="103"/>
                    <a:pt x="52" y="103"/>
                  </a:cubicBezTo>
                  <a:cubicBezTo>
                    <a:pt x="36" y="103"/>
                    <a:pt x="23" y="98"/>
                    <a:pt x="14" y="89"/>
                  </a:cubicBezTo>
                  <a:cubicBezTo>
                    <a:pt x="5" y="79"/>
                    <a:pt x="0" y="67"/>
                    <a:pt x="0" y="51"/>
                  </a:cubicBezTo>
                  <a:cubicBezTo>
                    <a:pt x="0" y="36"/>
                    <a:pt x="5" y="23"/>
                    <a:pt x="14" y="14"/>
                  </a:cubicBezTo>
                  <a:cubicBezTo>
                    <a:pt x="23" y="5"/>
                    <a:pt x="36" y="0"/>
                    <a:pt x="52" y="0"/>
                  </a:cubicBezTo>
                  <a:cubicBezTo>
                    <a:pt x="58" y="0"/>
                    <a:pt x="64" y="1"/>
                    <a:pt x="70" y="3"/>
                  </a:cubicBezTo>
                  <a:cubicBezTo>
                    <a:pt x="76" y="5"/>
                    <a:pt x="81" y="7"/>
                    <a:pt x="85" y="10"/>
                  </a:cubicBezTo>
                  <a:close/>
                  <a:moveTo>
                    <a:pt x="20" y="51"/>
                  </a:moveTo>
                  <a:cubicBezTo>
                    <a:pt x="20" y="61"/>
                    <a:pt x="23" y="69"/>
                    <a:pt x="28" y="76"/>
                  </a:cubicBezTo>
                  <a:cubicBezTo>
                    <a:pt x="34" y="82"/>
                    <a:pt x="42" y="85"/>
                    <a:pt x="54" y="85"/>
                  </a:cubicBezTo>
                  <a:cubicBezTo>
                    <a:pt x="61" y="85"/>
                    <a:pt x="67" y="84"/>
                    <a:pt x="72" y="81"/>
                  </a:cubicBezTo>
                  <a:cubicBezTo>
                    <a:pt x="77" y="79"/>
                    <a:pt x="82" y="76"/>
                    <a:pt x="85" y="72"/>
                  </a:cubicBezTo>
                  <a:cubicBezTo>
                    <a:pt x="85" y="31"/>
                    <a:pt x="85" y="31"/>
                    <a:pt x="85" y="31"/>
                  </a:cubicBezTo>
                  <a:cubicBezTo>
                    <a:pt x="82" y="27"/>
                    <a:pt x="78" y="24"/>
                    <a:pt x="73" y="22"/>
                  </a:cubicBezTo>
                  <a:cubicBezTo>
                    <a:pt x="67" y="19"/>
                    <a:pt x="61" y="18"/>
                    <a:pt x="54" y="18"/>
                  </a:cubicBezTo>
                  <a:cubicBezTo>
                    <a:pt x="42" y="18"/>
                    <a:pt x="34" y="21"/>
                    <a:pt x="28" y="27"/>
                  </a:cubicBezTo>
                  <a:cubicBezTo>
                    <a:pt x="23" y="33"/>
                    <a:pt x="20" y="41"/>
                    <a:pt x="20" y="51"/>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12" name="Freeform 28"/>
            <p:cNvSpPr>
              <a:spLocks noEditPoints="1"/>
            </p:cNvSpPr>
            <p:nvPr/>
          </p:nvSpPr>
          <p:spPr bwMode="white">
            <a:xfrm>
              <a:off x="2691" y="1063"/>
              <a:ext cx="84" cy="126"/>
            </a:xfrm>
            <a:custGeom>
              <a:avLst/>
              <a:gdLst>
                <a:gd name="T0" fmla="*/ 10 w 104"/>
                <a:gd name="T1" fmla="*/ 10 h 156"/>
                <a:gd name="T2" fmla="*/ 9 w 104"/>
                <a:gd name="T3" fmla="*/ 14 h 156"/>
                <a:gd name="T4" fmla="*/ 5 w 104"/>
                <a:gd name="T5" fmla="*/ 15 h 156"/>
                <a:gd name="T6" fmla="*/ 3 w 104"/>
                <a:gd name="T7" fmla="*/ 15 h 156"/>
                <a:gd name="T8" fmla="*/ 2 w 104"/>
                <a:gd name="T9" fmla="*/ 14 h 156"/>
                <a:gd name="T10" fmla="*/ 0 w 104"/>
                <a:gd name="T11" fmla="*/ 15 h 156"/>
                <a:gd name="T12" fmla="*/ 0 w 104"/>
                <a:gd name="T13" fmla="*/ 2 h 156"/>
                <a:gd name="T14" fmla="*/ 2 w 104"/>
                <a:gd name="T15" fmla="*/ 0 h 156"/>
                <a:gd name="T16" fmla="*/ 2 w 104"/>
                <a:gd name="T17" fmla="*/ 6 h 156"/>
                <a:gd name="T18" fmla="*/ 3 w 104"/>
                <a:gd name="T19" fmla="*/ 5 h 156"/>
                <a:gd name="T20" fmla="*/ 5 w 104"/>
                <a:gd name="T21" fmla="*/ 5 h 156"/>
                <a:gd name="T22" fmla="*/ 9 w 104"/>
                <a:gd name="T23" fmla="*/ 6 h 156"/>
                <a:gd name="T24" fmla="*/ 10 w 104"/>
                <a:gd name="T25" fmla="*/ 10 h 156"/>
                <a:gd name="T26" fmla="*/ 8 w 104"/>
                <a:gd name="T27" fmla="*/ 10 h 156"/>
                <a:gd name="T28" fmla="*/ 7 w 104"/>
                <a:gd name="T29" fmla="*/ 8 h 156"/>
                <a:gd name="T30" fmla="*/ 5 w 104"/>
                <a:gd name="T31" fmla="*/ 6 h 156"/>
                <a:gd name="T32" fmla="*/ 3 w 104"/>
                <a:gd name="T33" fmla="*/ 7 h 156"/>
                <a:gd name="T34" fmla="*/ 2 w 104"/>
                <a:gd name="T35" fmla="*/ 8 h 156"/>
                <a:gd name="T36" fmla="*/ 2 w 104"/>
                <a:gd name="T37" fmla="*/ 12 h 156"/>
                <a:gd name="T38" fmla="*/ 3 w 104"/>
                <a:gd name="T39" fmla="*/ 12 h 156"/>
                <a:gd name="T40" fmla="*/ 5 w 104"/>
                <a:gd name="T41" fmla="*/ 14 h 156"/>
                <a:gd name="T42" fmla="*/ 7 w 104"/>
                <a:gd name="T43" fmla="*/ 12 h 156"/>
                <a:gd name="T44" fmla="*/ 8 w 104"/>
                <a:gd name="T45" fmla="*/ 10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4" h="156">
                  <a:moveTo>
                    <a:pt x="104" y="104"/>
                  </a:moveTo>
                  <a:cubicBezTo>
                    <a:pt x="104" y="120"/>
                    <a:pt x="100" y="132"/>
                    <a:pt x="90" y="142"/>
                  </a:cubicBezTo>
                  <a:cubicBezTo>
                    <a:pt x="81" y="151"/>
                    <a:pt x="69" y="156"/>
                    <a:pt x="52" y="156"/>
                  </a:cubicBezTo>
                  <a:cubicBezTo>
                    <a:pt x="46" y="156"/>
                    <a:pt x="40" y="155"/>
                    <a:pt x="35" y="153"/>
                  </a:cubicBezTo>
                  <a:cubicBezTo>
                    <a:pt x="30" y="151"/>
                    <a:pt x="24" y="149"/>
                    <a:pt x="19" y="146"/>
                  </a:cubicBezTo>
                  <a:cubicBezTo>
                    <a:pt x="0" y="154"/>
                    <a:pt x="0" y="154"/>
                    <a:pt x="0" y="154"/>
                  </a:cubicBezTo>
                  <a:cubicBezTo>
                    <a:pt x="0" y="6"/>
                    <a:pt x="0" y="6"/>
                    <a:pt x="0" y="6"/>
                  </a:cubicBezTo>
                  <a:cubicBezTo>
                    <a:pt x="19" y="0"/>
                    <a:pt x="19" y="0"/>
                    <a:pt x="19" y="0"/>
                  </a:cubicBezTo>
                  <a:cubicBezTo>
                    <a:pt x="19" y="63"/>
                    <a:pt x="19" y="63"/>
                    <a:pt x="19" y="63"/>
                  </a:cubicBezTo>
                  <a:cubicBezTo>
                    <a:pt x="23" y="60"/>
                    <a:pt x="28" y="58"/>
                    <a:pt x="34" y="56"/>
                  </a:cubicBezTo>
                  <a:cubicBezTo>
                    <a:pt x="40" y="54"/>
                    <a:pt x="47" y="53"/>
                    <a:pt x="52" y="53"/>
                  </a:cubicBezTo>
                  <a:cubicBezTo>
                    <a:pt x="69" y="53"/>
                    <a:pt x="81" y="58"/>
                    <a:pt x="90" y="67"/>
                  </a:cubicBezTo>
                  <a:cubicBezTo>
                    <a:pt x="100" y="76"/>
                    <a:pt x="104" y="89"/>
                    <a:pt x="104" y="104"/>
                  </a:cubicBezTo>
                  <a:close/>
                  <a:moveTo>
                    <a:pt x="84" y="104"/>
                  </a:moveTo>
                  <a:cubicBezTo>
                    <a:pt x="84" y="94"/>
                    <a:pt x="82" y="86"/>
                    <a:pt x="77" y="81"/>
                  </a:cubicBezTo>
                  <a:cubicBezTo>
                    <a:pt x="71" y="74"/>
                    <a:pt x="62" y="71"/>
                    <a:pt x="51" y="71"/>
                  </a:cubicBezTo>
                  <a:cubicBezTo>
                    <a:pt x="44" y="71"/>
                    <a:pt x="38" y="72"/>
                    <a:pt x="32" y="74"/>
                  </a:cubicBezTo>
                  <a:cubicBezTo>
                    <a:pt x="27" y="77"/>
                    <a:pt x="22" y="80"/>
                    <a:pt x="19" y="84"/>
                  </a:cubicBezTo>
                  <a:cubicBezTo>
                    <a:pt x="19" y="125"/>
                    <a:pt x="19" y="125"/>
                    <a:pt x="19" y="125"/>
                  </a:cubicBezTo>
                  <a:cubicBezTo>
                    <a:pt x="23" y="129"/>
                    <a:pt x="27" y="132"/>
                    <a:pt x="33" y="134"/>
                  </a:cubicBezTo>
                  <a:cubicBezTo>
                    <a:pt x="38" y="137"/>
                    <a:pt x="44" y="138"/>
                    <a:pt x="51" y="138"/>
                  </a:cubicBezTo>
                  <a:cubicBezTo>
                    <a:pt x="62" y="138"/>
                    <a:pt x="71" y="135"/>
                    <a:pt x="77" y="128"/>
                  </a:cubicBezTo>
                  <a:cubicBezTo>
                    <a:pt x="82" y="123"/>
                    <a:pt x="84" y="115"/>
                    <a:pt x="84" y="104"/>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13" name="Freeform 29"/>
            <p:cNvSpPr>
              <a:spLocks noEditPoints="1"/>
            </p:cNvSpPr>
            <p:nvPr/>
          </p:nvSpPr>
          <p:spPr bwMode="white">
            <a:xfrm>
              <a:off x="2804" y="1068"/>
              <a:ext cx="16" cy="119"/>
            </a:xfrm>
            <a:custGeom>
              <a:avLst/>
              <a:gdLst>
                <a:gd name="T0" fmla="*/ 16 w 16"/>
                <a:gd name="T1" fmla="*/ 16 h 119"/>
                <a:gd name="T2" fmla="*/ 0 w 16"/>
                <a:gd name="T3" fmla="*/ 16 h 119"/>
                <a:gd name="T4" fmla="*/ 0 w 16"/>
                <a:gd name="T5" fmla="*/ 0 h 119"/>
                <a:gd name="T6" fmla="*/ 16 w 16"/>
                <a:gd name="T7" fmla="*/ 0 h 119"/>
                <a:gd name="T8" fmla="*/ 16 w 16"/>
                <a:gd name="T9" fmla="*/ 16 h 119"/>
                <a:gd name="T10" fmla="*/ 0 w 16"/>
                <a:gd name="T11" fmla="*/ 41 h 119"/>
                <a:gd name="T12" fmla="*/ 16 w 16"/>
                <a:gd name="T13" fmla="*/ 35 h 119"/>
                <a:gd name="T14" fmla="*/ 16 w 16"/>
                <a:gd name="T15" fmla="*/ 119 h 119"/>
                <a:gd name="T16" fmla="*/ 0 w 16"/>
                <a:gd name="T17" fmla="*/ 119 h 119"/>
                <a:gd name="T18" fmla="*/ 0 w 16"/>
                <a:gd name="T19" fmla="*/ 41 h 1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119">
                  <a:moveTo>
                    <a:pt x="16" y="16"/>
                  </a:moveTo>
                  <a:lnTo>
                    <a:pt x="0" y="16"/>
                  </a:lnTo>
                  <a:lnTo>
                    <a:pt x="0" y="0"/>
                  </a:lnTo>
                  <a:lnTo>
                    <a:pt x="16" y="0"/>
                  </a:lnTo>
                  <a:lnTo>
                    <a:pt x="16" y="16"/>
                  </a:lnTo>
                  <a:close/>
                  <a:moveTo>
                    <a:pt x="0" y="41"/>
                  </a:moveTo>
                  <a:lnTo>
                    <a:pt x="16" y="35"/>
                  </a:lnTo>
                  <a:lnTo>
                    <a:pt x="16" y="119"/>
                  </a:lnTo>
                  <a:lnTo>
                    <a:pt x="0" y="119"/>
                  </a:lnTo>
                  <a:lnTo>
                    <a:pt x="0" y="41"/>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14" name="Freeform 30"/>
            <p:cNvSpPr>
              <a:spLocks/>
            </p:cNvSpPr>
            <p:nvPr/>
          </p:nvSpPr>
          <p:spPr bwMode="white">
            <a:xfrm>
              <a:off x="2854" y="1063"/>
              <a:ext cx="15" cy="124"/>
            </a:xfrm>
            <a:custGeom>
              <a:avLst/>
              <a:gdLst>
                <a:gd name="T0" fmla="*/ 0 w 15"/>
                <a:gd name="T1" fmla="*/ 5 h 124"/>
                <a:gd name="T2" fmla="*/ 15 w 15"/>
                <a:gd name="T3" fmla="*/ 0 h 124"/>
                <a:gd name="T4" fmla="*/ 15 w 15"/>
                <a:gd name="T5" fmla="*/ 124 h 124"/>
                <a:gd name="T6" fmla="*/ 0 w 15"/>
                <a:gd name="T7" fmla="*/ 124 h 124"/>
                <a:gd name="T8" fmla="*/ 0 w 15"/>
                <a:gd name="T9" fmla="*/ 5 h 1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124">
                  <a:moveTo>
                    <a:pt x="0" y="5"/>
                  </a:moveTo>
                  <a:lnTo>
                    <a:pt x="15" y="0"/>
                  </a:lnTo>
                  <a:lnTo>
                    <a:pt x="15" y="124"/>
                  </a:lnTo>
                  <a:lnTo>
                    <a:pt x="0" y="124"/>
                  </a:lnTo>
                  <a:lnTo>
                    <a:pt x="0" y="5"/>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15" name="Freeform 31"/>
            <p:cNvSpPr>
              <a:spLocks noEditPoints="1"/>
            </p:cNvSpPr>
            <p:nvPr/>
          </p:nvSpPr>
          <p:spPr bwMode="white">
            <a:xfrm>
              <a:off x="2904" y="1068"/>
              <a:ext cx="16" cy="119"/>
            </a:xfrm>
            <a:custGeom>
              <a:avLst/>
              <a:gdLst>
                <a:gd name="T0" fmla="*/ 16 w 16"/>
                <a:gd name="T1" fmla="*/ 16 h 119"/>
                <a:gd name="T2" fmla="*/ 0 w 16"/>
                <a:gd name="T3" fmla="*/ 16 h 119"/>
                <a:gd name="T4" fmla="*/ 0 w 16"/>
                <a:gd name="T5" fmla="*/ 0 h 119"/>
                <a:gd name="T6" fmla="*/ 16 w 16"/>
                <a:gd name="T7" fmla="*/ 0 h 119"/>
                <a:gd name="T8" fmla="*/ 16 w 16"/>
                <a:gd name="T9" fmla="*/ 16 h 119"/>
                <a:gd name="T10" fmla="*/ 0 w 16"/>
                <a:gd name="T11" fmla="*/ 41 h 119"/>
                <a:gd name="T12" fmla="*/ 16 w 16"/>
                <a:gd name="T13" fmla="*/ 35 h 119"/>
                <a:gd name="T14" fmla="*/ 16 w 16"/>
                <a:gd name="T15" fmla="*/ 119 h 119"/>
                <a:gd name="T16" fmla="*/ 0 w 16"/>
                <a:gd name="T17" fmla="*/ 119 h 119"/>
                <a:gd name="T18" fmla="*/ 0 w 16"/>
                <a:gd name="T19" fmla="*/ 41 h 1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119">
                  <a:moveTo>
                    <a:pt x="16" y="16"/>
                  </a:moveTo>
                  <a:lnTo>
                    <a:pt x="0" y="16"/>
                  </a:lnTo>
                  <a:lnTo>
                    <a:pt x="0" y="0"/>
                  </a:lnTo>
                  <a:lnTo>
                    <a:pt x="16" y="0"/>
                  </a:lnTo>
                  <a:lnTo>
                    <a:pt x="16" y="16"/>
                  </a:lnTo>
                  <a:close/>
                  <a:moveTo>
                    <a:pt x="0" y="41"/>
                  </a:moveTo>
                  <a:lnTo>
                    <a:pt x="16" y="35"/>
                  </a:lnTo>
                  <a:lnTo>
                    <a:pt x="16" y="119"/>
                  </a:lnTo>
                  <a:lnTo>
                    <a:pt x="0" y="119"/>
                  </a:lnTo>
                  <a:lnTo>
                    <a:pt x="0" y="41"/>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16" name="Freeform 32"/>
            <p:cNvSpPr>
              <a:spLocks/>
            </p:cNvSpPr>
            <p:nvPr/>
          </p:nvSpPr>
          <p:spPr bwMode="white">
            <a:xfrm>
              <a:off x="2943" y="1080"/>
              <a:ext cx="71" cy="109"/>
            </a:xfrm>
            <a:custGeom>
              <a:avLst/>
              <a:gdLst>
                <a:gd name="T0" fmla="*/ 8 w 88"/>
                <a:gd name="T1" fmla="*/ 5 h 135"/>
                <a:gd name="T2" fmla="*/ 4 w 88"/>
                <a:gd name="T3" fmla="*/ 5 h 135"/>
                <a:gd name="T4" fmla="*/ 4 w 88"/>
                <a:gd name="T5" fmla="*/ 9 h 135"/>
                <a:gd name="T6" fmla="*/ 4 w 88"/>
                <a:gd name="T7" fmla="*/ 10 h 135"/>
                <a:gd name="T8" fmla="*/ 6 w 88"/>
                <a:gd name="T9" fmla="*/ 11 h 135"/>
                <a:gd name="T10" fmla="*/ 7 w 88"/>
                <a:gd name="T11" fmla="*/ 11 h 135"/>
                <a:gd name="T12" fmla="*/ 8 w 88"/>
                <a:gd name="T13" fmla="*/ 10 h 135"/>
                <a:gd name="T14" fmla="*/ 8 w 88"/>
                <a:gd name="T15" fmla="*/ 12 h 135"/>
                <a:gd name="T16" fmla="*/ 6 w 88"/>
                <a:gd name="T17" fmla="*/ 12 h 135"/>
                <a:gd name="T18" fmla="*/ 6 w 88"/>
                <a:gd name="T19" fmla="*/ 12 h 135"/>
                <a:gd name="T20" fmla="*/ 2 w 88"/>
                <a:gd name="T21" fmla="*/ 12 h 135"/>
                <a:gd name="T22" fmla="*/ 2 w 88"/>
                <a:gd name="T23" fmla="*/ 9 h 135"/>
                <a:gd name="T24" fmla="*/ 2 w 88"/>
                <a:gd name="T25" fmla="*/ 5 h 135"/>
                <a:gd name="T26" fmla="*/ 0 w 88"/>
                <a:gd name="T27" fmla="*/ 5 h 135"/>
                <a:gd name="T28" fmla="*/ 0 w 88"/>
                <a:gd name="T29" fmla="*/ 3 h 135"/>
                <a:gd name="T30" fmla="*/ 2 w 88"/>
                <a:gd name="T31" fmla="*/ 3 h 135"/>
                <a:gd name="T32" fmla="*/ 2 w 88"/>
                <a:gd name="T33" fmla="*/ 2 h 135"/>
                <a:gd name="T34" fmla="*/ 4 w 88"/>
                <a:gd name="T35" fmla="*/ 0 h 135"/>
                <a:gd name="T36" fmla="*/ 4 w 88"/>
                <a:gd name="T37" fmla="*/ 3 h 135"/>
                <a:gd name="T38" fmla="*/ 8 w 88"/>
                <a:gd name="T39" fmla="*/ 3 h 135"/>
                <a:gd name="T40" fmla="*/ 8 w 88"/>
                <a:gd name="T41" fmla="*/ 5 h 1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8" h="135">
                  <a:moveTo>
                    <a:pt x="88" y="52"/>
                  </a:moveTo>
                  <a:cubicBezTo>
                    <a:pt x="42" y="52"/>
                    <a:pt x="42" y="52"/>
                    <a:pt x="42" y="52"/>
                  </a:cubicBezTo>
                  <a:cubicBezTo>
                    <a:pt x="42" y="94"/>
                    <a:pt x="42" y="94"/>
                    <a:pt x="42" y="94"/>
                  </a:cubicBezTo>
                  <a:cubicBezTo>
                    <a:pt x="42" y="102"/>
                    <a:pt x="44" y="108"/>
                    <a:pt x="47" y="112"/>
                  </a:cubicBezTo>
                  <a:cubicBezTo>
                    <a:pt x="50" y="115"/>
                    <a:pt x="55" y="117"/>
                    <a:pt x="64" y="117"/>
                  </a:cubicBezTo>
                  <a:cubicBezTo>
                    <a:pt x="67" y="117"/>
                    <a:pt x="71" y="116"/>
                    <a:pt x="75" y="115"/>
                  </a:cubicBezTo>
                  <a:cubicBezTo>
                    <a:pt x="80" y="115"/>
                    <a:pt x="84" y="113"/>
                    <a:pt x="88" y="112"/>
                  </a:cubicBezTo>
                  <a:cubicBezTo>
                    <a:pt x="88" y="130"/>
                    <a:pt x="88" y="130"/>
                    <a:pt x="88" y="130"/>
                  </a:cubicBezTo>
                  <a:cubicBezTo>
                    <a:pt x="83" y="131"/>
                    <a:pt x="78" y="132"/>
                    <a:pt x="74" y="133"/>
                  </a:cubicBezTo>
                  <a:cubicBezTo>
                    <a:pt x="69" y="134"/>
                    <a:pt x="65" y="135"/>
                    <a:pt x="62" y="135"/>
                  </a:cubicBezTo>
                  <a:cubicBezTo>
                    <a:pt x="46" y="135"/>
                    <a:pt x="36" y="131"/>
                    <a:pt x="30" y="124"/>
                  </a:cubicBezTo>
                  <a:cubicBezTo>
                    <a:pt x="25" y="118"/>
                    <a:pt x="23" y="108"/>
                    <a:pt x="23" y="94"/>
                  </a:cubicBezTo>
                  <a:cubicBezTo>
                    <a:pt x="23" y="52"/>
                    <a:pt x="23" y="52"/>
                    <a:pt x="23" y="52"/>
                  </a:cubicBezTo>
                  <a:cubicBezTo>
                    <a:pt x="0" y="52"/>
                    <a:pt x="0" y="52"/>
                    <a:pt x="0" y="52"/>
                  </a:cubicBezTo>
                  <a:cubicBezTo>
                    <a:pt x="0" y="34"/>
                    <a:pt x="0" y="34"/>
                    <a:pt x="0" y="34"/>
                  </a:cubicBezTo>
                  <a:cubicBezTo>
                    <a:pt x="23" y="34"/>
                    <a:pt x="23" y="34"/>
                    <a:pt x="23" y="34"/>
                  </a:cubicBezTo>
                  <a:cubicBezTo>
                    <a:pt x="23" y="7"/>
                    <a:pt x="23" y="7"/>
                    <a:pt x="23" y="7"/>
                  </a:cubicBezTo>
                  <a:cubicBezTo>
                    <a:pt x="42" y="0"/>
                    <a:pt x="42" y="0"/>
                    <a:pt x="42" y="0"/>
                  </a:cubicBezTo>
                  <a:cubicBezTo>
                    <a:pt x="42" y="34"/>
                    <a:pt x="42" y="34"/>
                    <a:pt x="42" y="34"/>
                  </a:cubicBezTo>
                  <a:cubicBezTo>
                    <a:pt x="88" y="34"/>
                    <a:pt x="88" y="34"/>
                    <a:pt x="88" y="34"/>
                  </a:cubicBezTo>
                  <a:lnTo>
                    <a:pt x="88" y="52"/>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17" name="Freeform 33"/>
            <p:cNvSpPr>
              <a:spLocks/>
            </p:cNvSpPr>
            <p:nvPr/>
          </p:nvSpPr>
          <p:spPr bwMode="white">
            <a:xfrm>
              <a:off x="3025" y="1107"/>
              <a:ext cx="96" cy="125"/>
            </a:xfrm>
            <a:custGeom>
              <a:avLst/>
              <a:gdLst>
                <a:gd name="T0" fmla="*/ 7 w 117"/>
                <a:gd name="T1" fmla="*/ 11 h 154"/>
                <a:gd name="T2" fmla="*/ 2 w 117"/>
                <a:gd name="T3" fmla="*/ 15 h 154"/>
                <a:gd name="T4" fmla="*/ 0 w 117"/>
                <a:gd name="T5" fmla="*/ 15 h 154"/>
                <a:gd name="T6" fmla="*/ 0 w 117"/>
                <a:gd name="T7" fmla="*/ 14 h 154"/>
                <a:gd name="T8" fmla="*/ 2 w 117"/>
                <a:gd name="T9" fmla="*/ 14 h 154"/>
                <a:gd name="T10" fmla="*/ 2 w 117"/>
                <a:gd name="T11" fmla="*/ 14 h 154"/>
                <a:gd name="T12" fmla="*/ 2 w 117"/>
                <a:gd name="T13" fmla="*/ 12 h 154"/>
                <a:gd name="T14" fmla="*/ 5 w 117"/>
                <a:gd name="T15" fmla="*/ 10 h 154"/>
                <a:gd name="T16" fmla="*/ 6 w 117"/>
                <a:gd name="T17" fmla="*/ 9 h 154"/>
                <a:gd name="T18" fmla="*/ 2 w 117"/>
                <a:gd name="T19" fmla="*/ 0 h 154"/>
                <a:gd name="T20" fmla="*/ 3 w 117"/>
                <a:gd name="T21" fmla="*/ 0 h 154"/>
                <a:gd name="T22" fmla="*/ 7 w 117"/>
                <a:gd name="T23" fmla="*/ 6 h 154"/>
                <a:gd name="T24" fmla="*/ 11 w 117"/>
                <a:gd name="T25" fmla="*/ 0 h 154"/>
                <a:gd name="T26" fmla="*/ 13 w 117"/>
                <a:gd name="T27" fmla="*/ 0 h 154"/>
                <a:gd name="T28" fmla="*/ 7 w 117"/>
                <a:gd name="T29" fmla="*/ 11 h 1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 h="154">
                  <a:moveTo>
                    <a:pt x="64" y="108"/>
                  </a:moveTo>
                  <a:cubicBezTo>
                    <a:pt x="48" y="139"/>
                    <a:pt x="30" y="154"/>
                    <a:pt x="10" y="154"/>
                  </a:cubicBezTo>
                  <a:cubicBezTo>
                    <a:pt x="6" y="154"/>
                    <a:pt x="3" y="154"/>
                    <a:pt x="0" y="153"/>
                  </a:cubicBezTo>
                  <a:cubicBezTo>
                    <a:pt x="0" y="137"/>
                    <a:pt x="0" y="137"/>
                    <a:pt x="0" y="137"/>
                  </a:cubicBezTo>
                  <a:cubicBezTo>
                    <a:pt x="1" y="137"/>
                    <a:pt x="2" y="137"/>
                    <a:pt x="4" y="137"/>
                  </a:cubicBezTo>
                  <a:cubicBezTo>
                    <a:pt x="5" y="137"/>
                    <a:pt x="6" y="137"/>
                    <a:pt x="7" y="137"/>
                  </a:cubicBezTo>
                  <a:cubicBezTo>
                    <a:pt x="15" y="137"/>
                    <a:pt x="21" y="134"/>
                    <a:pt x="26" y="129"/>
                  </a:cubicBezTo>
                  <a:cubicBezTo>
                    <a:pt x="32" y="124"/>
                    <a:pt x="38" y="115"/>
                    <a:pt x="44" y="102"/>
                  </a:cubicBezTo>
                  <a:cubicBezTo>
                    <a:pt x="51" y="89"/>
                    <a:pt x="51" y="89"/>
                    <a:pt x="51" y="89"/>
                  </a:cubicBezTo>
                  <a:cubicBezTo>
                    <a:pt x="7" y="0"/>
                    <a:pt x="7" y="0"/>
                    <a:pt x="7" y="0"/>
                  </a:cubicBezTo>
                  <a:cubicBezTo>
                    <a:pt x="29" y="0"/>
                    <a:pt x="29" y="0"/>
                    <a:pt x="29" y="0"/>
                  </a:cubicBezTo>
                  <a:cubicBezTo>
                    <a:pt x="62" y="66"/>
                    <a:pt x="62" y="66"/>
                    <a:pt x="62" y="66"/>
                  </a:cubicBezTo>
                  <a:cubicBezTo>
                    <a:pt x="95" y="0"/>
                    <a:pt x="95" y="0"/>
                    <a:pt x="95" y="0"/>
                  </a:cubicBezTo>
                  <a:cubicBezTo>
                    <a:pt x="117" y="0"/>
                    <a:pt x="117" y="0"/>
                    <a:pt x="117" y="0"/>
                  </a:cubicBezTo>
                  <a:lnTo>
                    <a:pt x="64" y="108"/>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18" name="Freeform 34"/>
            <p:cNvSpPr>
              <a:spLocks/>
            </p:cNvSpPr>
            <p:nvPr/>
          </p:nvSpPr>
          <p:spPr bwMode="white">
            <a:xfrm>
              <a:off x="3124" y="1166"/>
              <a:ext cx="27" cy="56"/>
            </a:xfrm>
            <a:custGeom>
              <a:avLst/>
              <a:gdLst>
                <a:gd name="T0" fmla="*/ 0 w 33"/>
                <a:gd name="T1" fmla="*/ 5 h 70"/>
                <a:gd name="T2" fmla="*/ 2 w 33"/>
                <a:gd name="T3" fmla="*/ 3 h 70"/>
                <a:gd name="T4" fmla="*/ 2 w 33"/>
                <a:gd name="T5" fmla="*/ 2 h 70"/>
                <a:gd name="T6" fmla="*/ 2 w 33"/>
                <a:gd name="T7" fmla="*/ 0 h 70"/>
                <a:gd name="T8" fmla="*/ 4 w 33"/>
                <a:gd name="T9" fmla="*/ 0 h 70"/>
                <a:gd name="T10" fmla="*/ 4 w 33"/>
                <a:gd name="T11" fmla="*/ 2 h 70"/>
                <a:gd name="T12" fmla="*/ 3 w 33"/>
                <a:gd name="T13" fmla="*/ 5 h 70"/>
                <a:gd name="T14" fmla="*/ 0 w 33"/>
                <a:gd name="T15" fmla="*/ 6 h 70"/>
                <a:gd name="T16" fmla="*/ 0 w 33"/>
                <a:gd name="T17" fmla="*/ 5 h 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70">
                  <a:moveTo>
                    <a:pt x="0" y="56"/>
                  </a:moveTo>
                  <a:cubicBezTo>
                    <a:pt x="10" y="52"/>
                    <a:pt x="16" y="45"/>
                    <a:pt x="16" y="35"/>
                  </a:cubicBezTo>
                  <a:cubicBezTo>
                    <a:pt x="16" y="29"/>
                    <a:pt x="13" y="25"/>
                    <a:pt x="7" y="24"/>
                  </a:cubicBezTo>
                  <a:cubicBezTo>
                    <a:pt x="7" y="0"/>
                    <a:pt x="7" y="0"/>
                    <a:pt x="7" y="0"/>
                  </a:cubicBezTo>
                  <a:cubicBezTo>
                    <a:pt x="33" y="0"/>
                    <a:pt x="33" y="0"/>
                    <a:pt x="33" y="0"/>
                  </a:cubicBezTo>
                  <a:cubicBezTo>
                    <a:pt x="33" y="24"/>
                    <a:pt x="33" y="24"/>
                    <a:pt x="33" y="24"/>
                  </a:cubicBezTo>
                  <a:cubicBezTo>
                    <a:pt x="33" y="36"/>
                    <a:pt x="31" y="45"/>
                    <a:pt x="27" y="53"/>
                  </a:cubicBezTo>
                  <a:cubicBezTo>
                    <a:pt x="21" y="62"/>
                    <a:pt x="12" y="68"/>
                    <a:pt x="0" y="70"/>
                  </a:cubicBezTo>
                  <a:lnTo>
                    <a:pt x="0" y="56"/>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19" name="Freeform 35"/>
            <p:cNvSpPr>
              <a:spLocks noEditPoints="1"/>
            </p:cNvSpPr>
            <p:nvPr/>
          </p:nvSpPr>
          <p:spPr bwMode="white">
            <a:xfrm>
              <a:off x="3237" y="1106"/>
              <a:ext cx="85" cy="83"/>
            </a:xfrm>
            <a:custGeom>
              <a:avLst/>
              <a:gdLst>
                <a:gd name="T0" fmla="*/ 2 w 103"/>
                <a:gd name="T1" fmla="*/ 5 h 103"/>
                <a:gd name="T2" fmla="*/ 4 w 103"/>
                <a:gd name="T3" fmla="*/ 8 h 103"/>
                <a:gd name="T4" fmla="*/ 7 w 103"/>
                <a:gd name="T5" fmla="*/ 8 h 103"/>
                <a:gd name="T6" fmla="*/ 10 w 103"/>
                <a:gd name="T7" fmla="*/ 8 h 103"/>
                <a:gd name="T8" fmla="*/ 12 w 103"/>
                <a:gd name="T9" fmla="*/ 6 h 103"/>
                <a:gd name="T10" fmla="*/ 12 w 103"/>
                <a:gd name="T11" fmla="*/ 8 h 103"/>
                <a:gd name="T12" fmla="*/ 10 w 103"/>
                <a:gd name="T13" fmla="*/ 10 h 103"/>
                <a:gd name="T14" fmla="*/ 7 w 103"/>
                <a:gd name="T15" fmla="*/ 10 h 103"/>
                <a:gd name="T16" fmla="*/ 2 w 103"/>
                <a:gd name="T17" fmla="*/ 8 h 103"/>
                <a:gd name="T18" fmla="*/ 0 w 103"/>
                <a:gd name="T19" fmla="*/ 5 h 103"/>
                <a:gd name="T20" fmla="*/ 2 w 103"/>
                <a:gd name="T21" fmla="*/ 2 h 103"/>
                <a:gd name="T22" fmla="*/ 7 w 103"/>
                <a:gd name="T23" fmla="*/ 0 h 103"/>
                <a:gd name="T24" fmla="*/ 11 w 103"/>
                <a:gd name="T25" fmla="*/ 2 h 103"/>
                <a:gd name="T26" fmla="*/ 12 w 103"/>
                <a:gd name="T27" fmla="*/ 3 h 103"/>
                <a:gd name="T28" fmla="*/ 12 w 103"/>
                <a:gd name="T29" fmla="*/ 5 h 103"/>
                <a:gd name="T30" fmla="*/ 2 w 103"/>
                <a:gd name="T31" fmla="*/ 5 h 103"/>
                <a:gd name="T32" fmla="*/ 2 w 103"/>
                <a:gd name="T33" fmla="*/ 4 h 103"/>
                <a:gd name="T34" fmla="*/ 10 w 103"/>
                <a:gd name="T35" fmla="*/ 4 h 103"/>
                <a:gd name="T36" fmla="*/ 10 w 103"/>
                <a:gd name="T37" fmla="*/ 3 h 103"/>
                <a:gd name="T38" fmla="*/ 10 w 103"/>
                <a:gd name="T39" fmla="*/ 2 h 103"/>
                <a:gd name="T40" fmla="*/ 7 w 103"/>
                <a:gd name="T41" fmla="*/ 2 h 103"/>
                <a:gd name="T42" fmla="*/ 4 w 103"/>
                <a:gd name="T43" fmla="*/ 2 h 103"/>
                <a:gd name="T44" fmla="*/ 2 w 103"/>
                <a:gd name="T45" fmla="*/ 4 h 10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3" h="103">
                  <a:moveTo>
                    <a:pt x="20" y="56"/>
                  </a:moveTo>
                  <a:cubicBezTo>
                    <a:pt x="20" y="66"/>
                    <a:pt x="24" y="73"/>
                    <a:pt x="31" y="78"/>
                  </a:cubicBezTo>
                  <a:cubicBezTo>
                    <a:pt x="38" y="83"/>
                    <a:pt x="48" y="85"/>
                    <a:pt x="61" y="85"/>
                  </a:cubicBezTo>
                  <a:cubicBezTo>
                    <a:pt x="68" y="85"/>
                    <a:pt x="76" y="84"/>
                    <a:pt x="83" y="82"/>
                  </a:cubicBezTo>
                  <a:cubicBezTo>
                    <a:pt x="91" y="80"/>
                    <a:pt x="98" y="77"/>
                    <a:pt x="103" y="73"/>
                  </a:cubicBezTo>
                  <a:cubicBezTo>
                    <a:pt x="103" y="93"/>
                    <a:pt x="103" y="93"/>
                    <a:pt x="103" y="93"/>
                  </a:cubicBezTo>
                  <a:cubicBezTo>
                    <a:pt x="97" y="95"/>
                    <a:pt x="90" y="98"/>
                    <a:pt x="82" y="100"/>
                  </a:cubicBezTo>
                  <a:cubicBezTo>
                    <a:pt x="74" y="102"/>
                    <a:pt x="66" y="103"/>
                    <a:pt x="57" y="103"/>
                  </a:cubicBezTo>
                  <a:cubicBezTo>
                    <a:pt x="40" y="103"/>
                    <a:pt x="26" y="98"/>
                    <a:pt x="16" y="90"/>
                  </a:cubicBezTo>
                  <a:cubicBezTo>
                    <a:pt x="6" y="81"/>
                    <a:pt x="0" y="68"/>
                    <a:pt x="0" y="51"/>
                  </a:cubicBezTo>
                  <a:cubicBezTo>
                    <a:pt x="0" y="35"/>
                    <a:pt x="6" y="22"/>
                    <a:pt x="16" y="13"/>
                  </a:cubicBezTo>
                  <a:cubicBezTo>
                    <a:pt x="26" y="4"/>
                    <a:pt x="39" y="0"/>
                    <a:pt x="56" y="0"/>
                  </a:cubicBezTo>
                  <a:cubicBezTo>
                    <a:pt x="72" y="0"/>
                    <a:pt x="84" y="4"/>
                    <a:pt x="92" y="12"/>
                  </a:cubicBezTo>
                  <a:cubicBezTo>
                    <a:pt x="100" y="19"/>
                    <a:pt x="103" y="27"/>
                    <a:pt x="103" y="37"/>
                  </a:cubicBezTo>
                  <a:cubicBezTo>
                    <a:pt x="103" y="45"/>
                    <a:pt x="101" y="51"/>
                    <a:pt x="97" y="56"/>
                  </a:cubicBezTo>
                  <a:lnTo>
                    <a:pt x="20" y="56"/>
                  </a:lnTo>
                  <a:close/>
                  <a:moveTo>
                    <a:pt x="22" y="40"/>
                  </a:moveTo>
                  <a:cubicBezTo>
                    <a:pt x="83" y="40"/>
                    <a:pt x="83" y="40"/>
                    <a:pt x="83" y="40"/>
                  </a:cubicBezTo>
                  <a:cubicBezTo>
                    <a:pt x="84" y="39"/>
                    <a:pt x="84" y="37"/>
                    <a:pt x="84" y="35"/>
                  </a:cubicBezTo>
                  <a:cubicBezTo>
                    <a:pt x="84" y="31"/>
                    <a:pt x="82" y="27"/>
                    <a:pt x="77" y="23"/>
                  </a:cubicBezTo>
                  <a:cubicBezTo>
                    <a:pt x="72" y="20"/>
                    <a:pt x="65" y="18"/>
                    <a:pt x="56" y="18"/>
                  </a:cubicBezTo>
                  <a:cubicBezTo>
                    <a:pt x="48" y="18"/>
                    <a:pt x="40" y="20"/>
                    <a:pt x="34" y="23"/>
                  </a:cubicBezTo>
                  <a:cubicBezTo>
                    <a:pt x="28" y="27"/>
                    <a:pt x="24" y="32"/>
                    <a:pt x="22" y="40"/>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20" name="Freeform 36"/>
            <p:cNvSpPr>
              <a:spLocks/>
            </p:cNvSpPr>
            <p:nvPr/>
          </p:nvSpPr>
          <p:spPr bwMode="white">
            <a:xfrm>
              <a:off x="3339" y="1107"/>
              <a:ext cx="86" cy="80"/>
            </a:xfrm>
            <a:custGeom>
              <a:avLst/>
              <a:gdLst>
                <a:gd name="T0" fmla="*/ 22 w 86"/>
                <a:gd name="T1" fmla="*/ 0 h 80"/>
                <a:gd name="T2" fmla="*/ 43 w 86"/>
                <a:gd name="T3" fmla="*/ 26 h 80"/>
                <a:gd name="T4" fmla="*/ 64 w 86"/>
                <a:gd name="T5" fmla="*/ 0 h 80"/>
                <a:gd name="T6" fmla="*/ 84 w 86"/>
                <a:gd name="T7" fmla="*/ 0 h 80"/>
                <a:gd name="T8" fmla="*/ 53 w 86"/>
                <a:gd name="T9" fmla="*/ 39 h 80"/>
                <a:gd name="T10" fmla="*/ 86 w 86"/>
                <a:gd name="T11" fmla="*/ 80 h 80"/>
                <a:gd name="T12" fmla="*/ 64 w 86"/>
                <a:gd name="T13" fmla="*/ 80 h 80"/>
                <a:gd name="T14" fmla="*/ 43 w 86"/>
                <a:gd name="T15" fmla="*/ 52 h 80"/>
                <a:gd name="T16" fmla="*/ 21 w 86"/>
                <a:gd name="T17" fmla="*/ 80 h 80"/>
                <a:gd name="T18" fmla="*/ 0 w 86"/>
                <a:gd name="T19" fmla="*/ 80 h 80"/>
                <a:gd name="T20" fmla="*/ 33 w 86"/>
                <a:gd name="T21" fmla="*/ 39 h 80"/>
                <a:gd name="T22" fmla="*/ 2 w 86"/>
                <a:gd name="T23" fmla="*/ 0 h 80"/>
                <a:gd name="T24" fmla="*/ 22 w 86"/>
                <a:gd name="T25" fmla="*/ 0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80">
                  <a:moveTo>
                    <a:pt x="22" y="0"/>
                  </a:moveTo>
                  <a:lnTo>
                    <a:pt x="43" y="26"/>
                  </a:lnTo>
                  <a:lnTo>
                    <a:pt x="64" y="0"/>
                  </a:lnTo>
                  <a:lnTo>
                    <a:pt x="84" y="0"/>
                  </a:lnTo>
                  <a:lnTo>
                    <a:pt x="53" y="39"/>
                  </a:lnTo>
                  <a:lnTo>
                    <a:pt x="86" y="80"/>
                  </a:lnTo>
                  <a:lnTo>
                    <a:pt x="64" y="80"/>
                  </a:lnTo>
                  <a:lnTo>
                    <a:pt x="43" y="52"/>
                  </a:lnTo>
                  <a:lnTo>
                    <a:pt x="21" y="80"/>
                  </a:lnTo>
                  <a:lnTo>
                    <a:pt x="0" y="80"/>
                  </a:lnTo>
                  <a:lnTo>
                    <a:pt x="33" y="39"/>
                  </a:lnTo>
                  <a:lnTo>
                    <a:pt x="2" y="0"/>
                  </a:lnTo>
                  <a:lnTo>
                    <a:pt x="22" y="0"/>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21" name="Freeform 37"/>
            <p:cNvSpPr>
              <a:spLocks noEditPoints="1"/>
            </p:cNvSpPr>
            <p:nvPr/>
          </p:nvSpPr>
          <p:spPr bwMode="white">
            <a:xfrm>
              <a:off x="3446" y="1103"/>
              <a:ext cx="85" cy="127"/>
            </a:xfrm>
            <a:custGeom>
              <a:avLst/>
              <a:gdLst>
                <a:gd name="T0" fmla="*/ 10 w 105"/>
                <a:gd name="T1" fmla="*/ 5 h 157"/>
                <a:gd name="T2" fmla="*/ 9 w 105"/>
                <a:gd name="T3" fmla="*/ 9 h 157"/>
                <a:gd name="T4" fmla="*/ 5 w 105"/>
                <a:gd name="T5" fmla="*/ 10 h 157"/>
                <a:gd name="T6" fmla="*/ 3 w 105"/>
                <a:gd name="T7" fmla="*/ 10 h 157"/>
                <a:gd name="T8" fmla="*/ 2 w 105"/>
                <a:gd name="T9" fmla="*/ 10 h 157"/>
                <a:gd name="T10" fmla="*/ 2 w 105"/>
                <a:gd name="T11" fmla="*/ 15 h 157"/>
                <a:gd name="T12" fmla="*/ 0 w 105"/>
                <a:gd name="T13" fmla="*/ 15 h 157"/>
                <a:gd name="T14" fmla="*/ 0 w 105"/>
                <a:gd name="T15" fmla="*/ 2 h 157"/>
                <a:gd name="T16" fmla="*/ 2 w 105"/>
                <a:gd name="T17" fmla="*/ 0 h 157"/>
                <a:gd name="T18" fmla="*/ 2 w 105"/>
                <a:gd name="T19" fmla="*/ 2 h 157"/>
                <a:gd name="T20" fmla="*/ 3 w 105"/>
                <a:gd name="T21" fmla="*/ 2 h 157"/>
                <a:gd name="T22" fmla="*/ 5 w 105"/>
                <a:gd name="T23" fmla="*/ 2 h 157"/>
                <a:gd name="T24" fmla="*/ 9 w 105"/>
                <a:gd name="T25" fmla="*/ 2 h 157"/>
                <a:gd name="T26" fmla="*/ 10 w 105"/>
                <a:gd name="T27" fmla="*/ 5 h 157"/>
                <a:gd name="T28" fmla="*/ 8 w 105"/>
                <a:gd name="T29" fmla="*/ 5 h 157"/>
                <a:gd name="T30" fmla="*/ 7 w 105"/>
                <a:gd name="T31" fmla="*/ 2 h 157"/>
                <a:gd name="T32" fmla="*/ 5 w 105"/>
                <a:gd name="T33" fmla="*/ 2 h 157"/>
                <a:gd name="T34" fmla="*/ 3 w 105"/>
                <a:gd name="T35" fmla="*/ 2 h 157"/>
                <a:gd name="T36" fmla="*/ 2 w 105"/>
                <a:gd name="T37" fmla="*/ 3 h 157"/>
                <a:gd name="T38" fmla="*/ 2 w 105"/>
                <a:gd name="T39" fmla="*/ 7 h 157"/>
                <a:gd name="T40" fmla="*/ 3 w 105"/>
                <a:gd name="T41" fmla="*/ 8 h 157"/>
                <a:gd name="T42" fmla="*/ 5 w 105"/>
                <a:gd name="T43" fmla="*/ 8 h 157"/>
                <a:gd name="T44" fmla="*/ 7 w 105"/>
                <a:gd name="T45" fmla="*/ 8 h 157"/>
                <a:gd name="T46" fmla="*/ 8 w 105"/>
                <a:gd name="T47" fmla="*/ 5 h 15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5" h="157">
                  <a:moveTo>
                    <a:pt x="105" y="54"/>
                  </a:moveTo>
                  <a:cubicBezTo>
                    <a:pt x="105" y="70"/>
                    <a:pt x="100" y="82"/>
                    <a:pt x="91" y="92"/>
                  </a:cubicBezTo>
                  <a:cubicBezTo>
                    <a:pt x="82" y="101"/>
                    <a:pt x="69" y="106"/>
                    <a:pt x="53" y="106"/>
                  </a:cubicBezTo>
                  <a:cubicBezTo>
                    <a:pt x="47" y="106"/>
                    <a:pt x="41" y="105"/>
                    <a:pt x="35" y="103"/>
                  </a:cubicBezTo>
                  <a:cubicBezTo>
                    <a:pt x="30" y="101"/>
                    <a:pt x="25" y="98"/>
                    <a:pt x="20" y="96"/>
                  </a:cubicBezTo>
                  <a:cubicBezTo>
                    <a:pt x="20" y="157"/>
                    <a:pt x="20" y="157"/>
                    <a:pt x="20" y="157"/>
                  </a:cubicBezTo>
                  <a:cubicBezTo>
                    <a:pt x="0" y="157"/>
                    <a:pt x="0" y="157"/>
                    <a:pt x="0" y="157"/>
                  </a:cubicBezTo>
                  <a:cubicBezTo>
                    <a:pt x="0" y="7"/>
                    <a:pt x="0" y="7"/>
                    <a:pt x="0" y="7"/>
                  </a:cubicBezTo>
                  <a:cubicBezTo>
                    <a:pt x="20" y="0"/>
                    <a:pt x="20" y="0"/>
                    <a:pt x="20" y="0"/>
                  </a:cubicBezTo>
                  <a:cubicBezTo>
                    <a:pt x="20" y="13"/>
                    <a:pt x="20" y="13"/>
                    <a:pt x="20" y="13"/>
                  </a:cubicBezTo>
                  <a:cubicBezTo>
                    <a:pt x="25" y="10"/>
                    <a:pt x="30" y="8"/>
                    <a:pt x="35" y="6"/>
                  </a:cubicBezTo>
                  <a:cubicBezTo>
                    <a:pt x="41" y="4"/>
                    <a:pt x="47" y="3"/>
                    <a:pt x="53" y="3"/>
                  </a:cubicBezTo>
                  <a:cubicBezTo>
                    <a:pt x="69" y="3"/>
                    <a:pt x="82" y="8"/>
                    <a:pt x="91" y="17"/>
                  </a:cubicBezTo>
                  <a:cubicBezTo>
                    <a:pt x="100" y="26"/>
                    <a:pt x="105" y="39"/>
                    <a:pt x="105" y="54"/>
                  </a:cubicBezTo>
                  <a:close/>
                  <a:moveTo>
                    <a:pt x="85" y="54"/>
                  </a:moveTo>
                  <a:cubicBezTo>
                    <a:pt x="85" y="44"/>
                    <a:pt x="83" y="36"/>
                    <a:pt x="77" y="30"/>
                  </a:cubicBezTo>
                  <a:cubicBezTo>
                    <a:pt x="72" y="24"/>
                    <a:pt x="63" y="21"/>
                    <a:pt x="52" y="21"/>
                  </a:cubicBezTo>
                  <a:cubicBezTo>
                    <a:pt x="45" y="21"/>
                    <a:pt x="39" y="22"/>
                    <a:pt x="33" y="24"/>
                  </a:cubicBezTo>
                  <a:cubicBezTo>
                    <a:pt x="28" y="27"/>
                    <a:pt x="24" y="30"/>
                    <a:pt x="20" y="34"/>
                  </a:cubicBezTo>
                  <a:cubicBezTo>
                    <a:pt x="20" y="75"/>
                    <a:pt x="20" y="75"/>
                    <a:pt x="20" y="75"/>
                  </a:cubicBezTo>
                  <a:cubicBezTo>
                    <a:pt x="23" y="78"/>
                    <a:pt x="27" y="81"/>
                    <a:pt x="33" y="84"/>
                  </a:cubicBezTo>
                  <a:cubicBezTo>
                    <a:pt x="38" y="86"/>
                    <a:pt x="45" y="88"/>
                    <a:pt x="52" y="88"/>
                  </a:cubicBezTo>
                  <a:cubicBezTo>
                    <a:pt x="63" y="88"/>
                    <a:pt x="72" y="85"/>
                    <a:pt x="77" y="79"/>
                  </a:cubicBezTo>
                  <a:cubicBezTo>
                    <a:pt x="82" y="72"/>
                    <a:pt x="85" y="64"/>
                    <a:pt x="85" y="54"/>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22" name="Freeform 38"/>
            <p:cNvSpPr>
              <a:spLocks noEditPoints="1"/>
            </p:cNvSpPr>
            <p:nvPr/>
          </p:nvSpPr>
          <p:spPr bwMode="white">
            <a:xfrm>
              <a:off x="3554" y="1106"/>
              <a:ext cx="83" cy="83"/>
            </a:xfrm>
            <a:custGeom>
              <a:avLst/>
              <a:gdLst>
                <a:gd name="T0" fmla="*/ 2 w 102"/>
                <a:gd name="T1" fmla="*/ 5 h 103"/>
                <a:gd name="T2" fmla="*/ 3 w 102"/>
                <a:gd name="T3" fmla="*/ 8 h 103"/>
                <a:gd name="T4" fmla="*/ 7 w 102"/>
                <a:gd name="T5" fmla="*/ 8 h 103"/>
                <a:gd name="T6" fmla="*/ 9 w 102"/>
                <a:gd name="T7" fmla="*/ 8 h 103"/>
                <a:gd name="T8" fmla="*/ 11 w 102"/>
                <a:gd name="T9" fmla="*/ 6 h 103"/>
                <a:gd name="T10" fmla="*/ 11 w 102"/>
                <a:gd name="T11" fmla="*/ 8 h 103"/>
                <a:gd name="T12" fmla="*/ 9 w 102"/>
                <a:gd name="T13" fmla="*/ 10 h 103"/>
                <a:gd name="T14" fmla="*/ 6 w 102"/>
                <a:gd name="T15" fmla="*/ 10 h 103"/>
                <a:gd name="T16" fmla="*/ 2 w 102"/>
                <a:gd name="T17" fmla="*/ 8 h 103"/>
                <a:gd name="T18" fmla="*/ 0 w 102"/>
                <a:gd name="T19" fmla="*/ 5 h 103"/>
                <a:gd name="T20" fmla="*/ 2 w 102"/>
                <a:gd name="T21" fmla="*/ 2 h 103"/>
                <a:gd name="T22" fmla="*/ 6 w 102"/>
                <a:gd name="T23" fmla="*/ 0 h 103"/>
                <a:gd name="T24" fmla="*/ 10 w 102"/>
                <a:gd name="T25" fmla="*/ 2 h 103"/>
                <a:gd name="T26" fmla="*/ 11 w 102"/>
                <a:gd name="T27" fmla="*/ 3 h 103"/>
                <a:gd name="T28" fmla="*/ 10 w 102"/>
                <a:gd name="T29" fmla="*/ 5 h 103"/>
                <a:gd name="T30" fmla="*/ 2 w 102"/>
                <a:gd name="T31" fmla="*/ 5 h 103"/>
                <a:gd name="T32" fmla="*/ 2 w 102"/>
                <a:gd name="T33" fmla="*/ 4 h 103"/>
                <a:gd name="T34" fmla="*/ 9 w 102"/>
                <a:gd name="T35" fmla="*/ 4 h 103"/>
                <a:gd name="T36" fmla="*/ 9 w 102"/>
                <a:gd name="T37" fmla="*/ 3 h 103"/>
                <a:gd name="T38" fmla="*/ 8 w 102"/>
                <a:gd name="T39" fmla="*/ 2 h 103"/>
                <a:gd name="T40" fmla="*/ 6 w 102"/>
                <a:gd name="T41" fmla="*/ 2 h 103"/>
                <a:gd name="T42" fmla="*/ 4 w 102"/>
                <a:gd name="T43" fmla="*/ 2 h 103"/>
                <a:gd name="T44" fmla="*/ 2 w 102"/>
                <a:gd name="T45" fmla="*/ 4 h 10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2" h="103">
                  <a:moveTo>
                    <a:pt x="19" y="56"/>
                  </a:moveTo>
                  <a:cubicBezTo>
                    <a:pt x="19" y="66"/>
                    <a:pt x="23" y="73"/>
                    <a:pt x="30" y="78"/>
                  </a:cubicBezTo>
                  <a:cubicBezTo>
                    <a:pt x="37" y="83"/>
                    <a:pt x="47" y="85"/>
                    <a:pt x="61" y="85"/>
                  </a:cubicBezTo>
                  <a:cubicBezTo>
                    <a:pt x="67" y="85"/>
                    <a:pt x="75" y="84"/>
                    <a:pt x="83" y="82"/>
                  </a:cubicBezTo>
                  <a:cubicBezTo>
                    <a:pt x="90" y="80"/>
                    <a:pt x="97" y="77"/>
                    <a:pt x="102" y="73"/>
                  </a:cubicBezTo>
                  <a:cubicBezTo>
                    <a:pt x="102" y="93"/>
                    <a:pt x="102" y="93"/>
                    <a:pt x="102" y="93"/>
                  </a:cubicBezTo>
                  <a:cubicBezTo>
                    <a:pt x="96" y="95"/>
                    <a:pt x="89" y="98"/>
                    <a:pt x="81" y="100"/>
                  </a:cubicBezTo>
                  <a:cubicBezTo>
                    <a:pt x="74" y="102"/>
                    <a:pt x="65" y="103"/>
                    <a:pt x="56" y="103"/>
                  </a:cubicBezTo>
                  <a:cubicBezTo>
                    <a:pt x="39" y="103"/>
                    <a:pt x="26" y="98"/>
                    <a:pt x="15" y="90"/>
                  </a:cubicBezTo>
                  <a:cubicBezTo>
                    <a:pt x="5" y="81"/>
                    <a:pt x="0" y="68"/>
                    <a:pt x="0" y="51"/>
                  </a:cubicBezTo>
                  <a:cubicBezTo>
                    <a:pt x="0" y="35"/>
                    <a:pt x="5" y="22"/>
                    <a:pt x="15" y="13"/>
                  </a:cubicBezTo>
                  <a:cubicBezTo>
                    <a:pt x="25" y="4"/>
                    <a:pt x="39" y="0"/>
                    <a:pt x="56" y="0"/>
                  </a:cubicBezTo>
                  <a:cubicBezTo>
                    <a:pt x="71" y="0"/>
                    <a:pt x="83" y="4"/>
                    <a:pt x="91" y="12"/>
                  </a:cubicBezTo>
                  <a:cubicBezTo>
                    <a:pt x="99" y="19"/>
                    <a:pt x="102" y="27"/>
                    <a:pt x="102" y="37"/>
                  </a:cubicBezTo>
                  <a:cubicBezTo>
                    <a:pt x="102" y="45"/>
                    <a:pt x="100" y="51"/>
                    <a:pt x="96" y="56"/>
                  </a:cubicBezTo>
                  <a:lnTo>
                    <a:pt x="19" y="56"/>
                  </a:lnTo>
                  <a:close/>
                  <a:moveTo>
                    <a:pt x="21" y="40"/>
                  </a:moveTo>
                  <a:cubicBezTo>
                    <a:pt x="82" y="40"/>
                    <a:pt x="82" y="40"/>
                    <a:pt x="82" y="40"/>
                  </a:cubicBezTo>
                  <a:cubicBezTo>
                    <a:pt x="83" y="39"/>
                    <a:pt x="83" y="37"/>
                    <a:pt x="83" y="35"/>
                  </a:cubicBezTo>
                  <a:cubicBezTo>
                    <a:pt x="83" y="31"/>
                    <a:pt x="81" y="27"/>
                    <a:pt x="76" y="23"/>
                  </a:cubicBezTo>
                  <a:cubicBezTo>
                    <a:pt x="71" y="20"/>
                    <a:pt x="64" y="18"/>
                    <a:pt x="56" y="18"/>
                  </a:cubicBezTo>
                  <a:cubicBezTo>
                    <a:pt x="47" y="18"/>
                    <a:pt x="39" y="20"/>
                    <a:pt x="33" y="23"/>
                  </a:cubicBezTo>
                  <a:cubicBezTo>
                    <a:pt x="27" y="27"/>
                    <a:pt x="23" y="32"/>
                    <a:pt x="21" y="40"/>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23" name="Freeform 39"/>
            <p:cNvSpPr>
              <a:spLocks/>
            </p:cNvSpPr>
            <p:nvPr/>
          </p:nvSpPr>
          <p:spPr bwMode="white">
            <a:xfrm>
              <a:off x="3665" y="1103"/>
              <a:ext cx="52" cy="84"/>
            </a:xfrm>
            <a:custGeom>
              <a:avLst/>
              <a:gdLst>
                <a:gd name="T0" fmla="*/ 0 w 64"/>
                <a:gd name="T1" fmla="*/ 2 h 103"/>
                <a:gd name="T2" fmla="*/ 2 w 64"/>
                <a:gd name="T3" fmla="*/ 0 h 103"/>
                <a:gd name="T4" fmla="*/ 2 w 64"/>
                <a:gd name="T5" fmla="*/ 2 h 103"/>
                <a:gd name="T6" fmla="*/ 5 w 64"/>
                <a:gd name="T7" fmla="*/ 2 h 103"/>
                <a:gd name="T8" fmla="*/ 7 w 64"/>
                <a:gd name="T9" fmla="*/ 2 h 103"/>
                <a:gd name="T10" fmla="*/ 7 w 64"/>
                <a:gd name="T11" fmla="*/ 2 h 103"/>
                <a:gd name="T12" fmla="*/ 5 w 64"/>
                <a:gd name="T13" fmla="*/ 3 h 103"/>
                <a:gd name="T14" fmla="*/ 2 w 64"/>
                <a:gd name="T15" fmla="*/ 4 h 103"/>
                <a:gd name="T16" fmla="*/ 2 w 64"/>
                <a:gd name="T17" fmla="*/ 11 h 103"/>
                <a:gd name="T18" fmla="*/ 0 w 64"/>
                <a:gd name="T19" fmla="*/ 11 h 103"/>
                <a:gd name="T20" fmla="*/ 0 w 64"/>
                <a:gd name="T21" fmla="*/ 2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4" h="103">
                  <a:moveTo>
                    <a:pt x="0" y="7"/>
                  </a:moveTo>
                  <a:cubicBezTo>
                    <a:pt x="20" y="0"/>
                    <a:pt x="20" y="0"/>
                    <a:pt x="20" y="0"/>
                  </a:cubicBezTo>
                  <a:cubicBezTo>
                    <a:pt x="20" y="19"/>
                    <a:pt x="20" y="19"/>
                    <a:pt x="20" y="19"/>
                  </a:cubicBezTo>
                  <a:cubicBezTo>
                    <a:pt x="25" y="14"/>
                    <a:pt x="33" y="10"/>
                    <a:pt x="42" y="7"/>
                  </a:cubicBezTo>
                  <a:cubicBezTo>
                    <a:pt x="51" y="3"/>
                    <a:pt x="58" y="2"/>
                    <a:pt x="64" y="2"/>
                  </a:cubicBezTo>
                  <a:cubicBezTo>
                    <a:pt x="64" y="23"/>
                    <a:pt x="64" y="23"/>
                    <a:pt x="64" y="23"/>
                  </a:cubicBezTo>
                  <a:cubicBezTo>
                    <a:pt x="57" y="23"/>
                    <a:pt x="49" y="24"/>
                    <a:pt x="40" y="27"/>
                  </a:cubicBezTo>
                  <a:cubicBezTo>
                    <a:pt x="31" y="29"/>
                    <a:pt x="24" y="32"/>
                    <a:pt x="20" y="36"/>
                  </a:cubicBezTo>
                  <a:cubicBezTo>
                    <a:pt x="20" y="103"/>
                    <a:pt x="20" y="103"/>
                    <a:pt x="20" y="103"/>
                  </a:cubicBezTo>
                  <a:cubicBezTo>
                    <a:pt x="0" y="103"/>
                    <a:pt x="0" y="103"/>
                    <a:pt x="0" y="103"/>
                  </a:cubicBezTo>
                  <a:lnTo>
                    <a:pt x="0" y="7"/>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24" name="Freeform 40"/>
            <p:cNvSpPr>
              <a:spLocks/>
            </p:cNvSpPr>
            <p:nvPr/>
          </p:nvSpPr>
          <p:spPr bwMode="white">
            <a:xfrm>
              <a:off x="3732" y="1080"/>
              <a:ext cx="71" cy="109"/>
            </a:xfrm>
            <a:custGeom>
              <a:avLst/>
              <a:gdLst>
                <a:gd name="T0" fmla="*/ 8 w 88"/>
                <a:gd name="T1" fmla="*/ 5 h 135"/>
                <a:gd name="T2" fmla="*/ 4 w 88"/>
                <a:gd name="T3" fmla="*/ 5 h 135"/>
                <a:gd name="T4" fmla="*/ 4 w 88"/>
                <a:gd name="T5" fmla="*/ 9 h 135"/>
                <a:gd name="T6" fmla="*/ 4 w 88"/>
                <a:gd name="T7" fmla="*/ 10 h 135"/>
                <a:gd name="T8" fmla="*/ 6 w 88"/>
                <a:gd name="T9" fmla="*/ 11 h 135"/>
                <a:gd name="T10" fmla="*/ 7 w 88"/>
                <a:gd name="T11" fmla="*/ 11 h 135"/>
                <a:gd name="T12" fmla="*/ 8 w 88"/>
                <a:gd name="T13" fmla="*/ 10 h 135"/>
                <a:gd name="T14" fmla="*/ 8 w 88"/>
                <a:gd name="T15" fmla="*/ 12 h 135"/>
                <a:gd name="T16" fmla="*/ 6 w 88"/>
                <a:gd name="T17" fmla="*/ 12 h 135"/>
                <a:gd name="T18" fmla="*/ 6 w 88"/>
                <a:gd name="T19" fmla="*/ 12 h 135"/>
                <a:gd name="T20" fmla="*/ 2 w 88"/>
                <a:gd name="T21" fmla="*/ 12 h 135"/>
                <a:gd name="T22" fmla="*/ 2 w 88"/>
                <a:gd name="T23" fmla="*/ 9 h 135"/>
                <a:gd name="T24" fmla="*/ 2 w 88"/>
                <a:gd name="T25" fmla="*/ 5 h 135"/>
                <a:gd name="T26" fmla="*/ 0 w 88"/>
                <a:gd name="T27" fmla="*/ 5 h 135"/>
                <a:gd name="T28" fmla="*/ 0 w 88"/>
                <a:gd name="T29" fmla="*/ 3 h 135"/>
                <a:gd name="T30" fmla="*/ 2 w 88"/>
                <a:gd name="T31" fmla="*/ 3 h 135"/>
                <a:gd name="T32" fmla="*/ 2 w 88"/>
                <a:gd name="T33" fmla="*/ 2 h 135"/>
                <a:gd name="T34" fmla="*/ 4 w 88"/>
                <a:gd name="T35" fmla="*/ 0 h 135"/>
                <a:gd name="T36" fmla="*/ 4 w 88"/>
                <a:gd name="T37" fmla="*/ 3 h 135"/>
                <a:gd name="T38" fmla="*/ 8 w 88"/>
                <a:gd name="T39" fmla="*/ 3 h 135"/>
                <a:gd name="T40" fmla="*/ 8 w 88"/>
                <a:gd name="T41" fmla="*/ 5 h 1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8" h="135">
                  <a:moveTo>
                    <a:pt x="88" y="52"/>
                  </a:moveTo>
                  <a:cubicBezTo>
                    <a:pt x="42" y="52"/>
                    <a:pt x="42" y="52"/>
                    <a:pt x="42" y="52"/>
                  </a:cubicBezTo>
                  <a:cubicBezTo>
                    <a:pt x="42" y="94"/>
                    <a:pt x="42" y="94"/>
                    <a:pt x="42" y="94"/>
                  </a:cubicBezTo>
                  <a:cubicBezTo>
                    <a:pt x="42" y="102"/>
                    <a:pt x="44" y="108"/>
                    <a:pt x="47" y="112"/>
                  </a:cubicBezTo>
                  <a:cubicBezTo>
                    <a:pt x="49" y="115"/>
                    <a:pt x="55" y="117"/>
                    <a:pt x="64" y="117"/>
                  </a:cubicBezTo>
                  <a:cubicBezTo>
                    <a:pt x="67" y="117"/>
                    <a:pt x="71" y="116"/>
                    <a:pt x="75" y="115"/>
                  </a:cubicBezTo>
                  <a:cubicBezTo>
                    <a:pt x="80" y="115"/>
                    <a:pt x="84" y="113"/>
                    <a:pt x="88" y="112"/>
                  </a:cubicBezTo>
                  <a:cubicBezTo>
                    <a:pt x="88" y="130"/>
                    <a:pt x="88" y="130"/>
                    <a:pt x="88" y="130"/>
                  </a:cubicBezTo>
                  <a:cubicBezTo>
                    <a:pt x="83" y="131"/>
                    <a:pt x="78" y="132"/>
                    <a:pt x="74" y="133"/>
                  </a:cubicBezTo>
                  <a:cubicBezTo>
                    <a:pt x="69" y="134"/>
                    <a:pt x="65" y="135"/>
                    <a:pt x="62" y="135"/>
                  </a:cubicBezTo>
                  <a:cubicBezTo>
                    <a:pt x="46" y="135"/>
                    <a:pt x="36" y="131"/>
                    <a:pt x="30" y="124"/>
                  </a:cubicBezTo>
                  <a:cubicBezTo>
                    <a:pt x="25" y="118"/>
                    <a:pt x="23" y="108"/>
                    <a:pt x="23" y="94"/>
                  </a:cubicBezTo>
                  <a:cubicBezTo>
                    <a:pt x="23" y="52"/>
                    <a:pt x="23" y="52"/>
                    <a:pt x="23" y="52"/>
                  </a:cubicBezTo>
                  <a:cubicBezTo>
                    <a:pt x="0" y="52"/>
                    <a:pt x="0" y="52"/>
                    <a:pt x="0" y="52"/>
                  </a:cubicBezTo>
                  <a:cubicBezTo>
                    <a:pt x="0" y="34"/>
                    <a:pt x="0" y="34"/>
                    <a:pt x="0" y="34"/>
                  </a:cubicBezTo>
                  <a:cubicBezTo>
                    <a:pt x="23" y="34"/>
                    <a:pt x="23" y="34"/>
                    <a:pt x="23" y="34"/>
                  </a:cubicBezTo>
                  <a:cubicBezTo>
                    <a:pt x="23" y="7"/>
                    <a:pt x="23" y="7"/>
                    <a:pt x="23" y="7"/>
                  </a:cubicBezTo>
                  <a:cubicBezTo>
                    <a:pt x="42" y="0"/>
                    <a:pt x="42" y="0"/>
                    <a:pt x="42" y="0"/>
                  </a:cubicBezTo>
                  <a:cubicBezTo>
                    <a:pt x="42" y="34"/>
                    <a:pt x="42" y="34"/>
                    <a:pt x="42" y="34"/>
                  </a:cubicBezTo>
                  <a:cubicBezTo>
                    <a:pt x="88" y="34"/>
                    <a:pt x="88" y="34"/>
                    <a:pt x="88" y="34"/>
                  </a:cubicBezTo>
                  <a:lnTo>
                    <a:pt x="88" y="52"/>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25" name="Freeform 41"/>
            <p:cNvSpPr>
              <a:spLocks noEditPoints="1"/>
            </p:cNvSpPr>
            <p:nvPr/>
          </p:nvSpPr>
          <p:spPr bwMode="white">
            <a:xfrm>
              <a:off x="3828" y="1068"/>
              <a:ext cx="16" cy="119"/>
            </a:xfrm>
            <a:custGeom>
              <a:avLst/>
              <a:gdLst>
                <a:gd name="T0" fmla="*/ 16 w 16"/>
                <a:gd name="T1" fmla="*/ 16 h 119"/>
                <a:gd name="T2" fmla="*/ 0 w 16"/>
                <a:gd name="T3" fmla="*/ 16 h 119"/>
                <a:gd name="T4" fmla="*/ 0 w 16"/>
                <a:gd name="T5" fmla="*/ 0 h 119"/>
                <a:gd name="T6" fmla="*/ 16 w 16"/>
                <a:gd name="T7" fmla="*/ 0 h 119"/>
                <a:gd name="T8" fmla="*/ 16 w 16"/>
                <a:gd name="T9" fmla="*/ 16 h 119"/>
                <a:gd name="T10" fmla="*/ 0 w 16"/>
                <a:gd name="T11" fmla="*/ 41 h 119"/>
                <a:gd name="T12" fmla="*/ 16 w 16"/>
                <a:gd name="T13" fmla="*/ 35 h 119"/>
                <a:gd name="T14" fmla="*/ 16 w 16"/>
                <a:gd name="T15" fmla="*/ 119 h 119"/>
                <a:gd name="T16" fmla="*/ 0 w 16"/>
                <a:gd name="T17" fmla="*/ 119 h 119"/>
                <a:gd name="T18" fmla="*/ 0 w 16"/>
                <a:gd name="T19" fmla="*/ 41 h 1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119">
                  <a:moveTo>
                    <a:pt x="16" y="16"/>
                  </a:moveTo>
                  <a:lnTo>
                    <a:pt x="0" y="16"/>
                  </a:lnTo>
                  <a:lnTo>
                    <a:pt x="0" y="0"/>
                  </a:lnTo>
                  <a:lnTo>
                    <a:pt x="16" y="0"/>
                  </a:lnTo>
                  <a:lnTo>
                    <a:pt x="16" y="16"/>
                  </a:lnTo>
                  <a:close/>
                  <a:moveTo>
                    <a:pt x="0" y="41"/>
                  </a:moveTo>
                  <a:lnTo>
                    <a:pt x="16" y="35"/>
                  </a:lnTo>
                  <a:lnTo>
                    <a:pt x="16" y="119"/>
                  </a:lnTo>
                  <a:lnTo>
                    <a:pt x="0" y="119"/>
                  </a:lnTo>
                  <a:lnTo>
                    <a:pt x="0" y="41"/>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26" name="Freeform 42"/>
            <p:cNvSpPr>
              <a:spLocks/>
            </p:cNvSpPr>
            <p:nvPr/>
          </p:nvSpPr>
          <p:spPr bwMode="white">
            <a:xfrm>
              <a:off x="3873" y="1105"/>
              <a:ext cx="73" cy="84"/>
            </a:xfrm>
            <a:custGeom>
              <a:avLst/>
              <a:gdLst>
                <a:gd name="T0" fmla="*/ 1 w 89"/>
                <a:gd name="T1" fmla="*/ 9 h 104"/>
                <a:gd name="T2" fmla="*/ 1 w 89"/>
                <a:gd name="T3" fmla="*/ 6 h 104"/>
                <a:gd name="T4" fmla="*/ 2 w 89"/>
                <a:gd name="T5" fmla="*/ 8 h 104"/>
                <a:gd name="T6" fmla="*/ 5 w 89"/>
                <a:gd name="T7" fmla="*/ 8 h 104"/>
                <a:gd name="T8" fmla="*/ 7 w 89"/>
                <a:gd name="T9" fmla="*/ 8 h 104"/>
                <a:gd name="T10" fmla="*/ 7 w 89"/>
                <a:gd name="T11" fmla="*/ 7 h 104"/>
                <a:gd name="T12" fmla="*/ 6 w 89"/>
                <a:gd name="T13" fmla="*/ 6 h 104"/>
                <a:gd name="T14" fmla="*/ 5 w 89"/>
                <a:gd name="T15" fmla="*/ 6 h 104"/>
                <a:gd name="T16" fmla="*/ 2 w 89"/>
                <a:gd name="T17" fmla="*/ 5 h 104"/>
                <a:gd name="T18" fmla="*/ 0 w 89"/>
                <a:gd name="T19" fmla="*/ 2 h 104"/>
                <a:gd name="T20" fmla="*/ 2 w 89"/>
                <a:gd name="T21" fmla="*/ 2 h 104"/>
                <a:gd name="T22" fmla="*/ 5 w 89"/>
                <a:gd name="T23" fmla="*/ 0 h 104"/>
                <a:gd name="T24" fmla="*/ 7 w 89"/>
                <a:gd name="T25" fmla="*/ 2 h 104"/>
                <a:gd name="T26" fmla="*/ 9 w 89"/>
                <a:gd name="T27" fmla="*/ 2 h 104"/>
                <a:gd name="T28" fmla="*/ 9 w 89"/>
                <a:gd name="T29" fmla="*/ 2 h 104"/>
                <a:gd name="T30" fmla="*/ 7 w 89"/>
                <a:gd name="T31" fmla="*/ 2 h 104"/>
                <a:gd name="T32" fmla="*/ 5 w 89"/>
                <a:gd name="T33" fmla="*/ 2 h 104"/>
                <a:gd name="T34" fmla="*/ 2 w 89"/>
                <a:gd name="T35" fmla="*/ 2 h 104"/>
                <a:gd name="T36" fmla="*/ 2 w 89"/>
                <a:gd name="T37" fmla="*/ 2 h 104"/>
                <a:gd name="T38" fmla="*/ 3 w 89"/>
                <a:gd name="T39" fmla="*/ 4 h 104"/>
                <a:gd name="T40" fmla="*/ 5 w 89"/>
                <a:gd name="T41" fmla="*/ 4 h 104"/>
                <a:gd name="T42" fmla="*/ 9 w 89"/>
                <a:gd name="T43" fmla="*/ 5 h 104"/>
                <a:gd name="T44" fmla="*/ 10 w 89"/>
                <a:gd name="T45" fmla="*/ 7 h 104"/>
                <a:gd name="T46" fmla="*/ 9 w 89"/>
                <a:gd name="T47" fmla="*/ 10 h 104"/>
                <a:gd name="T48" fmla="*/ 5 w 89"/>
                <a:gd name="T49" fmla="*/ 10 h 104"/>
                <a:gd name="T50" fmla="*/ 2 w 89"/>
                <a:gd name="T51" fmla="*/ 10 h 104"/>
                <a:gd name="T52" fmla="*/ 1 w 89"/>
                <a:gd name="T53" fmla="*/ 9 h 10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9" h="104">
                  <a:moveTo>
                    <a:pt x="1" y="92"/>
                  </a:moveTo>
                  <a:cubicBezTo>
                    <a:pt x="1" y="71"/>
                    <a:pt x="1" y="71"/>
                    <a:pt x="1" y="71"/>
                  </a:cubicBezTo>
                  <a:cubicBezTo>
                    <a:pt x="6" y="75"/>
                    <a:pt x="14" y="79"/>
                    <a:pt x="22" y="82"/>
                  </a:cubicBezTo>
                  <a:cubicBezTo>
                    <a:pt x="31" y="85"/>
                    <a:pt x="39" y="86"/>
                    <a:pt x="46" y="86"/>
                  </a:cubicBezTo>
                  <a:cubicBezTo>
                    <a:pt x="53" y="86"/>
                    <a:pt x="58" y="86"/>
                    <a:pt x="62" y="84"/>
                  </a:cubicBezTo>
                  <a:cubicBezTo>
                    <a:pt x="67" y="82"/>
                    <a:pt x="69" y="79"/>
                    <a:pt x="69" y="74"/>
                  </a:cubicBezTo>
                  <a:cubicBezTo>
                    <a:pt x="69" y="69"/>
                    <a:pt x="65" y="65"/>
                    <a:pt x="58" y="63"/>
                  </a:cubicBezTo>
                  <a:cubicBezTo>
                    <a:pt x="55" y="63"/>
                    <a:pt x="51" y="62"/>
                    <a:pt x="43" y="61"/>
                  </a:cubicBezTo>
                  <a:cubicBezTo>
                    <a:pt x="28" y="58"/>
                    <a:pt x="18" y="55"/>
                    <a:pt x="12" y="52"/>
                  </a:cubicBezTo>
                  <a:cubicBezTo>
                    <a:pt x="4" y="47"/>
                    <a:pt x="0" y="40"/>
                    <a:pt x="0" y="29"/>
                  </a:cubicBezTo>
                  <a:cubicBezTo>
                    <a:pt x="0" y="20"/>
                    <a:pt x="4" y="13"/>
                    <a:pt x="11" y="8"/>
                  </a:cubicBezTo>
                  <a:cubicBezTo>
                    <a:pt x="19" y="3"/>
                    <a:pt x="29" y="0"/>
                    <a:pt x="41" y="0"/>
                  </a:cubicBezTo>
                  <a:cubicBezTo>
                    <a:pt x="47" y="0"/>
                    <a:pt x="54" y="1"/>
                    <a:pt x="62" y="3"/>
                  </a:cubicBezTo>
                  <a:cubicBezTo>
                    <a:pt x="69" y="4"/>
                    <a:pt x="75" y="6"/>
                    <a:pt x="80" y="8"/>
                  </a:cubicBezTo>
                  <a:cubicBezTo>
                    <a:pt x="80" y="27"/>
                    <a:pt x="80" y="27"/>
                    <a:pt x="80" y="27"/>
                  </a:cubicBezTo>
                  <a:cubicBezTo>
                    <a:pt x="76" y="25"/>
                    <a:pt x="69" y="23"/>
                    <a:pt x="61" y="21"/>
                  </a:cubicBezTo>
                  <a:cubicBezTo>
                    <a:pt x="53" y="19"/>
                    <a:pt x="46" y="18"/>
                    <a:pt x="41" y="18"/>
                  </a:cubicBezTo>
                  <a:cubicBezTo>
                    <a:pt x="34" y="18"/>
                    <a:pt x="29" y="19"/>
                    <a:pt x="25" y="21"/>
                  </a:cubicBezTo>
                  <a:cubicBezTo>
                    <a:pt x="21" y="22"/>
                    <a:pt x="19" y="25"/>
                    <a:pt x="19" y="29"/>
                  </a:cubicBezTo>
                  <a:cubicBezTo>
                    <a:pt x="19" y="33"/>
                    <a:pt x="23" y="36"/>
                    <a:pt x="30" y="38"/>
                  </a:cubicBezTo>
                  <a:cubicBezTo>
                    <a:pt x="33" y="39"/>
                    <a:pt x="37" y="39"/>
                    <a:pt x="43" y="41"/>
                  </a:cubicBezTo>
                  <a:cubicBezTo>
                    <a:pt x="57" y="43"/>
                    <a:pt x="68" y="46"/>
                    <a:pt x="75" y="50"/>
                  </a:cubicBezTo>
                  <a:cubicBezTo>
                    <a:pt x="84" y="56"/>
                    <a:pt x="89" y="64"/>
                    <a:pt x="89" y="74"/>
                  </a:cubicBezTo>
                  <a:cubicBezTo>
                    <a:pt x="89" y="84"/>
                    <a:pt x="85" y="91"/>
                    <a:pt x="77" y="96"/>
                  </a:cubicBezTo>
                  <a:cubicBezTo>
                    <a:pt x="70" y="102"/>
                    <a:pt x="60" y="104"/>
                    <a:pt x="46" y="104"/>
                  </a:cubicBezTo>
                  <a:cubicBezTo>
                    <a:pt x="38" y="104"/>
                    <a:pt x="30" y="103"/>
                    <a:pt x="21" y="100"/>
                  </a:cubicBezTo>
                  <a:cubicBezTo>
                    <a:pt x="12" y="97"/>
                    <a:pt x="5" y="95"/>
                    <a:pt x="1" y="92"/>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27" name="Freeform 43"/>
            <p:cNvSpPr>
              <a:spLocks noEditPoints="1"/>
            </p:cNvSpPr>
            <p:nvPr/>
          </p:nvSpPr>
          <p:spPr bwMode="white">
            <a:xfrm>
              <a:off x="3966" y="1106"/>
              <a:ext cx="84" cy="83"/>
            </a:xfrm>
            <a:custGeom>
              <a:avLst/>
              <a:gdLst>
                <a:gd name="T0" fmla="*/ 2 w 103"/>
                <a:gd name="T1" fmla="*/ 5 h 103"/>
                <a:gd name="T2" fmla="*/ 3 w 103"/>
                <a:gd name="T3" fmla="*/ 8 h 103"/>
                <a:gd name="T4" fmla="*/ 7 w 103"/>
                <a:gd name="T5" fmla="*/ 8 h 103"/>
                <a:gd name="T6" fmla="*/ 9 w 103"/>
                <a:gd name="T7" fmla="*/ 8 h 103"/>
                <a:gd name="T8" fmla="*/ 11 w 103"/>
                <a:gd name="T9" fmla="*/ 6 h 103"/>
                <a:gd name="T10" fmla="*/ 11 w 103"/>
                <a:gd name="T11" fmla="*/ 8 h 103"/>
                <a:gd name="T12" fmla="*/ 9 w 103"/>
                <a:gd name="T13" fmla="*/ 10 h 103"/>
                <a:gd name="T14" fmla="*/ 6 w 103"/>
                <a:gd name="T15" fmla="*/ 10 h 103"/>
                <a:gd name="T16" fmla="*/ 2 w 103"/>
                <a:gd name="T17" fmla="*/ 8 h 103"/>
                <a:gd name="T18" fmla="*/ 0 w 103"/>
                <a:gd name="T19" fmla="*/ 5 h 103"/>
                <a:gd name="T20" fmla="*/ 2 w 103"/>
                <a:gd name="T21" fmla="*/ 2 h 103"/>
                <a:gd name="T22" fmla="*/ 6 w 103"/>
                <a:gd name="T23" fmla="*/ 0 h 103"/>
                <a:gd name="T24" fmla="*/ 10 w 103"/>
                <a:gd name="T25" fmla="*/ 2 h 103"/>
                <a:gd name="T26" fmla="*/ 11 w 103"/>
                <a:gd name="T27" fmla="*/ 3 h 103"/>
                <a:gd name="T28" fmla="*/ 10 w 103"/>
                <a:gd name="T29" fmla="*/ 5 h 103"/>
                <a:gd name="T30" fmla="*/ 2 w 103"/>
                <a:gd name="T31" fmla="*/ 5 h 103"/>
                <a:gd name="T32" fmla="*/ 2 w 103"/>
                <a:gd name="T33" fmla="*/ 4 h 103"/>
                <a:gd name="T34" fmla="*/ 9 w 103"/>
                <a:gd name="T35" fmla="*/ 4 h 103"/>
                <a:gd name="T36" fmla="*/ 9 w 103"/>
                <a:gd name="T37" fmla="*/ 3 h 103"/>
                <a:gd name="T38" fmla="*/ 8 w 103"/>
                <a:gd name="T39" fmla="*/ 2 h 103"/>
                <a:gd name="T40" fmla="*/ 6 w 103"/>
                <a:gd name="T41" fmla="*/ 2 h 103"/>
                <a:gd name="T42" fmla="*/ 4 w 103"/>
                <a:gd name="T43" fmla="*/ 2 h 103"/>
                <a:gd name="T44" fmla="*/ 2 w 103"/>
                <a:gd name="T45" fmla="*/ 4 h 10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3" h="103">
                  <a:moveTo>
                    <a:pt x="20" y="56"/>
                  </a:moveTo>
                  <a:cubicBezTo>
                    <a:pt x="20" y="66"/>
                    <a:pt x="23" y="73"/>
                    <a:pt x="30" y="78"/>
                  </a:cubicBezTo>
                  <a:cubicBezTo>
                    <a:pt x="37" y="83"/>
                    <a:pt x="48" y="85"/>
                    <a:pt x="61" y="85"/>
                  </a:cubicBezTo>
                  <a:cubicBezTo>
                    <a:pt x="68" y="85"/>
                    <a:pt x="75" y="84"/>
                    <a:pt x="83" y="82"/>
                  </a:cubicBezTo>
                  <a:cubicBezTo>
                    <a:pt x="91" y="80"/>
                    <a:pt x="97" y="77"/>
                    <a:pt x="102" y="73"/>
                  </a:cubicBezTo>
                  <a:cubicBezTo>
                    <a:pt x="102" y="93"/>
                    <a:pt x="102" y="93"/>
                    <a:pt x="102" y="93"/>
                  </a:cubicBezTo>
                  <a:cubicBezTo>
                    <a:pt x="96" y="95"/>
                    <a:pt x="89" y="98"/>
                    <a:pt x="82" y="100"/>
                  </a:cubicBezTo>
                  <a:cubicBezTo>
                    <a:pt x="74" y="102"/>
                    <a:pt x="66" y="103"/>
                    <a:pt x="57" y="103"/>
                  </a:cubicBezTo>
                  <a:cubicBezTo>
                    <a:pt x="40" y="103"/>
                    <a:pt x="26" y="98"/>
                    <a:pt x="16" y="90"/>
                  </a:cubicBezTo>
                  <a:cubicBezTo>
                    <a:pt x="5" y="81"/>
                    <a:pt x="0" y="68"/>
                    <a:pt x="0" y="51"/>
                  </a:cubicBezTo>
                  <a:cubicBezTo>
                    <a:pt x="0" y="35"/>
                    <a:pt x="5" y="22"/>
                    <a:pt x="15" y="13"/>
                  </a:cubicBezTo>
                  <a:cubicBezTo>
                    <a:pt x="25" y="4"/>
                    <a:pt x="39" y="0"/>
                    <a:pt x="56" y="0"/>
                  </a:cubicBezTo>
                  <a:cubicBezTo>
                    <a:pt x="71" y="0"/>
                    <a:pt x="83" y="4"/>
                    <a:pt x="92" y="12"/>
                  </a:cubicBezTo>
                  <a:cubicBezTo>
                    <a:pt x="99" y="19"/>
                    <a:pt x="103" y="27"/>
                    <a:pt x="103" y="37"/>
                  </a:cubicBezTo>
                  <a:cubicBezTo>
                    <a:pt x="103" y="45"/>
                    <a:pt x="101" y="51"/>
                    <a:pt x="96" y="56"/>
                  </a:cubicBezTo>
                  <a:lnTo>
                    <a:pt x="20" y="56"/>
                  </a:lnTo>
                  <a:close/>
                  <a:moveTo>
                    <a:pt x="21" y="40"/>
                  </a:moveTo>
                  <a:cubicBezTo>
                    <a:pt x="83" y="40"/>
                    <a:pt x="83" y="40"/>
                    <a:pt x="83" y="40"/>
                  </a:cubicBezTo>
                  <a:cubicBezTo>
                    <a:pt x="83" y="39"/>
                    <a:pt x="84" y="37"/>
                    <a:pt x="84" y="35"/>
                  </a:cubicBezTo>
                  <a:cubicBezTo>
                    <a:pt x="84" y="31"/>
                    <a:pt x="81" y="27"/>
                    <a:pt x="77" y="23"/>
                  </a:cubicBezTo>
                  <a:cubicBezTo>
                    <a:pt x="71" y="20"/>
                    <a:pt x="65" y="18"/>
                    <a:pt x="56" y="18"/>
                  </a:cubicBezTo>
                  <a:cubicBezTo>
                    <a:pt x="47" y="18"/>
                    <a:pt x="40" y="20"/>
                    <a:pt x="33" y="23"/>
                  </a:cubicBezTo>
                  <a:cubicBezTo>
                    <a:pt x="27" y="27"/>
                    <a:pt x="23" y="32"/>
                    <a:pt x="21" y="40"/>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28" name="Freeform 44"/>
            <p:cNvSpPr>
              <a:spLocks/>
            </p:cNvSpPr>
            <p:nvPr/>
          </p:nvSpPr>
          <p:spPr bwMode="white">
            <a:xfrm>
              <a:off x="4074" y="1166"/>
              <a:ext cx="26" cy="56"/>
            </a:xfrm>
            <a:custGeom>
              <a:avLst/>
              <a:gdLst>
                <a:gd name="T0" fmla="*/ 0 w 33"/>
                <a:gd name="T1" fmla="*/ 5 h 70"/>
                <a:gd name="T2" fmla="*/ 2 w 33"/>
                <a:gd name="T3" fmla="*/ 3 h 70"/>
                <a:gd name="T4" fmla="*/ 2 w 33"/>
                <a:gd name="T5" fmla="*/ 2 h 70"/>
                <a:gd name="T6" fmla="*/ 2 w 33"/>
                <a:gd name="T7" fmla="*/ 0 h 70"/>
                <a:gd name="T8" fmla="*/ 2 w 33"/>
                <a:gd name="T9" fmla="*/ 0 h 70"/>
                <a:gd name="T10" fmla="*/ 2 w 33"/>
                <a:gd name="T11" fmla="*/ 2 h 70"/>
                <a:gd name="T12" fmla="*/ 2 w 33"/>
                <a:gd name="T13" fmla="*/ 5 h 70"/>
                <a:gd name="T14" fmla="*/ 0 w 33"/>
                <a:gd name="T15" fmla="*/ 6 h 70"/>
                <a:gd name="T16" fmla="*/ 0 w 33"/>
                <a:gd name="T17" fmla="*/ 5 h 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70">
                  <a:moveTo>
                    <a:pt x="0" y="56"/>
                  </a:moveTo>
                  <a:cubicBezTo>
                    <a:pt x="10" y="52"/>
                    <a:pt x="16" y="45"/>
                    <a:pt x="16" y="35"/>
                  </a:cubicBezTo>
                  <a:cubicBezTo>
                    <a:pt x="16" y="29"/>
                    <a:pt x="13" y="25"/>
                    <a:pt x="8" y="24"/>
                  </a:cubicBezTo>
                  <a:cubicBezTo>
                    <a:pt x="8" y="0"/>
                    <a:pt x="8" y="0"/>
                    <a:pt x="8" y="0"/>
                  </a:cubicBezTo>
                  <a:cubicBezTo>
                    <a:pt x="33" y="0"/>
                    <a:pt x="33" y="0"/>
                    <a:pt x="33" y="0"/>
                  </a:cubicBezTo>
                  <a:cubicBezTo>
                    <a:pt x="33" y="24"/>
                    <a:pt x="33" y="24"/>
                    <a:pt x="33" y="24"/>
                  </a:cubicBezTo>
                  <a:cubicBezTo>
                    <a:pt x="33" y="36"/>
                    <a:pt x="31" y="45"/>
                    <a:pt x="27" y="53"/>
                  </a:cubicBezTo>
                  <a:cubicBezTo>
                    <a:pt x="21" y="62"/>
                    <a:pt x="12" y="68"/>
                    <a:pt x="0" y="70"/>
                  </a:cubicBezTo>
                  <a:lnTo>
                    <a:pt x="0" y="56"/>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29" name="Freeform 45"/>
            <p:cNvSpPr>
              <a:spLocks noEditPoints="1"/>
            </p:cNvSpPr>
            <p:nvPr/>
          </p:nvSpPr>
          <p:spPr bwMode="white">
            <a:xfrm>
              <a:off x="4188" y="1106"/>
              <a:ext cx="98" cy="83"/>
            </a:xfrm>
            <a:custGeom>
              <a:avLst/>
              <a:gdLst>
                <a:gd name="T0" fmla="*/ 8 w 121"/>
                <a:gd name="T1" fmla="*/ 2 h 103"/>
                <a:gd name="T2" fmla="*/ 10 w 121"/>
                <a:gd name="T3" fmla="*/ 2 h 103"/>
                <a:gd name="T4" fmla="*/ 10 w 121"/>
                <a:gd name="T5" fmla="*/ 8 h 103"/>
                <a:gd name="T6" fmla="*/ 10 w 121"/>
                <a:gd name="T7" fmla="*/ 8 h 103"/>
                <a:gd name="T8" fmla="*/ 11 w 121"/>
                <a:gd name="T9" fmla="*/ 8 h 103"/>
                <a:gd name="T10" fmla="*/ 12 w 121"/>
                <a:gd name="T11" fmla="*/ 8 h 103"/>
                <a:gd name="T12" fmla="*/ 12 w 121"/>
                <a:gd name="T13" fmla="*/ 10 h 103"/>
                <a:gd name="T14" fmla="*/ 10 w 121"/>
                <a:gd name="T15" fmla="*/ 10 h 103"/>
                <a:gd name="T16" fmla="*/ 8 w 121"/>
                <a:gd name="T17" fmla="*/ 8 h 103"/>
                <a:gd name="T18" fmla="*/ 6 w 121"/>
                <a:gd name="T19" fmla="*/ 10 h 103"/>
                <a:gd name="T20" fmla="*/ 5 w 121"/>
                <a:gd name="T21" fmla="*/ 10 h 103"/>
                <a:gd name="T22" fmla="*/ 2 w 121"/>
                <a:gd name="T23" fmla="*/ 8 h 103"/>
                <a:gd name="T24" fmla="*/ 0 w 121"/>
                <a:gd name="T25" fmla="*/ 5 h 103"/>
                <a:gd name="T26" fmla="*/ 2 w 121"/>
                <a:gd name="T27" fmla="*/ 2 h 103"/>
                <a:gd name="T28" fmla="*/ 5 w 121"/>
                <a:gd name="T29" fmla="*/ 0 h 103"/>
                <a:gd name="T30" fmla="*/ 6 w 121"/>
                <a:gd name="T31" fmla="*/ 2 h 103"/>
                <a:gd name="T32" fmla="*/ 8 w 121"/>
                <a:gd name="T33" fmla="*/ 2 h 103"/>
                <a:gd name="T34" fmla="*/ 2 w 121"/>
                <a:gd name="T35" fmla="*/ 5 h 103"/>
                <a:gd name="T36" fmla="*/ 2 w 121"/>
                <a:gd name="T37" fmla="*/ 6 h 103"/>
                <a:gd name="T38" fmla="*/ 5 w 121"/>
                <a:gd name="T39" fmla="*/ 8 h 103"/>
                <a:gd name="T40" fmla="*/ 7 w 121"/>
                <a:gd name="T41" fmla="*/ 8 h 103"/>
                <a:gd name="T42" fmla="*/ 8 w 121"/>
                <a:gd name="T43" fmla="*/ 6 h 103"/>
                <a:gd name="T44" fmla="*/ 8 w 121"/>
                <a:gd name="T45" fmla="*/ 2 h 103"/>
                <a:gd name="T46" fmla="*/ 7 w 121"/>
                <a:gd name="T47" fmla="*/ 2 h 103"/>
                <a:gd name="T48" fmla="*/ 5 w 121"/>
                <a:gd name="T49" fmla="*/ 2 h 103"/>
                <a:gd name="T50" fmla="*/ 2 w 121"/>
                <a:gd name="T51" fmla="*/ 2 h 103"/>
                <a:gd name="T52" fmla="*/ 2 w 121"/>
                <a:gd name="T53" fmla="*/ 5 h 10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1" h="103">
                  <a:moveTo>
                    <a:pt x="84" y="10"/>
                  </a:moveTo>
                  <a:cubicBezTo>
                    <a:pt x="104" y="2"/>
                    <a:pt x="104" y="2"/>
                    <a:pt x="104" y="2"/>
                  </a:cubicBezTo>
                  <a:cubicBezTo>
                    <a:pt x="104" y="79"/>
                    <a:pt x="104" y="79"/>
                    <a:pt x="104" y="79"/>
                  </a:cubicBezTo>
                  <a:cubicBezTo>
                    <a:pt x="104" y="82"/>
                    <a:pt x="105" y="85"/>
                    <a:pt x="106" y="86"/>
                  </a:cubicBezTo>
                  <a:cubicBezTo>
                    <a:pt x="108" y="87"/>
                    <a:pt x="110" y="88"/>
                    <a:pt x="114" y="88"/>
                  </a:cubicBezTo>
                  <a:cubicBezTo>
                    <a:pt x="116" y="88"/>
                    <a:pt x="119" y="87"/>
                    <a:pt x="121" y="86"/>
                  </a:cubicBezTo>
                  <a:cubicBezTo>
                    <a:pt x="121" y="99"/>
                    <a:pt x="121" y="99"/>
                    <a:pt x="121" y="99"/>
                  </a:cubicBezTo>
                  <a:cubicBezTo>
                    <a:pt x="115" y="101"/>
                    <a:pt x="109" y="103"/>
                    <a:pt x="103" y="103"/>
                  </a:cubicBezTo>
                  <a:cubicBezTo>
                    <a:pt x="93" y="103"/>
                    <a:pt x="87" y="99"/>
                    <a:pt x="84" y="92"/>
                  </a:cubicBezTo>
                  <a:cubicBezTo>
                    <a:pt x="80" y="95"/>
                    <a:pt x="75" y="98"/>
                    <a:pt x="69" y="100"/>
                  </a:cubicBezTo>
                  <a:cubicBezTo>
                    <a:pt x="63" y="102"/>
                    <a:pt x="57" y="103"/>
                    <a:pt x="51" y="103"/>
                  </a:cubicBezTo>
                  <a:cubicBezTo>
                    <a:pt x="35" y="103"/>
                    <a:pt x="22" y="98"/>
                    <a:pt x="13" y="89"/>
                  </a:cubicBezTo>
                  <a:cubicBezTo>
                    <a:pt x="4" y="79"/>
                    <a:pt x="0" y="67"/>
                    <a:pt x="0" y="51"/>
                  </a:cubicBezTo>
                  <a:cubicBezTo>
                    <a:pt x="0" y="36"/>
                    <a:pt x="4" y="23"/>
                    <a:pt x="13" y="14"/>
                  </a:cubicBezTo>
                  <a:cubicBezTo>
                    <a:pt x="23" y="5"/>
                    <a:pt x="35" y="0"/>
                    <a:pt x="52" y="0"/>
                  </a:cubicBezTo>
                  <a:cubicBezTo>
                    <a:pt x="57" y="0"/>
                    <a:pt x="63" y="1"/>
                    <a:pt x="69" y="3"/>
                  </a:cubicBezTo>
                  <a:cubicBezTo>
                    <a:pt x="75" y="5"/>
                    <a:pt x="80" y="7"/>
                    <a:pt x="84" y="10"/>
                  </a:cubicBezTo>
                  <a:close/>
                  <a:moveTo>
                    <a:pt x="19" y="51"/>
                  </a:moveTo>
                  <a:cubicBezTo>
                    <a:pt x="19" y="61"/>
                    <a:pt x="22" y="69"/>
                    <a:pt x="28" y="76"/>
                  </a:cubicBezTo>
                  <a:cubicBezTo>
                    <a:pt x="33" y="82"/>
                    <a:pt x="41" y="85"/>
                    <a:pt x="53" y="85"/>
                  </a:cubicBezTo>
                  <a:cubicBezTo>
                    <a:pt x="60" y="85"/>
                    <a:pt x="66" y="84"/>
                    <a:pt x="71" y="81"/>
                  </a:cubicBezTo>
                  <a:cubicBezTo>
                    <a:pt x="77" y="79"/>
                    <a:pt x="81" y="76"/>
                    <a:pt x="84" y="72"/>
                  </a:cubicBezTo>
                  <a:cubicBezTo>
                    <a:pt x="84" y="31"/>
                    <a:pt x="84" y="31"/>
                    <a:pt x="84" y="31"/>
                  </a:cubicBezTo>
                  <a:cubicBezTo>
                    <a:pt x="82" y="27"/>
                    <a:pt x="77" y="24"/>
                    <a:pt x="72" y="22"/>
                  </a:cubicBezTo>
                  <a:cubicBezTo>
                    <a:pt x="66" y="19"/>
                    <a:pt x="60" y="18"/>
                    <a:pt x="53" y="18"/>
                  </a:cubicBezTo>
                  <a:cubicBezTo>
                    <a:pt x="41" y="18"/>
                    <a:pt x="33" y="21"/>
                    <a:pt x="28" y="27"/>
                  </a:cubicBezTo>
                  <a:cubicBezTo>
                    <a:pt x="22" y="33"/>
                    <a:pt x="19" y="41"/>
                    <a:pt x="19" y="51"/>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30" name="Freeform 46"/>
            <p:cNvSpPr>
              <a:spLocks/>
            </p:cNvSpPr>
            <p:nvPr/>
          </p:nvSpPr>
          <p:spPr bwMode="white">
            <a:xfrm>
              <a:off x="4309" y="1103"/>
              <a:ext cx="80" cy="84"/>
            </a:xfrm>
            <a:custGeom>
              <a:avLst/>
              <a:gdLst>
                <a:gd name="T0" fmla="*/ 9 w 98"/>
                <a:gd name="T1" fmla="*/ 5 h 103"/>
                <a:gd name="T2" fmla="*/ 8 w 98"/>
                <a:gd name="T3" fmla="*/ 3 h 103"/>
                <a:gd name="T4" fmla="*/ 6 w 98"/>
                <a:gd name="T5" fmla="*/ 2 h 103"/>
                <a:gd name="T6" fmla="*/ 4 w 98"/>
                <a:gd name="T7" fmla="*/ 2 h 103"/>
                <a:gd name="T8" fmla="*/ 2 w 98"/>
                <a:gd name="T9" fmla="*/ 3 h 103"/>
                <a:gd name="T10" fmla="*/ 2 w 98"/>
                <a:gd name="T11" fmla="*/ 11 h 103"/>
                <a:gd name="T12" fmla="*/ 0 w 98"/>
                <a:gd name="T13" fmla="*/ 11 h 103"/>
                <a:gd name="T14" fmla="*/ 0 w 98"/>
                <a:gd name="T15" fmla="*/ 2 h 103"/>
                <a:gd name="T16" fmla="*/ 2 w 98"/>
                <a:gd name="T17" fmla="*/ 0 h 103"/>
                <a:gd name="T18" fmla="*/ 2 w 98"/>
                <a:gd name="T19" fmla="*/ 2 h 103"/>
                <a:gd name="T20" fmla="*/ 4 w 98"/>
                <a:gd name="T21" fmla="*/ 2 h 103"/>
                <a:gd name="T22" fmla="*/ 6 w 98"/>
                <a:gd name="T23" fmla="*/ 2 h 103"/>
                <a:gd name="T24" fmla="*/ 10 w 98"/>
                <a:gd name="T25" fmla="*/ 2 h 103"/>
                <a:gd name="T26" fmla="*/ 11 w 98"/>
                <a:gd name="T27" fmla="*/ 4 h 103"/>
                <a:gd name="T28" fmla="*/ 11 w 98"/>
                <a:gd name="T29" fmla="*/ 11 h 103"/>
                <a:gd name="T30" fmla="*/ 9 w 98"/>
                <a:gd name="T31" fmla="*/ 11 h 103"/>
                <a:gd name="T32" fmla="*/ 9 w 98"/>
                <a:gd name="T33" fmla="*/ 5 h 10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98" h="103">
                  <a:moveTo>
                    <a:pt x="78" y="41"/>
                  </a:moveTo>
                  <a:cubicBezTo>
                    <a:pt x="78" y="34"/>
                    <a:pt x="77" y="29"/>
                    <a:pt x="75" y="27"/>
                  </a:cubicBezTo>
                  <a:cubicBezTo>
                    <a:pt x="72" y="23"/>
                    <a:pt x="66" y="22"/>
                    <a:pt x="57" y="22"/>
                  </a:cubicBezTo>
                  <a:cubicBezTo>
                    <a:pt x="51" y="22"/>
                    <a:pt x="44" y="22"/>
                    <a:pt x="37" y="24"/>
                  </a:cubicBezTo>
                  <a:cubicBezTo>
                    <a:pt x="30" y="26"/>
                    <a:pt x="24" y="29"/>
                    <a:pt x="20" y="31"/>
                  </a:cubicBezTo>
                  <a:cubicBezTo>
                    <a:pt x="20" y="103"/>
                    <a:pt x="20" y="103"/>
                    <a:pt x="20" y="103"/>
                  </a:cubicBezTo>
                  <a:cubicBezTo>
                    <a:pt x="0" y="103"/>
                    <a:pt x="0" y="103"/>
                    <a:pt x="0" y="103"/>
                  </a:cubicBezTo>
                  <a:cubicBezTo>
                    <a:pt x="0" y="7"/>
                    <a:pt x="0" y="7"/>
                    <a:pt x="0" y="7"/>
                  </a:cubicBezTo>
                  <a:cubicBezTo>
                    <a:pt x="20" y="0"/>
                    <a:pt x="20" y="0"/>
                    <a:pt x="20" y="0"/>
                  </a:cubicBezTo>
                  <a:cubicBezTo>
                    <a:pt x="20" y="12"/>
                    <a:pt x="20" y="12"/>
                    <a:pt x="20" y="12"/>
                  </a:cubicBezTo>
                  <a:cubicBezTo>
                    <a:pt x="25" y="10"/>
                    <a:pt x="32" y="8"/>
                    <a:pt x="39" y="6"/>
                  </a:cubicBezTo>
                  <a:cubicBezTo>
                    <a:pt x="47" y="4"/>
                    <a:pt x="53" y="3"/>
                    <a:pt x="59" y="3"/>
                  </a:cubicBezTo>
                  <a:cubicBezTo>
                    <a:pt x="74" y="3"/>
                    <a:pt x="85" y="7"/>
                    <a:pt x="91" y="14"/>
                  </a:cubicBezTo>
                  <a:cubicBezTo>
                    <a:pt x="96" y="20"/>
                    <a:pt x="98" y="28"/>
                    <a:pt x="98" y="39"/>
                  </a:cubicBezTo>
                  <a:cubicBezTo>
                    <a:pt x="98" y="103"/>
                    <a:pt x="98" y="103"/>
                    <a:pt x="98" y="103"/>
                  </a:cubicBezTo>
                  <a:cubicBezTo>
                    <a:pt x="78" y="103"/>
                    <a:pt x="78" y="103"/>
                    <a:pt x="78" y="103"/>
                  </a:cubicBezTo>
                  <a:lnTo>
                    <a:pt x="78" y="41"/>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31" name="Freeform 47"/>
            <p:cNvSpPr>
              <a:spLocks noEditPoints="1"/>
            </p:cNvSpPr>
            <p:nvPr/>
          </p:nvSpPr>
          <p:spPr bwMode="white">
            <a:xfrm>
              <a:off x="4416" y="1063"/>
              <a:ext cx="98" cy="126"/>
            </a:xfrm>
            <a:custGeom>
              <a:avLst/>
              <a:gdLst>
                <a:gd name="T0" fmla="*/ 8 w 121"/>
                <a:gd name="T1" fmla="*/ 6 h 156"/>
                <a:gd name="T2" fmla="*/ 8 w 121"/>
                <a:gd name="T3" fmla="*/ 2 h 156"/>
                <a:gd name="T4" fmla="*/ 10 w 121"/>
                <a:gd name="T5" fmla="*/ 0 h 156"/>
                <a:gd name="T6" fmla="*/ 10 w 121"/>
                <a:gd name="T7" fmla="*/ 12 h 156"/>
                <a:gd name="T8" fmla="*/ 10 w 121"/>
                <a:gd name="T9" fmla="*/ 14 h 156"/>
                <a:gd name="T10" fmla="*/ 11 w 121"/>
                <a:gd name="T11" fmla="*/ 14 h 156"/>
                <a:gd name="T12" fmla="*/ 12 w 121"/>
                <a:gd name="T13" fmla="*/ 14 h 156"/>
                <a:gd name="T14" fmla="*/ 12 w 121"/>
                <a:gd name="T15" fmla="*/ 15 h 156"/>
                <a:gd name="T16" fmla="*/ 10 w 121"/>
                <a:gd name="T17" fmla="*/ 15 h 156"/>
                <a:gd name="T18" fmla="*/ 8 w 121"/>
                <a:gd name="T19" fmla="*/ 14 h 156"/>
                <a:gd name="T20" fmla="*/ 6 w 121"/>
                <a:gd name="T21" fmla="*/ 15 h 156"/>
                <a:gd name="T22" fmla="*/ 5 w 121"/>
                <a:gd name="T23" fmla="*/ 15 h 156"/>
                <a:gd name="T24" fmla="*/ 2 w 121"/>
                <a:gd name="T25" fmla="*/ 14 h 156"/>
                <a:gd name="T26" fmla="*/ 0 w 121"/>
                <a:gd name="T27" fmla="*/ 10 h 156"/>
                <a:gd name="T28" fmla="*/ 2 w 121"/>
                <a:gd name="T29" fmla="*/ 6 h 156"/>
                <a:gd name="T30" fmla="*/ 5 w 121"/>
                <a:gd name="T31" fmla="*/ 5 h 156"/>
                <a:gd name="T32" fmla="*/ 6 w 121"/>
                <a:gd name="T33" fmla="*/ 5 h 156"/>
                <a:gd name="T34" fmla="*/ 8 w 121"/>
                <a:gd name="T35" fmla="*/ 6 h 156"/>
                <a:gd name="T36" fmla="*/ 2 w 121"/>
                <a:gd name="T37" fmla="*/ 10 h 156"/>
                <a:gd name="T38" fmla="*/ 2 w 121"/>
                <a:gd name="T39" fmla="*/ 12 h 156"/>
                <a:gd name="T40" fmla="*/ 5 w 121"/>
                <a:gd name="T41" fmla="*/ 14 h 156"/>
                <a:gd name="T42" fmla="*/ 7 w 121"/>
                <a:gd name="T43" fmla="*/ 12 h 156"/>
                <a:gd name="T44" fmla="*/ 8 w 121"/>
                <a:gd name="T45" fmla="*/ 12 h 156"/>
                <a:gd name="T46" fmla="*/ 8 w 121"/>
                <a:gd name="T47" fmla="*/ 8 h 156"/>
                <a:gd name="T48" fmla="*/ 7 w 121"/>
                <a:gd name="T49" fmla="*/ 7 h 156"/>
                <a:gd name="T50" fmla="*/ 5 w 121"/>
                <a:gd name="T51" fmla="*/ 6 h 156"/>
                <a:gd name="T52" fmla="*/ 2 w 121"/>
                <a:gd name="T53" fmla="*/ 8 h 156"/>
                <a:gd name="T54" fmla="*/ 2 w 121"/>
                <a:gd name="T55" fmla="*/ 10 h 15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21" h="156">
                  <a:moveTo>
                    <a:pt x="84" y="63"/>
                  </a:moveTo>
                  <a:cubicBezTo>
                    <a:pt x="84" y="6"/>
                    <a:pt x="84" y="6"/>
                    <a:pt x="84" y="6"/>
                  </a:cubicBezTo>
                  <a:cubicBezTo>
                    <a:pt x="104" y="0"/>
                    <a:pt x="104" y="0"/>
                    <a:pt x="104" y="0"/>
                  </a:cubicBezTo>
                  <a:cubicBezTo>
                    <a:pt x="104" y="132"/>
                    <a:pt x="104" y="132"/>
                    <a:pt x="104" y="132"/>
                  </a:cubicBezTo>
                  <a:cubicBezTo>
                    <a:pt x="104" y="135"/>
                    <a:pt x="105" y="138"/>
                    <a:pt x="106" y="139"/>
                  </a:cubicBezTo>
                  <a:cubicBezTo>
                    <a:pt x="108" y="140"/>
                    <a:pt x="110" y="141"/>
                    <a:pt x="114" y="141"/>
                  </a:cubicBezTo>
                  <a:cubicBezTo>
                    <a:pt x="116" y="141"/>
                    <a:pt x="119" y="140"/>
                    <a:pt x="121" y="139"/>
                  </a:cubicBezTo>
                  <a:cubicBezTo>
                    <a:pt x="121" y="152"/>
                    <a:pt x="121" y="152"/>
                    <a:pt x="121" y="152"/>
                  </a:cubicBezTo>
                  <a:cubicBezTo>
                    <a:pt x="115" y="154"/>
                    <a:pt x="109" y="156"/>
                    <a:pt x="104" y="156"/>
                  </a:cubicBezTo>
                  <a:cubicBezTo>
                    <a:pt x="93" y="156"/>
                    <a:pt x="87" y="152"/>
                    <a:pt x="84" y="145"/>
                  </a:cubicBezTo>
                  <a:cubicBezTo>
                    <a:pt x="80" y="148"/>
                    <a:pt x="75" y="151"/>
                    <a:pt x="69" y="153"/>
                  </a:cubicBezTo>
                  <a:cubicBezTo>
                    <a:pt x="63" y="155"/>
                    <a:pt x="57" y="156"/>
                    <a:pt x="51" y="156"/>
                  </a:cubicBezTo>
                  <a:cubicBezTo>
                    <a:pt x="35" y="156"/>
                    <a:pt x="23" y="151"/>
                    <a:pt x="13" y="142"/>
                  </a:cubicBezTo>
                  <a:cubicBezTo>
                    <a:pt x="4" y="132"/>
                    <a:pt x="0" y="120"/>
                    <a:pt x="0" y="104"/>
                  </a:cubicBezTo>
                  <a:cubicBezTo>
                    <a:pt x="0" y="89"/>
                    <a:pt x="4" y="76"/>
                    <a:pt x="13" y="67"/>
                  </a:cubicBezTo>
                  <a:cubicBezTo>
                    <a:pt x="23" y="58"/>
                    <a:pt x="35" y="53"/>
                    <a:pt x="52" y="53"/>
                  </a:cubicBezTo>
                  <a:cubicBezTo>
                    <a:pt x="58" y="53"/>
                    <a:pt x="63" y="54"/>
                    <a:pt x="69" y="56"/>
                  </a:cubicBezTo>
                  <a:cubicBezTo>
                    <a:pt x="75" y="58"/>
                    <a:pt x="80" y="60"/>
                    <a:pt x="84" y="63"/>
                  </a:cubicBezTo>
                  <a:close/>
                  <a:moveTo>
                    <a:pt x="19" y="104"/>
                  </a:moveTo>
                  <a:cubicBezTo>
                    <a:pt x="19" y="114"/>
                    <a:pt x="22" y="122"/>
                    <a:pt x="28" y="129"/>
                  </a:cubicBezTo>
                  <a:cubicBezTo>
                    <a:pt x="33" y="135"/>
                    <a:pt x="42" y="138"/>
                    <a:pt x="53" y="138"/>
                  </a:cubicBezTo>
                  <a:cubicBezTo>
                    <a:pt x="60" y="138"/>
                    <a:pt x="66" y="137"/>
                    <a:pt x="71" y="134"/>
                  </a:cubicBezTo>
                  <a:cubicBezTo>
                    <a:pt x="77" y="132"/>
                    <a:pt x="81" y="129"/>
                    <a:pt x="84" y="125"/>
                  </a:cubicBezTo>
                  <a:cubicBezTo>
                    <a:pt x="84" y="84"/>
                    <a:pt x="84" y="84"/>
                    <a:pt x="84" y="84"/>
                  </a:cubicBezTo>
                  <a:cubicBezTo>
                    <a:pt x="82" y="80"/>
                    <a:pt x="78" y="77"/>
                    <a:pt x="72" y="75"/>
                  </a:cubicBezTo>
                  <a:cubicBezTo>
                    <a:pt x="66" y="72"/>
                    <a:pt x="60" y="71"/>
                    <a:pt x="53" y="71"/>
                  </a:cubicBezTo>
                  <a:cubicBezTo>
                    <a:pt x="42" y="71"/>
                    <a:pt x="33" y="74"/>
                    <a:pt x="28" y="80"/>
                  </a:cubicBezTo>
                  <a:cubicBezTo>
                    <a:pt x="22" y="86"/>
                    <a:pt x="19" y="94"/>
                    <a:pt x="19" y="104"/>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32" name="Freeform 48"/>
            <p:cNvSpPr>
              <a:spLocks/>
            </p:cNvSpPr>
            <p:nvPr/>
          </p:nvSpPr>
          <p:spPr bwMode="white">
            <a:xfrm>
              <a:off x="4581" y="1105"/>
              <a:ext cx="74" cy="84"/>
            </a:xfrm>
            <a:custGeom>
              <a:avLst/>
              <a:gdLst>
                <a:gd name="T0" fmla="*/ 1 w 89"/>
                <a:gd name="T1" fmla="*/ 9 h 104"/>
                <a:gd name="T2" fmla="*/ 1 w 89"/>
                <a:gd name="T3" fmla="*/ 6 h 104"/>
                <a:gd name="T4" fmla="*/ 2 w 89"/>
                <a:gd name="T5" fmla="*/ 8 h 104"/>
                <a:gd name="T6" fmla="*/ 6 w 89"/>
                <a:gd name="T7" fmla="*/ 8 h 104"/>
                <a:gd name="T8" fmla="*/ 8 w 89"/>
                <a:gd name="T9" fmla="*/ 8 h 104"/>
                <a:gd name="T10" fmla="*/ 8 w 89"/>
                <a:gd name="T11" fmla="*/ 7 h 104"/>
                <a:gd name="T12" fmla="*/ 7 w 89"/>
                <a:gd name="T13" fmla="*/ 6 h 104"/>
                <a:gd name="T14" fmla="*/ 6 w 89"/>
                <a:gd name="T15" fmla="*/ 6 h 104"/>
                <a:gd name="T16" fmla="*/ 2 w 89"/>
                <a:gd name="T17" fmla="*/ 5 h 104"/>
                <a:gd name="T18" fmla="*/ 0 w 89"/>
                <a:gd name="T19" fmla="*/ 2 h 104"/>
                <a:gd name="T20" fmla="*/ 2 w 89"/>
                <a:gd name="T21" fmla="*/ 2 h 104"/>
                <a:gd name="T22" fmla="*/ 5 w 89"/>
                <a:gd name="T23" fmla="*/ 0 h 104"/>
                <a:gd name="T24" fmla="*/ 8 w 89"/>
                <a:gd name="T25" fmla="*/ 2 h 104"/>
                <a:gd name="T26" fmla="*/ 10 w 89"/>
                <a:gd name="T27" fmla="*/ 2 h 104"/>
                <a:gd name="T28" fmla="*/ 10 w 89"/>
                <a:gd name="T29" fmla="*/ 2 h 104"/>
                <a:gd name="T30" fmla="*/ 7 w 89"/>
                <a:gd name="T31" fmla="*/ 2 h 104"/>
                <a:gd name="T32" fmla="*/ 5 w 89"/>
                <a:gd name="T33" fmla="*/ 2 h 104"/>
                <a:gd name="T34" fmla="*/ 3 w 89"/>
                <a:gd name="T35" fmla="*/ 2 h 104"/>
                <a:gd name="T36" fmla="*/ 2 w 89"/>
                <a:gd name="T37" fmla="*/ 2 h 104"/>
                <a:gd name="T38" fmla="*/ 4 w 89"/>
                <a:gd name="T39" fmla="*/ 4 h 104"/>
                <a:gd name="T40" fmla="*/ 6 w 89"/>
                <a:gd name="T41" fmla="*/ 4 h 104"/>
                <a:gd name="T42" fmla="*/ 10 w 89"/>
                <a:gd name="T43" fmla="*/ 5 h 104"/>
                <a:gd name="T44" fmla="*/ 12 w 89"/>
                <a:gd name="T45" fmla="*/ 7 h 104"/>
                <a:gd name="T46" fmla="*/ 10 w 89"/>
                <a:gd name="T47" fmla="*/ 10 h 104"/>
                <a:gd name="T48" fmla="*/ 6 w 89"/>
                <a:gd name="T49" fmla="*/ 10 h 104"/>
                <a:gd name="T50" fmla="*/ 2 w 89"/>
                <a:gd name="T51" fmla="*/ 10 h 104"/>
                <a:gd name="T52" fmla="*/ 1 w 89"/>
                <a:gd name="T53" fmla="*/ 9 h 10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9" h="104">
                  <a:moveTo>
                    <a:pt x="1" y="92"/>
                  </a:moveTo>
                  <a:cubicBezTo>
                    <a:pt x="1" y="71"/>
                    <a:pt x="1" y="71"/>
                    <a:pt x="1" y="71"/>
                  </a:cubicBezTo>
                  <a:cubicBezTo>
                    <a:pt x="6" y="75"/>
                    <a:pt x="14" y="79"/>
                    <a:pt x="22" y="82"/>
                  </a:cubicBezTo>
                  <a:cubicBezTo>
                    <a:pt x="31" y="85"/>
                    <a:pt x="39" y="86"/>
                    <a:pt x="46" y="86"/>
                  </a:cubicBezTo>
                  <a:cubicBezTo>
                    <a:pt x="53" y="86"/>
                    <a:pt x="58" y="86"/>
                    <a:pt x="62" y="84"/>
                  </a:cubicBezTo>
                  <a:cubicBezTo>
                    <a:pt x="67" y="82"/>
                    <a:pt x="69" y="79"/>
                    <a:pt x="69" y="74"/>
                  </a:cubicBezTo>
                  <a:cubicBezTo>
                    <a:pt x="69" y="69"/>
                    <a:pt x="66" y="65"/>
                    <a:pt x="58" y="63"/>
                  </a:cubicBezTo>
                  <a:cubicBezTo>
                    <a:pt x="55" y="63"/>
                    <a:pt x="51" y="62"/>
                    <a:pt x="44" y="61"/>
                  </a:cubicBezTo>
                  <a:cubicBezTo>
                    <a:pt x="29" y="58"/>
                    <a:pt x="18" y="55"/>
                    <a:pt x="12" y="52"/>
                  </a:cubicBezTo>
                  <a:cubicBezTo>
                    <a:pt x="4" y="47"/>
                    <a:pt x="0" y="40"/>
                    <a:pt x="0" y="29"/>
                  </a:cubicBezTo>
                  <a:cubicBezTo>
                    <a:pt x="0" y="20"/>
                    <a:pt x="4" y="13"/>
                    <a:pt x="11" y="8"/>
                  </a:cubicBezTo>
                  <a:cubicBezTo>
                    <a:pt x="19" y="3"/>
                    <a:pt x="29" y="0"/>
                    <a:pt x="41" y="0"/>
                  </a:cubicBezTo>
                  <a:cubicBezTo>
                    <a:pt x="47" y="0"/>
                    <a:pt x="54" y="1"/>
                    <a:pt x="62" y="3"/>
                  </a:cubicBezTo>
                  <a:cubicBezTo>
                    <a:pt x="69" y="4"/>
                    <a:pt x="75" y="6"/>
                    <a:pt x="80" y="8"/>
                  </a:cubicBezTo>
                  <a:cubicBezTo>
                    <a:pt x="80" y="27"/>
                    <a:pt x="80" y="27"/>
                    <a:pt x="80" y="27"/>
                  </a:cubicBezTo>
                  <a:cubicBezTo>
                    <a:pt x="76" y="25"/>
                    <a:pt x="69" y="23"/>
                    <a:pt x="61" y="21"/>
                  </a:cubicBezTo>
                  <a:cubicBezTo>
                    <a:pt x="53" y="19"/>
                    <a:pt x="46" y="18"/>
                    <a:pt x="41" y="18"/>
                  </a:cubicBezTo>
                  <a:cubicBezTo>
                    <a:pt x="34" y="18"/>
                    <a:pt x="29" y="19"/>
                    <a:pt x="25" y="21"/>
                  </a:cubicBezTo>
                  <a:cubicBezTo>
                    <a:pt x="21" y="22"/>
                    <a:pt x="19" y="25"/>
                    <a:pt x="19" y="29"/>
                  </a:cubicBezTo>
                  <a:cubicBezTo>
                    <a:pt x="19" y="33"/>
                    <a:pt x="23" y="36"/>
                    <a:pt x="31" y="38"/>
                  </a:cubicBezTo>
                  <a:cubicBezTo>
                    <a:pt x="33" y="39"/>
                    <a:pt x="37" y="39"/>
                    <a:pt x="44" y="41"/>
                  </a:cubicBezTo>
                  <a:cubicBezTo>
                    <a:pt x="57" y="43"/>
                    <a:pt x="68" y="46"/>
                    <a:pt x="75" y="50"/>
                  </a:cubicBezTo>
                  <a:cubicBezTo>
                    <a:pt x="84" y="56"/>
                    <a:pt x="89" y="64"/>
                    <a:pt x="89" y="74"/>
                  </a:cubicBezTo>
                  <a:cubicBezTo>
                    <a:pt x="89" y="84"/>
                    <a:pt x="85" y="91"/>
                    <a:pt x="78" y="96"/>
                  </a:cubicBezTo>
                  <a:cubicBezTo>
                    <a:pt x="70" y="102"/>
                    <a:pt x="60" y="104"/>
                    <a:pt x="46" y="104"/>
                  </a:cubicBezTo>
                  <a:cubicBezTo>
                    <a:pt x="38" y="104"/>
                    <a:pt x="30" y="103"/>
                    <a:pt x="21" y="100"/>
                  </a:cubicBezTo>
                  <a:cubicBezTo>
                    <a:pt x="12" y="97"/>
                    <a:pt x="5" y="95"/>
                    <a:pt x="1" y="92"/>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33" name="Freeform 49"/>
            <p:cNvSpPr>
              <a:spLocks noEditPoints="1"/>
            </p:cNvSpPr>
            <p:nvPr/>
          </p:nvSpPr>
          <p:spPr bwMode="white">
            <a:xfrm>
              <a:off x="4674" y="1106"/>
              <a:ext cx="97" cy="83"/>
            </a:xfrm>
            <a:custGeom>
              <a:avLst/>
              <a:gdLst>
                <a:gd name="T0" fmla="*/ 7 w 121"/>
                <a:gd name="T1" fmla="*/ 2 h 103"/>
                <a:gd name="T2" fmla="*/ 9 w 121"/>
                <a:gd name="T3" fmla="*/ 2 h 103"/>
                <a:gd name="T4" fmla="*/ 9 w 121"/>
                <a:gd name="T5" fmla="*/ 8 h 103"/>
                <a:gd name="T6" fmla="*/ 9 w 121"/>
                <a:gd name="T7" fmla="*/ 8 h 103"/>
                <a:gd name="T8" fmla="*/ 10 w 121"/>
                <a:gd name="T9" fmla="*/ 8 h 103"/>
                <a:gd name="T10" fmla="*/ 11 w 121"/>
                <a:gd name="T11" fmla="*/ 8 h 103"/>
                <a:gd name="T12" fmla="*/ 11 w 121"/>
                <a:gd name="T13" fmla="*/ 10 h 103"/>
                <a:gd name="T14" fmla="*/ 9 w 121"/>
                <a:gd name="T15" fmla="*/ 10 h 103"/>
                <a:gd name="T16" fmla="*/ 7 w 121"/>
                <a:gd name="T17" fmla="*/ 8 h 103"/>
                <a:gd name="T18" fmla="*/ 6 w 121"/>
                <a:gd name="T19" fmla="*/ 10 h 103"/>
                <a:gd name="T20" fmla="*/ 5 w 121"/>
                <a:gd name="T21" fmla="*/ 10 h 103"/>
                <a:gd name="T22" fmla="*/ 2 w 121"/>
                <a:gd name="T23" fmla="*/ 8 h 103"/>
                <a:gd name="T24" fmla="*/ 0 w 121"/>
                <a:gd name="T25" fmla="*/ 5 h 103"/>
                <a:gd name="T26" fmla="*/ 2 w 121"/>
                <a:gd name="T27" fmla="*/ 2 h 103"/>
                <a:gd name="T28" fmla="*/ 5 w 121"/>
                <a:gd name="T29" fmla="*/ 0 h 103"/>
                <a:gd name="T30" fmla="*/ 6 w 121"/>
                <a:gd name="T31" fmla="*/ 2 h 103"/>
                <a:gd name="T32" fmla="*/ 7 w 121"/>
                <a:gd name="T33" fmla="*/ 2 h 103"/>
                <a:gd name="T34" fmla="*/ 2 w 121"/>
                <a:gd name="T35" fmla="*/ 5 h 103"/>
                <a:gd name="T36" fmla="*/ 2 w 121"/>
                <a:gd name="T37" fmla="*/ 6 h 103"/>
                <a:gd name="T38" fmla="*/ 5 w 121"/>
                <a:gd name="T39" fmla="*/ 8 h 103"/>
                <a:gd name="T40" fmla="*/ 6 w 121"/>
                <a:gd name="T41" fmla="*/ 8 h 103"/>
                <a:gd name="T42" fmla="*/ 7 w 121"/>
                <a:gd name="T43" fmla="*/ 6 h 103"/>
                <a:gd name="T44" fmla="*/ 7 w 121"/>
                <a:gd name="T45" fmla="*/ 2 h 103"/>
                <a:gd name="T46" fmla="*/ 6 w 121"/>
                <a:gd name="T47" fmla="*/ 2 h 103"/>
                <a:gd name="T48" fmla="*/ 5 w 121"/>
                <a:gd name="T49" fmla="*/ 2 h 103"/>
                <a:gd name="T50" fmla="*/ 2 w 121"/>
                <a:gd name="T51" fmla="*/ 2 h 103"/>
                <a:gd name="T52" fmla="*/ 2 w 121"/>
                <a:gd name="T53" fmla="*/ 5 h 10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1" h="103">
                  <a:moveTo>
                    <a:pt x="85" y="10"/>
                  </a:moveTo>
                  <a:cubicBezTo>
                    <a:pt x="105" y="2"/>
                    <a:pt x="105" y="2"/>
                    <a:pt x="105" y="2"/>
                  </a:cubicBezTo>
                  <a:cubicBezTo>
                    <a:pt x="105" y="79"/>
                    <a:pt x="105" y="79"/>
                    <a:pt x="105" y="79"/>
                  </a:cubicBezTo>
                  <a:cubicBezTo>
                    <a:pt x="105" y="82"/>
                    <a:pt x="105" y="85"/>
                    <a:pt x="107" y="86"/>
                  </a:cubicBezTo>
                  <a:cubicBezTo>
                    <a:pt x="108" y="87"/>
                    <a:pt x="111" y="88"/>
                    <a:pt x="114" y="88"/>
                  </a:cubicBezTo>
                  <a:cubicBezTo>
                    <a:pt x="117" y="88"/>
                    <a:pt x="119" y="87"/>
                    <a:pt x="121" y="86"/>
                  </a:cubicBezTo>
                  <a:cubicBezTo>
                    <a:pt x="121" y="99"/>
                    <a:pt x="121" y="99"/>
                    <a:pt x="121" y="99"/>
                  </a:cubicBezTo>
                  <a:cubicBezTo>
                    <a:pt x="116" y="101"/>
                    <a:pt x="110" y="103"/>
                    <a:pt x="104" y="103"/>
                  </a:cubicBezTo>
                  <a:cubicBezTo>
                    <a:pt x="93" y="103"/>
                    <a:pt x="87" y="99"/>
                    <a:pt x="85" y="92"/>
                  </a:cubicBezTo>
                  <a:cubicBezTo>
                    <a:pt x="81" y="95"/>
                    <a:pt x="76" y="98"/>
                    <a:pt x="69" y="100"/>
                  </a:cubicBezTo>
                  <a:cubicBezTo>
                    <a:pt x="63" y="102"/>
                    <a:pt x="57" y="103"/>
                    <a:pt x="52" y="103"/>
                  </a:cubicBezTo>
                  <a:cubicBezTo>
                    <a:pt x="36" y="103"/>
                    <a:pt x="23" y="98"/>
                    <a:pt x="14" y="89"/>
                  </a:cubicBezTo>
                  <a:cubicBezTo>
                    <a:pt x="5" y="79"/>
                    <a:pt x="0" y="67"/>
                    <a:pt x="0" y="51"/>
                  </a:cubicBezTo>
                  <a:cubicBezTo>
                    <a:pt x="0" y="36"/>
                    <a:pt x="5" y="23"/>
                    <a:pt x="14" y="14"/>
                  </a:cubicBezTo>
                  <a:cubicBezTo>
                    <a:pt x="23" y="5"/>
                    <a:pt x="36" y="0"/>
                    <a:pt x="52" y="0"/>
                  </a:cubicBezTo>
                  <a:cubicBezTo>
                    <a:pt x="58" y="0"/>
                    <a:pt x="64" y="1"/>
                    <a:pt x="70" y="3"/>
                  </a:cubicBezTo>
                  <a:cubicBezTo>
                    <a:pt x="75" y="5"/>
                    <a:pt x="80" y="7"/>
                    <a:pt x="85" y="10"/>
                  </a:cubicBezTo>
                  <a:close/>
                  <a:moveTo>
                    <a:pt x="20" y="51"/>
                  </a:moveTo>
                  <a:cubicBezTo>
                    <a:pt x="20" y="61"/>
                    <a:pt x="23" y="69"/>
                    <a:pt x="28" y="76"/>
                  </a:cubicBezTo>
                  <a:cubicBezTo>
                    <a:pt x="33" y="82"/>
                    <a:pt x="42" y="85"/>
                    <a:pt x="53" y="85"/>
                  </a:cubicBezTo>
                  <a:cubicBezTo>
                    <a:pt x="60" y="85"/>
                    <a:pt x="66" y="84"/>
                    <a:pt x="72" y="81"/>
                  </a:cubicBezTo>
                  <a:cubicBezTo>
                    <a:pt x="77" y="79"/>
                    <a:pt x="81" y="76"/>
                    <a:pt x="85" y="72"/>
                  </a:cubicBezTo>
                  <a:cubicBezTo>
                    <a:pt x="85" y="31"/>
                    <a:pt x="85" y="31"/>
                    <a:pt x="85" y="31"/>
                  </a:cubicBezTo>
                  <a:cubicBezTo>
                    <a:pt x="82" y="27"/>
                    <a:pt x="78" y="24"/>
                    <a:pt x="72" y="22"/>
                  </a:cubicBezTo>
                  <a:cubicBezTo>
                    <a:pt x="67" y="19"/>
                    <a:pt x="61" y="18"/>
                    <a:pt x="53" y="18"/>
                  </a:cubicBezTo>
                  <a:cubicBezTo>
                    <a:pt x="42" y="18"/>
                    <a:pt x="33" y="21"/>
                    <a:pt x="28" y="27"/>
                  </a:cubicBezTo>
                  <a:cubicBezTo>
                    <a:pt x="23" y="33"/>
                    <a:pt x="20" y="41"/>
                    <a:pt x="20" y="51"/>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34" name="Freeform 50"/>
            <p:cNvSpPr>
              <a:spLocks/>
            </p:cNvSpPr>
            <p:nvPr/>
          </p:nvSpPr>
          <p:spPr bwMode="white">
            <a:xfrm>
              <a:off x="4784" y="1066"/>
              <a:ext cx="70" cy="121"/>
            </a:xfrm>
            <a:custGeom>
              <a:avLst/>
              <a:gdLst>
                <a:gd name="T0" fmla="*/ 2 w 86"/>
                <a:gd name="T1" fmla="*/ 6 h 149"/>
                <a:gd name="T2" fmla="*/ 0 w 86"/>
                <a:gd name="T3" fmla="*/ 6 h 149"/>
                <a:gd name="T4" fmla="*/ 0 w 86"/>
                <a:gd name="T5" fmla="*/ 5 h 149"/>
                <a:gd name="T6" fmla="*/ 2 w 86"/>
                <a:gd name="T7" fmla="*/ 5 h 149"/>
                <a:gd name="T8" fmla="*/ 2 w 86"/>
                <a:gd name="T9" fmla="*/ 4 h 149"/>
                <a:gd name="T10" fmla="*/ 4 w 86"/>
                <a:gd name="T11" fmla="*/ 2 h 149"/>
                <a:gd name="T12" fmla="*/ 7 w 86"/>
                <a:gd name="T13" fmla="*/ 0 h 149"/>
                <a:gd name="T14" fmla="*/ 8 w 86"/>
                <a:gd name="T15" fmla="*/ 1 h 149"/>
                <a:gd name="T16" fmla="*/ 9 w 86"/>
                <a:gd name="T17" fmla="*/ 2 h 149"/>
                <a:gd name="T18" fmla="*/ 9 w 86"/>
                <a:gd name="T19" fmla="*/ 2 h 149"/>
                <a:gd name="T20" fmla="*/ 7 w 86"/>
                <a:gd name="T21" fmla="*/ 2 h 149"/>
                <a:gd name="T22" fmla="*/ 7 w 86"/>
                <a:gd name="T23" fmla="*/ 2 h 149"/>
                <a:gd name="T24" fmla="*/ 6 w 86"/>
                <a:gd name="T25" fmla="*/ 2 h 149"/>
                <a:gd name="T26" fmla="*/ 5 w 86"/>
                <a:gd name="T27" fmla="*/ 4 h 149"/>
                <a:gd name="T28" fmla="*/ 5 w 86"/>
                <a:gd name="T29" fmla="*/ 5 h 149"/>
                <a:gd name="T30" fmla="*/ 9 w 86"/>
                <a:gd name="T31" fmla="*/ 5 h 149"/>
                <a:gd name="T32" fmla="*/ 9 w 86"/>
                <a:gd name="T33" fmla="*/ 6 h 149"/>
                <a:gd name="T34" fmla="*/ 5 w 86"/>
                <a:gd name="T35" fmla="*/ 6 h 149"/>
                <a:gd name="T36" fmla="*/ 5 w 86"/>
                <a:gd name="T37" fmla="*/ 15 h 149"/>
                <a:gd name="T38" fmla="*/ 2 w 86"/>
                <a:gd name="T39" fmla="*/ 15 h 149"/>
                <a:gd name="T40" fmla="*/ 2 w 86"/>
                <a:gd name="T41" fmla="*/ 6 h 1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 h="149">
                  <a:moveTo>
                    <a:pt x="22" y="69"/>
                  </a:moveTo>
                  <a:cubicBezTo>
                    <a:pt x="0" y="69"/>
                    <a:pt x="0" y="69"/>
                    <a:pt x="0" y="69"/>
                  </a:cubicBezTo>
                  <a:cubicBezTo>
                    <a:pt x="0" y="51"/>
                    <a:pt x="0" y="51"/>
                    <a:pt x="0" y="51"/>
                  </a:cubicBezTo>
                  <a:cubicBezTo>
                    <a:pt x="22" y="51"/>
                    <a:pt x="22" y="51"/>
                    <a:pt x="22" y="51"/>
                  </a:cubicBezTo>
                  <a:cubicBezTo>
                    <a:pt x="22" y="38"/>
                    <a:pt x="22" y="38"/>
                    <a:pt x="22" y="38"/>
                  </a:cubicBezTo>
                  <a:cubicBezTo>
                    <a:pt x="22" y="25"/>
                    <a:pt x="26" y="16"/>
                    <a:pt x="33" y="10"/>
                  </a:cubicBezTo>
                  <a:cubicBezTo>
                    <a:pt x="40" y="3"/>
                    <a:pt x="49" y="0"/>
                    <a:pt x="62" y="0"/>
                  </a:cubicBezTo>
                  <a:cubicBezTo>
                    <a:pt x="66" y="0"/>
                    <a:pt x="71" y="0"/>
                    <a:pt x="74" y="1"/>
                  </a:cubicBezTo>
                  <a:cubicBezTo>
                    <a:pt x="78" y="2"/>
                    <a:pt x="82" y="3"/>
                    <a:pt x="86" y="5"/>
                  </a:cubicBezTo>
                  <a:cubicBezTo>
                    <a:pt x="86" y="24"/>
                    <a:pt x="86" y="24"/>
                    <a:pt x="86" y="24"/>
                  </a:cubicBezTo>
                  <a:cubicBezTo>
                    <a:pt x="82" y="22"/>
                    <a:pt x="77" y="21"/>
                    <a:pt x="73" y="19"/>
                  </a:cubicBezTo>
                  <a:cubicBezTo>
                    <a:pt x="70" y="18"/>
                    <a:pt x="66" y="18"/>
                    <a:pt x="62" y="18"/>
                  </a:cubicBezTo>
                  <a:cubicBezTo>
                    <a:pt x="56" y="18"/>
                    <a:pt x="52" y="19"/>
                    <a:pt x="49" y="21"/>
                  </a:cubicBezTo>
                  <a:cubicBezTo>
                    <a:pt x="44" y="24"/>
                    <a:pt x="42" y="30"/>
                    <a:pt x="42" y="38"/>
                  </a:cubicBezTo>
                  <a:cubicBezTo>
                    <a:pt x="42" y="51"/>
                    <a:pt x="42" y="51"/>
                    <a:pt x="42" y="51"/>
                  </a:cubicBezTo>
                  <a:cubicBezTo>
                    <a:pt x="86" y="51"/>
                    <a:pt x="86" y="51"/>
                    <a:pt x="86" y="51"/>
                  </a:cubicBezTo>
                  <a:cubicBezTo>
                    <a:pt x="86" y="69"/>
                    <a:pt x="86" y="69"/>
                    <a:pt x="86" y="69"/>
                  </a:cubicBezTo>
                  <a:cubicBezTo>
                    <a:pt x="42" y="69"/>
                    <a:pt x="42" y="69"/>
                    <a:pt x="42" y="69"/>
                  </a:cubicBezTo>
                  <a:cubicBezTo>
                    <a:pt x="42" y="149"/>
                    <a:pt x="42" y="149"/>
                    <a:pt x="42" y="149"/>
                  </a:cubicBezTo>
                  <a:cubicBezTo>
                    <a:pt x="22" y="149"/>
                    <a:pt x="22" y="149"/>
                    <a:pt x="22" y="149"/>
                  </a:cubicBezTo>
                  <a:lnTo>
                    <a:pt x="22" y="69"/>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35" name="Freeform 51"/>
            <p:cNvSpPr>
              <a:spLocks noEditPoints="1"/>
            </p:cNvSpPr>
            <p:nvPr/>
          </p:nvSpPr>
          <p:spPr bwMode="white">
            <a:xfrm>
              <a:off x="4868" y="1106"/>
              <a:ext cx="84" cy="83"/>
            </a:xfrm>
            <a:custGeom>
              <a:avLst/>
              <a:gdLst>
                <a:gd name="T0" fmla="*/ 2 w 103"/>
                <a:gd name="T1" fmla="*/ 5 h 103"/>
                <a:gd name="T2" fmla="*/ 3 w 103"/>
                <a:gd name="T3" fmla="*/ 8 h 103"/>
                <a:gd name="T4" fmla="*/ 7 w 103"/>
                <a:gd name="T5" fmla="*/ 8 h 103"/>
                <a:gd name="T6" fmla="*/ 9 w 103"/>
                <a:gd name="T7" fmla="*/ 8 h 103"/>
                <a:gd name="T8" fmla="*/ 11 w 103"/>
                <a:gd name="T9" fmla="*/ 6 h 103"/>
                <a:gd name="T10" fmla="*/ 11 w 103"/>
                <a:gd name="T11" fmla="*/ 8 h 103"/>
                <a:gd name="T12" fmla="*/ 9 w 103"/>
                <a:gd name="T13" fmla="*/ 10 h 103"/>
                <a:gd name="T14" fmla="*/ 6 w 103"/>
                <a:gd name="T15" fmla="*/ 10 h 103"/>
                <a:gd name="T16" fmla="*/ 2 w 103"/>
                <a:gd name="T17" fmla="*/ 8 h 103"/>
                <a:gd name="T18" fmla="*/ 0 w 103"/>
                <a:gd name="T19" fmla="*/ 5 h 103"/>
                <a:gd name="T20" fmla="*/ 2 w 103"/>
                <a:gd name="T21" fmla="*/ 2 h 103"/>
                <a:gd name="T22" fmla="*/ 6 w 103"/>
                <a:gd name="T23" fmla="*/ 0 h 103"/>
                <a:gd name="T24" fmla="*/ 10 w 103"/>
                <a:gd name="T25" fmla="*/ 2 h 103"/>
                <a:gd name="T26" fmla="*/ 11 w 103"/>
                <a:gd name="T27" fmla="*/ 3 h 103"/>
                <a:gd name="T28" fmla="*/ 10 w 103"/>
                <a:gd name="T29" fmla="*/ 5 h 103"/>
                <a:gd name="T30" fmla="*/ 2 w 103"/>
                <a:gd name="T31" fmla="*/ 5 h 103"/>
                <a:gd name="T32" fmla="*/ 2 w 103"/>
                <a:gd name="T33" fmla="*/ 4 h 103"/>
                <a:gd name="T34" fmla="*/ 9 w 103"/>
                <a:gd name="T35" fmla="*/ 4 h 103"/>
                <a:gd name="T36" fmla="*/ 9 w 103"/>
                <a:gd name="T37" fmla="*/ 3 h 103"/>
                <a:gd name="T38" fmla="*/ 8 w 103"/>
                <a:gd name="T39" fmla="*/ 2 h 103"/>
                <a:gd name="T40" fmla="*/ 6 w 103"/>
                <a:gd name="T41" fmla="*/ 2 h 103"/>
                <a:gd name="T42" fmla="*/ 4 w 103"/>
                <a:gd name="T43" fmla="*/ 2 h 103"/>
                <a:gd name="T44" fmla="*/ 2 w 103"/>
                <a:gd name="T45" fmla="*/ 4 h 10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3" h="103">
                  <a:moveTo>
                    <a:pt x="20" y="56"/>
                  </a:moveTo>
                  <a:cubicBezTo>
                    <a:pt x="20" y="66"/>
                    <a:pt x="23" y="73"/>
                    <a:pt x="30" y="78"/>
                  </a:cubicBezTo>
                  <a:cubicBezTo>
                    <a:pt x="38" y="83"/>
                    <a:pt x="48" y="85"/>
                    <a:pt x="61" y="85"/>
                  </a:cubicBezTo>
                  <a:cubicBezTo>
                    <a:pt x="68" y="85"/>
                    <a:pt x="75" y="84"/>
                    <a:pt x="83" y="82"/>
                  </a:cubicBezTo>
                  <a:cubicBezTo>
                    <a:pt x="91" y="80"/>
                    <a:pt x="97" y="77"/>
                    <a:pt x="102" y="73"/>
                  </a:cubicBezTo>
                  <a:cubicBezTo>
                    <a:pt x="102" y="93"/>
                    <a:pt x="102" y="93"/>
                    <a:pt x="102" y="93"/>
                  </a:cubicBezTo>
                  <a:cubicBezTo>
                    <a:pt x="96" y="95"/>
                    <a:pt x="90" y="98"/>
                    <a:pt x="82" y="100"/>
                  </a:cubicBezTo>
                  <a:cubicBezTo>
                    <a:pt x="74" y="102"/>
                    <a:pt x="66" y="103"/>
                    <a:pt x="57" y="103"/>
                  </a:cubicBezTo>
                  <a:cubicBezTo>
                    <a:pt x="40" y="103"/>
                    <a:pt x="26" y="98"/>
                    <a:pt x="16" y="90"/>
                  </a:cubicBezTo>
                  <a:cubicBezTo>
                    <a:pt x="5" y="81"/>
                    <a:pt x="0" y="68"/>
                    <a:pt x="0" y="51"/>
                  </a:cubicBezTo>
                  <a:cubicBezTo>
                    <a:pt x="0" y="35"/>
                    <a:pt x="5" y="22"/>
                    <a:pt x="15" y="13"/>
                  </a:cubicBezTo>
                  <a:cubicBezTo>
                    <a:pt x="26" y="4"/>
                    <a:pt x="39" y="0"/>
                    <a:pt x="56" y="0"/>
                  </a:cubicBezTo>
                  <a:cubicBezTo>
                    <a:pt x="72" y="0"/>
                    <a:pt x="84" y="4"/>
                    <a:pt x="92" y="12"/>
                  </a:cubicBezTo>
                  <a:cubicBezTo>
                    <a:pt x="99" y="19"/>
                    <a:pt x="103" y="27"/>
                    <a:pt x="103" y="37"/>
                  </a:cubicBezTo>
                  <a:cubicBezTo>
                    <a:pt x="103" y="45"/>
                    <a:pt x="101" y="51"/>
                    <a:pt x="96" y="56"/>
                  </a:cubicBezTo>
                  <a:lnTo>
                    <a:pt x="20" y="56"/>
                  </a:lnTo>
                  <a:close/>
                  <a:moveTo>
                    <a:pt x="21" y="40"/>
                  </a:moveTo>
                  <a:cubicBezTo>
                    <a:pt x="83" y="40"/>
                    <a:pt x="83" y="40"/>
                    <a:pt x="83" y="40"/>
                  </a:cubicBezTo>
                  <a:cubicBezTo>
                    <a:pt x="83" y="39"/>
                    <a:pt x="84" y="37"/>
                    <a:pt x="84" y="35"/>
                  </a:cubicBezTo>
                  <a:cubicBezTo>
                    <a:pt x="84" y="31"/>
                    <a:pt x="81" y="27"/>
                    <a:pt x="77" y="23"/>
                  </a:cubicBezTo>
                  <a:cubicBezTo>
                    <a:pt x="72" y="20"/>
                    <a:pt x="65" y="18"/>
                    <a:pt x="56" y="18"/>
                  </a:cubicBezTo>
                  <a:cubicBezTo>
                    <a:pt x="47" y="18"/>
                    <a:pt x="40" y="20"/>
                    <a:pt x="34" y="23"/>
                  </a:cubicBezTo>
                  <a:cubicBezTo>
                    <a:pt x="27" y="27"/>
                    <a:pt x="23" y="32"/>
                    <a:pt x="21" y="40"/>
                  </a:cubicBez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36" name="Freeform 52"/>
            <p:cNvSpPr>
              <a:spLocks/>
            </p:cNvSpPr>
            <p:nvPr/>
          </p:nvSpPr>
          <p:spPr bwMode="white">
            <a:xfrm>
              <a:off x="4972" y="1080"/>
              <a:ext cx="72" cy="109"/>
            </a:xfrm>
            <a:custGeom>
              <a:avLst/>
              <a:gdLst>
                <a:gd name="T0" fmla="*/ 9 w 88"/>
                <a:gd name="T1" fmla="*/ 5 h 135"/>
                <a:gd name="T2" fmla="*/ 5 w 88"/>
                <a:gd name="T3" fmla="*/ 5 h 135"/>
                <a:gd name="T4" fmla="*/ 5 w 88"/>
                <a:gd name="T5" fmla="*/ 9 h 135"/>
                <a:gd name="T6" fmla="*/ 5 w 88"/>
                <a:gd name="T7" fmla="*/ 10 h 135"/>
                <a:gd name="T8" fmla="*/ 7 w 88"/>
                <a:gd name="T9" fmla="*/ 11 h 135"/>
                <a:gd name="T10" fmla="*/ 8 w 88"/>
                <a:gd name="T11" fmla="*/ 11 h 135"/>
                <a:gd name="T12" fmla="*/ 9 w 88"/>
                <a:gd name="T13" fmla="*/ 10 h 135"/>
                <a:gd name="T14" fmla="*/ 9 w 88"/>
                <a:gd name="T15" fmla="*/ 12 h 135"/>
                <a:gd name="T16" fmla="*/ 7 w 88"/>
                <a:gd name="T17" fmla="*/ 12 h 135"/>
                <a:gd name="T18" fmla="*/ 7 w 88"/>
                <a:gd name="T19" fmla="*/ 12 h 135"/>
                <a:gd name="T20" fmla="*/ 3 w 88"/>
                <a:gd name="T21" fmla="*/ 12 h 135"/>
                <a:gd name="T22" fmla="*/ 2 w 88"/>
                <a:gd name="T23" fmla="*/ 9 h 135"/>
                <a:gd name="T24" fmla="*/ 2 w 88"/>
                <a:gd name="T25" fmla="*/ 5 h 135"/>
                <a:gd name="T26" fmla="*/ 0 w 88"/>
                <a:gd name="T27" fmla="*/ 5 h 135"/>
                <a:gd name="T28" fmla="*/ 0 w 88"/>
                <a:gd name="T29" fmla="*/ 3 h 135"/>
                <a:gd name="T30" fmla="*/ 2 w 88"/>
                <a:gd name="T31" fmla="*/ 3 h 135"/>
                <a:gd name="T32" fmla="*/ 2 w 88"/>
                <a:gd name="T33" fmla="*/ 2 h 135"/>
                <a:gd name="T34" fmla="*/ 5 w 88"/>
                <a:gd name="T35" fmla="*/ 0 h 135"/>
                <a:gd name="T36" fmla="*/ 5 w 88"/>
                <a:gd name="T37" fmla="*/ 3 h 135"/>
                <a:gd name="T38" fmla="*/ 9 w 88"/>
                <a:gd name="T39" fmla="*/ 3 h 135"/>
                <a:gd name="T40" fmla="*/ 9 w 88"/>
                <a:gd name="T41" fmla="*/ 5 h 1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8" h="135">
                  <a:moveTo>
                    <a:pt x="88" y="52"/>
                  </a:moveTo>
                  <a:cubicBezTo>
                    <a:pt x="42" y="52"/>
                    <a:pt x="42" y="52"/>
                    <a:pt x="42" y="52"/>
                  </a:cubicBezTo>
                  <a:cubicBezTo>
                    <a:pt x="42" y="94"/>
                    <a:pt x="42" y="94"/>
                    <a:pt x="42" y="94"/>
                  </a:cubicBezTo>
                  <a:cubicBezTo>
                    <a:pt x="42" y="102"/>
                    <a:pt x="43" y="108"/>
                    <a:pt x="46" y="112"/>
                  </a:cubicBezTo>
                  <a:cubicBezTo>
                    <a:pt x="49" y="115"/>
                    <a:pt x="55" y="117"/>
                    <a:pt x="64" y="117"/>
                  </a:cubicBezTo>
                  <a:cubicBezTo>
                    <a:pt x="67" y="117"/>
                    <a:pt x="70" y="116"/>
                    <a:pt x="75" y="115"/>
                  </a:cubicBezTo>
                  <a:cubicBezTo>
                    <a:pt x="79" y="115"/>
                    <a:pt x="84" y="113"/>
                    <a:pt x="88" y="112"/>
                  </a:cubicBezTo>
                  <a:cubicBezTo>
                    <a:pt x="88" y="130"/>
                    <a:pt x="88" y="130"/>
                    <a:pt x="88" y="130"/>
                  </a:cubicBezTo>
                  <a:cubicBezTo>
                    <a:pt x="83" y="131"/>
                    <a:pt x="78" y="132"/>
                    <a:pt x="73" y="133"/>
                  </a:cubicBezTo>
                  <a:cubicBezTo>
                    <a:pt x="69" y="134"/>
                    <a:pt x="65" y="135"/>
                    <a:pt x="61" y="135"/>
                  </a:cubicBezTo>
                  <a:cubicBezTo>
                    <a:pt x="46" y="135"/>
                    <a:pt x="35" y="131"/>
                    <a:pt x="29" y="124"/>
                  </a:cubicBezTo>
                  <a:cubicBezTo>
                    <a:pt x="24" y="118"/>
                    <a:pt x="22" y="108"/>
                    <a:pt x="22" y="94"/>
                  </a:cubicBezTo>
                  <a:cubicBezTo>
                    <a:pt x="22" y="52"/>
                    <a:pt x="22" y="52"/>
                    <a:pt x="22" y="52"/>
                  </a:cubicBezTo>
                  <a:cubicBezTo>
                    <a:pt x="0" y="52"/>
                    <a:pt x="0" y="52"/>
                    <a:pt x="0" y="52"/>
                  </a:cubicBezTo>
                  <a:cubicBezTo>
                    <a:pt x="0" y="34"/>
                    <a:pt x="0" y="34"/>
                    <a:pt x="0" y="34"/>
                  </a:cubicBezTo>
                  <a:cubicBezTo>
                    <a:pt x="22" y="34"/>
                    <a:pt x="22" y="34"/>
                    <a:pt x="22" y="34"/>
                  </a:cubicBezTo>
                  <a:cubicBezTo>
                    <a:pt x="22" y="7"/>
                    <a:pt x="22" y="7"/>
                    <a:pt x="22" y="7"/>
                  </a:cubicBezTo>
                  <a:cubicBezTo>
                    <a:pt x="42" y="0"/>
                    <a:pt x="42" y="0"/>
                    <a:pt x="42" y="0"/>
                  </a:cubicBezTo>
                  <a:cubicBezTo>
                    <a:pt x="42" y="34"/>
                    <a:pt x="42" y="34"/>
                    <a:pt x="42" y="34"/>
                  </a:cubicBezTo>
                  <a:cubicBezTo>
                    <a:pt x="88" y="34"/>
                    <a:pt x="88" y="34"/>
                    <a:pt x="88" y="34"/>
                  </a:cubicBezTo>
                  <a:lnTo>
                    <a:pt x="88" y="52"/>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sp>
          <p:nvSpPr>
            <p:cNvPr id="37" name="Freeform 53"/>
            <p:cNvSpPr>
              <a:spLocks/>
            </p:cNvSpPr>
            <p:nvPr/>
          </p:nvSpPr>
          <p:spPr bwMode="white">
            <a:xfrm>
              <a:off x="5054" y="1107"/>
              <a:ext cx="95" cy="125"/>
            </a:xfrm>
            <a:custGeom>
              <a:avLst/>
              <a:gdLst>
                <a:gd name="T0" fmla="*/ 6 w 117"/>
                <a:gd name="T1" fmla="*/ 11 h 154"/>
                <a:gd name="T2" fmla="*/ 2 w 117"/>
                <a:gd name="T3" fmla="*/ 15 h 154"/>
                <a:gd name="T4" fmla="*/ 0 w 117"/>
                <a:gd name="T5" fmla="*/ 15 h 154"/>
                <a:gd name="T6" fmla="*/ 0 w 117"/>
                <a:gd name="T7" fmla="*/ 14 h 154"/>
                <a:gd name="T8" fmla="*/ 2 w 117"/>
                <a:gd name="T9" fmla="*/ 14 h 154"/>
                <a:gd name="T10" fmla="*/ 2 w 117"/>
                <a:gd name="T11" fmla="*/ 14 h 154"/>
                <a:gd name="T12" fmla="*/ 2 w 117"/>
                <a:gd name="T13" fmla="*/ 12 h 154"/>
                <a:gd name="T14" fmla="*/ 4 w 117"/>
                <a:gd name="T15" fmla="*/ 10 h 154"/>
                <a:gd name="T16" fmla="*/ 5 w 117"/>
                <a:gd name="T17" fmla="*/ 9 h 154"/>
                <a:gd name="T18" fmla="*/ 2 w 117"/>
                <a:gd name="T19" fmla="*/ 0 h 154"/>
                <a:gd name="T20" fmla="*/ 2 w 117"/>
                <a:gd name="T21" fmla="*/ 0 h 154"/>
                <a:gd name="T22" fmla="*/ 6 w 117"/>
                <a:gd name="T23" fmla="*/ 6 h 154"/>
                <a:gd name="T24" fmla="*/ 10 w 117"/>
                <a:gd name="T25" fmla="*/ 0 h 154"/>
                <a:gd name="T26" fmla="*/ 12 w 117"/>
                <a:gd name="T27" fmla="*/ 0 h 154"/>
                <a:gd name="T28" fmla="*/ 6 w 117"/>
                <a:gd name="T29" fmla="*/ 11 h 1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 h="154">
                  <a:moveTo>
                    <a:pt x="64" y="108"/>
                  </a:moveTo>
                  <a:cubicBezTo>
                    <a:pt x="48" y="139"/>
                    <a:pt x="30" y="154"/>
                    <a:pt x="10" y="154"/>
                  </a:cubicBezTo>
                  <a:cubicBezTo>
                    <a:pt x="7" y="154"/>
                    <a:pt x="3" y="154"/>
                    <a:pt x="0" y="153"/>
                  </a:cubicBezTo>
                  <a:cubicBezTo>
                    <a:pt x="0" y="137"/>
                    <a:pt x="0" y="137"/>
                    <a:pt x="0" y="137"/>
                  </a:cubicBezTo>
                  <a:cubicBezTo>
                    <a:pt x="1" y="137"/>
                    <a:pt x="3" y="137"/>
                    <a:pt x="4" y="137"/>
                  </a:cubicBezTo>
                  <a:cubicBezTo>
                    <a:pt x="5" y="137"/>
                    <a:pt x="6" y="137"/>
                    <a:pt x="8" y="137"/>
                  </a:cubicBezTo>
                  <a:cubicBezTo>
                    <a:pt x="15" y="137"/>
                    <a:pt x="21" y="134"/>
                    <a:pt x="27" y="129"/>
                  </a:cubicBezTo>
                  <a:cubicBezTo>
                    <a:pt x="32" y="124"/>
                    <a:pt x="38" y="115"/>
                    <a:pt x="45" y="102"/>
                  </a:cubicBezTo>
                  <a:cubicBezTo>
                    <a:pt x="51" y="89"/>
                    <a:pt x="51" y="89"/>
                    <a:pt x="51" y="89"/>
                  </a:cubicBezTo>
                  <a:cubicBezTo>
                    <a:pt x="8" y="0"/>
                    <a:pt x="8" y="0"/>
                    <a:pt x="8" y="0"/>
                  </a:cubicBezTo>
                  <a:cubicBezTo>
                    <a:pt x="30" y="0"/>
                    <a:pt x="30" y="0"/>
                    <a:pt x="30" y="0"/>
                  </a:cubicBezTo>
                  <a:cubicBezTo>
                    <a:pt x="62" y="66"/>
                    <a:pt x="62" y="66"/>
                    <a:pt x="62" y="66"/>
                  </a:cubicBezTo>
                  <a:cubicBezTo>
                    <a:pt x="95" y="0"/>
                    <a:pt x="95" y="0"/>
                    <a:pt x="95" y="0"/>
                  </a:cubicBezTo>
                  <a:cubicBezTo>
                    <a:pt x="117" y="0"/>
                    <a:pt x="117" y="0"/>
                    <a:pt x="117" y="0"/>
                  </a:cubicBezTo>
                  <a:lnTo>
                    <a:pt x="64" y="108"/>
                  </a:lnTo>
                  <a:close/>
                </a:path>
              </a:pathLst>
            </a:custGeom>
            <a:solidFill>
              <a:srgbClr val="FFFFFF"/>
            </a:solidFill>
            <a:ln>
              <a:noFill/>
            </a:ln>
            <a:extLst>
              <a:ext uri="{91240B29-F687-4F45-9708-019B960494DF}"/>
            </a:extLst>
          </p:spPr>
          <p:txBody>
            <a:bodyPr/>
            <a:lstStyle/>
            <a:p>
              <a:pPr fontAlgn="auto">
                <a:spcBef>
                  <a:spcPts val="0"/>
                </a:spcBef>
                <a:spcAft>
                  <a:spcPts val="0"/>
                </a:spcAft>
                <a:defRPr/>
              </a:pPr>
              <a:endParaRPr lang="en-US">
                <a:latin typeface="+mn-lt"/>
              </a:endParaRPr>
            </a:p>
          </p:txBody>
        </p:sp>
      </p:grpSp>
      <p:pic>
        <p:nvPicPr>
          <p:cNvPr id="38" name="Picture 21" descr="splash copy"/>
          <p:cNvPicPr>
            <a:picLocks noChangeAspect="1" noChangeArrowheads="1"/>
          </p:cNvPicPr>
          <p:nvPr/>
        </p:nvPicPr>
        <p:blipFill>
          <a:blip r:embed="rId2"/>
          <a:srcRect/>
          <a:stretch>
            <a:fillRect/>
          </a:stretch>
        </p:blipFill>
        <p:spPr bwMode="auto">
          <a:xfrm>
            <a:off x="0" y="1327150"/>
            <a:ext cx="9144000" cy="4379913"/>
          </a:xfrm>
          <a:prstGeom prst="rect">
            <a:avLst/>
          </a:prstGeom>
          <a:noFill/>
          <a:ln w="9525">
            <a:noFill/>
            <a:miter lim="800000"/>
            <a:headEnd/>
            <a:tailEnd/>
          </a:ln>
        </p:spPr>
      </p:pic>
      <p:sp>
        <p:nvSpPr>
          <p:cNvPr id="157699" name="Rectangle 3"/>
          <p:cNvSpPr>
            <a:spLocks noGrp="1" noChangeArrowheads="1"/>
          </p:cNvSpPr>
          <p:nvPr>
            <p:ph type="ctrTitle"/>
          </p:nvPr>
        </p:nvSpPr>
        <p:spPr bwMode="black">
          <a:xfrm>
            <a:off x="610467" y="0"/>
            <a:ext cx="7692159" cy="1309688"/>
          </a:xfrm>
          <a:extLst/>
        </p:spPr>
        <p:txBody>
          <a:bodyPr/>
          <a:lstStyle>
            <a:lvl1pPr>
              <a:lnSpc>
                <a:spcPct val="75000"/>
              </a:lnSpc>
              <a:defRPr sz="2500">
                <a:solidFill>
                  <a:schemeClr val="bg2"/>
                </a:solidFill>
              </a:defRPr>
            </a:lvl1pPr>
          </a:lstStyle>
          <a:p>
            <a:pPr lvl="0"/>
            <a:r>
              <a:rPr lang="en-US" noProof="0" smtClean="0"/>
              <a:t>Click to edit Master title style</a:t>
            </a:r>
          </a:p>
        </p:txBody>
      </p:sp>
      <p:sp>
        <p:nvSpPr>
          <p:cNvPr id="39" name="Rectangle 4"/>
          <p:cNvSpPr>
            <a:spLocks noGrp="1" noChangeArrowheads="1"/>
          </p:cNvSpPr>
          <p:nvPr>
            <p:ph type="ftr" sz="quarter" idx="10"/>
          </p:nvPr>
        </p:nvSpPr>
        <p:spPr bwMode="auto">
          <a:xfrm>
            <a:off x="5697538" y="6261100"/>
            <a:ext cx="2895600" cy="457200"/>
          </a:xfrm>
          <a:prstGeom prst="rect">
            <a:avLst/>
          </a:prstGeom>
          <a:extLst/>
        </p:spPr>
        <p:txBody>
          <a:bodyPr vert="horz" wrap="square" lIns="91429" tIns="45714" rIns="91429" bIns="45714" numCol="1" anchor="b" anchorCtr="0" compatLnSpc="1">
            <a:prstTxWarp prst="textNoShape">
              <a:avLst/>
            </a:prstTxWarp>
          </a:bodyPr>
          <a:lstStyle>
            <a:lvl1pPr algn="r" eaLnBrk="0" fontAlgn="auto" hangingPunct="0">
              <a:spcBef>
                <a:spcPct val="50000"/>
              </a:spcBef>
              <a:spcAft>
                <a:spcPts val="0"/>
              </a:spcAft>
              <a:defRPr sz="600" b="0">
                <a:solidFill>
                  <a:srgbClr val="969696"/>
                </a:solidFill>
                <a:latin typeface="Arial" charset="0"/>
              </a:defRPr>
            </a:lvl1pPr>
          </a:lstStyle>
          <a:p>
            <a:pPr>
              <a:defRPr/>
            </a:pPr>
            <a:endParaRPr lang="en-US"/>
          </a:p>
        </p:txBody>
      </p:sp>
      <p:sp>
        <p:nvSpPr>
          <p:cNvPr id="40" name="Rectangle 5"/>
          <p:cNvSpPr>
            <a:spLocks noGrp="1" noChangeArrowheads="1"/>
          </p:cNvSpPr>
          <p:nvPr>
            <p:ph type="sldNum" sz="quarter" idx="11"/>
          </p:nvPr>
        </p:nvSpPr>
        <p:spPr>
          <a:xfrm>
            <a:off x="6991350" y="6261100"/>
            <a:ext cx="1905000" cy="457200"/>
          </a:xfrm>
          <a:prstGeom prst="rect">
            <a:avLst/>
          </a:prstGeom>
        </p:spPr>
        <p:txBody>
          <a:bodyPr lIns="82058" tIns="41029" rIns="82058" bIns="41029"/>
          <a:lstStyle>
            <a:lvl1pPr algn="r" eaLnBrk="0" fontAlgn="auto" hangingPunct="0">
              <a:spcBef>
                <a:spcPts val="0"/>
              </a:spcBef>
              <a:spcAft>
                <a:spcPts val="0"/>
              </a:spcAft>
              <a:defRPr sz="1000">
                <a:latin typeface="Arial" charset="0"/>
              </a:defRPr>
            </a:lvl1pPr>
          </a:lstStyle>
          <a:p>
            <a:pPr>
              <a:defRPr/>
            </a:pPr>
            <a:fld id="{482734CE-2A89-49AE-B406-87CDED22192D}"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5" descr="topper copy"/>
          <p:cNvPicPr>
            <a:picLocks noChangeAspect="1" noChangeArrowheads="1"/>
          </p:cNvPicPr>
          <p:nvPr/>
        </p:nvPicPr>
        <p:blipFill>
          <a:blip r:embed="rId2"/>
          <a:srcRect b="37263"/>
          <a:stretch>
            <a:fillRect/>
          </a:stretch>
        </p:blipFill>
        <p:spPr bwMode="auto">
          <a:xfrm>
            <a:off x="0" y="0"/>
            <a:ext cx="9144000" cy="1065213"/>
          </a:xfrm>
          <a:prstGeom prst="rect">
            <a:avLst/>
          </a:prstGeom>
          <a:noFill/>
          <a:ln w="9525">
            <a:noFill/>
            <a:miter lim="800000"/>
            <a:headEnd/>
            <a:tailEnd/>
          </a:ln>
        </p:spPr>
      </p:pic>
      <p:pic>
        <p:nvPicPr>
          <p:cNvPr id="5" name="Picture 13"/>
          <p:cNvPicPr>
            <a:picLocks noChangeAspect="1"/>
          </p:cNvPicPr>
          <p:nvPr/>
        </p:nvPicPr>
        <p:blipFill>
          <a:blip r:embed="rId3"/>
          <a:srcRect/>
          <a:stretch>
            <a:fillRect/>
          </a:stretch>
        </p:blipFill>
        <p:spPr bwMode="auto">
          <a:xfrm>
            <a:off x="7986713" y="6072188"/>
            <a:ext cx="847725" cy="568325"/>
          </a:xfrm>
          <a:prstGeom prst="rect">
            <a:avLst/>
          </a:prstGeom>
          <a:noFill/>
          <a:ln w="9525">
            <a:noFill/>
            <a:miter lim="800000"/>
            <a:headEnd/>
            <a:tailEnd/>
          </a:ln>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5697538" y="6261100"/>
            <a:ext cx="2895600" cy="457200"/>
          </a:xfrm>
          <a:prstGeom prst="rect">
            <a:avLst/>
          </a:prstGeom>
        </p:spPr>
        <p:txBody>
          <a:bodyPr lIns="91429" tIns="45714" rIns="91429" bIns="45714"/>
          <a:lstStyle>
            <a:lvl1pPr fontAlgn="auto">
              <a:spcBef>
                <a:spcPts val="0"/>
              </a:spcBef>
              <a:spcAft>
                <a:spcPts val="0"/>
              </a:spcAft>
              <a:defRPr>
                <a:latin typeface="+mn-lt"/>
              </a:defRPr>
            </a:lvl1pPr>
          </a:lstStyle>
          <a:p>
            <a:pPr>
              <a:defRPr/>
            </a:pPr>
            <a:endParaRPr lang="en-US"/>
          </a:p>
        </p:txBody>
      </p:sp>
      <p:sp>
        <p:nvSpPr>
          <p:cNvPr id="3" name="Slide Number Placeholder 2"/>
          <p:cNvSpPr>
            <a:spLocks noGrp="1"/>
          </p:cNvSpPr>
          <p:nvPr>
            <p:ph type="sldNum" sz="quarter" idx="11"/>
          </p:nvPr>
        </p:nvSpPr>
        <p:spPr>
          <a:xfrm>
            <a:off x="6991350" y="6261100"/>
            <a:ext cx="1905000" cy="457200"/>
          </a:xfrm>
          <a:prstGeom prst="rect">
            <a:avLst/>
          </a:prstGeom>
        </p:spPr>
        <p:txBody>
          <a:bodyPr lIns="91429" tIns="45714" rIns="91429" bIns="45714"/>
          <a:lstStyle>
            <a:lvl1pPr fontAlgn="auto">
              <a:spcBef>
                <a:spcPts val="0"/>
              </a:spcBef>
              <a:spcAft>
                <a:spcPts val="0"/>
              </a:spcAft>
              <a:defRPr>
                <a:latin typeface="+mn-lt"/>
              </a:defRPr>
            </a:lvl1pPr>
          </a:lstStyle>
          <a:p>
            <a:pPr>
              <a:defRPr/>
            </a:pPr>
            <a:fld id="{E7DEB90C-54AE-4946-8273-DD0001239AE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22012" y="1"/>
            <a:ext cx="7905750" cy="1068761"/>
          </a:xfrm>
        </p:spPr>
        <p:txBody>
          <a:bodyPr/>
          <a:lstStyle/>
          <a:p>
            <a:r>
              <a:rPr lang="en-US" smtClean="0"/>
              <a:t>Click to edit Master title style</a:t>
            </a:r>
            <a:endParaRPr lang="en-IN"/>
          </a:p>
        </p:txBody>
      </p:sp>
      <p:sp>
        <p:nvSpPr>
          <p:cNvPr id="3" name="Text Placeholder 2"/>
          <p:cNvSpPr>
            <a:spLocks noGrp="1"/>
          </p:cNvSpPr>
          <p:nvPr>
            <p:ph type="body" sz="half" idx="1"/>
          </p:nvPr>
        </p:nvSpPr>
        <p:spPr>
          <a:xfrm>
            <a:off x="613353" y="1162610"/>
            <a:ext cx="3885045" cy="48577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quarter" idx="2"/>
          </p:nvPr>
        </p:nvSpPr>
        <p:spPr>
          <a:xfrm>
            <a:off x="4636944" y="1162611"/>
            <a:ext cx="3885045" cy="23616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Content Placeholder 4"/>
          <p:cNvSpPr>
            <a:spLocks noGrp="1"/>
          </p:cNvSpPr>
          <p:nvPr>
            <p:ph sz="quarter" idx="3"/>
          </p:nvPr>
        </p:nvSpPr>
        <p:spPr>
          <a:xfrm>
            <a:off x="4636944" y="3658721"/>
            <a:ext cx="3885045" cy="23616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10"/>
          </p:nvPr>
        </p:nvSpPr>
        <p:spPr>
          <a:xfrm>
            <a:off x="5619750" y="6205538"/>
            <a:ext cx="2895600" cy="455612"/>
          </a:xfrm>
          <a:prstGeom prst="rect">
            <a:avLst/>
          </a:prstGeom>
        </p:spPr>
        <p:txBody>
          <a:bodyPr lIns="82058" tIns="41029" rIns="82058" bIns="41029"/>
          <a:lstStyle>
            <a:lvl1pPr fontAlgn="auto">
              <a:spcBef>
                <a:spcPts val="0"/>
              </a:spcBef>
              <a:spcAft>
                <a:spcPts val="0"/>
              </a:spcAft>
              <a:defRPr>
                <a:latin typeface="+mn-lt"/>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979"/>
          <p:cNvSpPr>
            <a:spLocks noGrp="1" noChangeArrowheads="1"/>
          </p:cNvSpPr>
          <p:nvPr>
            <p:ph type="body" idx="1"/>
          </p:nvPr>
        </p:nvSpPr>
        <p:spPr bwMode="auto">
          <a:xfrm>
            <a:off x="612775" y="1162050"/>
            <a:ext cx="7908925" cy="48577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7" name="Rectangle 1981"/>
          <p:cNvSpPr>
            <a:spLocks noGrp="1" noChangeArrowheads="1"/>
          </p:cNvSpPr>
          <p:nvPr>
            <p:ph type="title"/>
          </p:nvPr>
        </p:nvSpPr>
        <p:spPr bwMode="white">
          <a:xfrm>
            <a:off x="622300" y="0"/>
            <a:ext cx="7905750" cy="1068388"/>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en-US" smtClean="0"/>
              <a:t>Click to edit Master title style</a:t>
            </a: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Lst>
  <p:timing>
    <p:tnLst>
      <p:par>
        <p:cTn id="1" dur="indefinite" restart="never" nodeType="tmRoot"/>
      </p:par>
    </p:tnLst>
  </p:timing>
  <p:txStyles>
    <p:titleStyle>
      <a:lvl1pPr algn="l" rtl="0" eaLnBrk="0" fontAlgn="base" hangingPunct="0">
        <a:lnSpc>
          <a:spcPct val="90000"/>
        </a:lnSpc>
        <a:spcBef>
          <a:spcPct val="0"/>
        </a:spcBef>
        <a:spcAft>
          <a:spcPct val="0"/>
        </a:spcAft>
        <a:defRPr kumimoji="1" sz="2600" b="1">
          <a:solidFill>
            <a:schemeClr val="bg1"/>
          </a:solidFill>
          <a:latin typeface="Arial" pitchFamily="34" charset="0"/>
          <a:ea typeface="+mj-ea"/>
          <a:cs typeface="+mj-cs"/>
        </a:defRPr>
      </a:lvl1pPr>
      <a:lvl2pPr algn="l" rtl="0" eaLnBrk="0" fontAlgn="base" hangingPunct="0">
        <a:lnSpc>
          <a:spcPct val="90000"/>
        </a:lnSpc>
        <a:spcBef>
          <a:spcPct val="0"/>
        </a:spcBef>
        <a:spcAft>
          <a:spcPct val="0"/>
        </a:spcAft>
        <a:defRPr kumimoji="1" sz="2600" b="1">
          <a:solidFill>
            <a:schemeClr val="bg1"/>
          </a:solidFill>
          <a:latin typeface="Arial" charset="0"/>
        </a:defRPr>
      </a:lvl2pPr>
      <a:lvl3pPr algn="l" rtl="0" eaLnBrk="0" fontAlgn="base" hangingPunct="0">
        <a:lnSpc>
          <a:spcPct val="90000"/>
        </a:lnSpc>
        <a:spcBef>
          <a:spcPct val="0"/>
        </a:spcBef>
        <a:spcAft>
          <a:spcPct val="0"/>
        </a:spcAft>
        <a:defRPr kumimoji="1" sz="2600" b="1">
          <a:solidFill>
            <a:schemeClr val="bg1"/>
          </a:solidFill>
          <a:latin typeface="Arial" charset="0"/>
        </a:defRPr>
      </a:lvl3pPr>
      <a:lvl4pPr algn="l" rtl="0" eaLnBrk="0" fontAlgn="base" hangingPunct="0">
        <a:lnSpc>
          <a:spcPct val="90000"/>
        </a:lnSpc>
        <a:spcBef>
          <a:spcPct val="0"/>
        </a:spcBef>
        <a:spcAft>
          <a:spcPct val="0"/>
        </a:spcAft>
        <a:defRPr kumimoji="1" sz="2600" b="1">
          <a:solidFill>
            <a:schemeClr val="bg1"/>
          </a:solidFill>
          <a:latin typeface="Arial" charset="0"/>
        </a:defRPr>
      </a:lvl4pPr>
      <a:lvl5pPr algn="l" rtl="0" eaLnBrk="0" fontAlgn="base" hangingPunct="0">
        <a:lnSpc>
          <a:spcPct val="90000"/>
        </a:lnSpc>
        <a:spcBef>
          <a:spcPct val="0"/>
        </a:spcBef>
        <a:spcAft>
          <a:spcPct val="0"/>
        </a:spcAft>
        <a:defRPr kumimoji="1" sz="2600" b="1">
          <a:solidFill>
            <a:schemeClr val="bg1"/>
          </a:solidFill>
          <a:latin typeface="Arial" charset="0"/>
        </a:defRPr>
      </a:lvl5pPr>
      <a:lvl6pPr marL="410291" algn="l" defTabSz="914608" rtl="0" eaLnBrk="1" fontAlgn="base" hangingPunct="1">
        <a:lnSpc>
          <a:spcPct val="90000"/>
        </a:lnSpc>
        <a:spcBef>
          <a:spcPct val="0"/>
        </a:spcBef>
        <a:spcAft>
          <a:spcPct val="0"/>
        </a:spcAft>
        <a:defRPr kumimoji="1" sz="2600" b="1">
          <a:solidFill>
            <a:schemeClr val="bg1"/>
          </a:solidFill>
          <a:latin typeface="Arial" charset="0"/>
        </a:defRPr>
      </a:lvl6pPr>
      <a:lvl7pPr marL="820583" algn="l" defTabSz="914608" rtl="0" eaLnBrk="1" fontAlgn="base" hangingPunct="1">
        <a:lnSpc>
          <a:spcPct val="90000"/>
        </a:lnSpc>
        <a:spcBef>
          <a:spcPct val="0"/>
        </a:spcBef>
        <a:spcAft>
          <a:spcPct val="0"/>
        </a:spcAft>
        <a:defRPr kumimoji="1" sz="2600" b="1">
          <a:solidFill>
            <a:schemeClr val="bg1"/>
          </a:solidFill>
          <a:latin typeface="Arial" charset="0"/>
        </a:defRPr>
      </a:lvl7pPr>
      <a:lvl8pPr marL="1230874" algn="l" defTabSz="914608" rtl="0" eaLnBrk="1" fontAlgn="base" hangingPunct="1">
        <a:lnSpc>
          <a:spcPct val="90000"/>
        </a:lnSpc>
        <a:spcBef>
          <a:spcPct val="0"/>
        </a:spcBef>
        <a:spcAft>
          <a:spcPct val="0"/>
        </a:spcAft>
        <a:defRPr kumimoji="1" sz="2600" b="1">
          <a:solidFill>
            <a:schemeClr val="bg1"/>
          </a:solidFill>
          <a:latin typeface="Arial" charset="0"/>
        </a:defRPr>
      </a:lvl8pPr>
      <a:lvl9pPr marL="1641165" algn="l" defTabSz="914608" rtl="0" eaLnBrk="1" fontAlgn="base" hangingPunct="1">
        <a:lnSpc>
          <a:spcPct val="90000"/>
        </a:lnSpc>
        <a:spcBef>
          <a:spcPct val="0"/>
        </a:spcBef>
        <a:spcAft>
          <a:spcPct val="0"/>
        </a:spcAft>
        <a:defRPr kumimoji="1" sz="2600" b="1">
          <a:solidFill>
            <a:schemeClr val="bg1"/>
          </a:solidFill>
          <a:latin typeface="Arial" charset="0"/>
        </a:defRPr>
      </a:lvl9pPr>
    </p:titleStyle>
    <p:bodyStyle>
      <a:lvl1pPr marL="227013" indent="-227013" algn="l" rtl="0" eaLnBrk="0" fontAlgn="base" hangingPunct="0">
        <a:lnSpc>
          <a:spcPct val="95000"/>
        </a:lnSpc>
        <a:spcBef>
          <a:spcPct val="50000"/>
        </a:spcBef>
        <a:spcAft>
          <a:spcPct val="0"/>
        </a:spcAft>
        <a:buClr>
          <a:srgbClr val="F0C33B"/>
        </a:buClr>
        <a:buFont typeface="Monotype Sorts"/>
        <a:buChar char="u"/>
        <a:defRPr kumimoji="1" sz="2200">
          <a:solidFill>
            <a:schemeClr val="tx1"/>
          </a:solidFill>
          <a:latin typeface="Arial" pitchFamily="34" charset="0"/>
          <a:ea typeface="+mn-ea"/>
          <a:cs typeface="+mn-cs"/>
        </a:defRPr>
      </a:lvl1pPr>
      <a:lvl2pPr marL="627063" indent="-227013" algn="l" rtl="0" eaLnBrk="0" fontAlgn="base" hangingPunct="0">
        <a:lnSpc>
          <a:spcPct val="95000"/>
        </a:lnSpc>
        <a:spcBef>
          <a:spcPct val="15000"/>
        </a:spcBef>
        <a:spcAft>
          <a:spcPct val="0"/>
        </a:spcAft>
        <a:buClr>
          <a:srgbClr val="F0C33B"/>
        </a:buClr>
        <a:buChar char="–"/>
        <a:defRPr kumimoji="1" sz="2000">
          <a:solidFill>
            <a:schemeClr val="tx1"/>
          </a:solidFill>
          <a:latin typeface="Arial" pitchFamily="34" charset="0"/>
        </a:defRPr>
      </a:lvl2pPr>
      <a:lvl3pPr marL="969963" indent="-227013" algn="l" rtl="0" eaLnBrk="0" fontAlgn="base" hangingPunct="0">
        <a:lnSpc>
          <a:spcPct val="95000"/>
        </a:lnSpc>
        <a:spcBef>
          <a:spcPct val="10000"/>
        </a:spcBef>
        <a:spcAft>
          <a:spcPct val="0"/>
        </a:spcAft>
        <a:buClr>
          <a:srgbClr val="F0C33B"/>
        </a:buClr>
        <a:buFont typeface="Monotype Sorts"/>
        <a:buChar char="s"/>
        <a:defRPr kumimoji="1">
          <a:solidFill>
            <a:schemeClr val="tx1"/>
          </a:solidFill>
          <a:latin typeface="Arial" pitchFamily="34" charset="0"/>
        </a:defRPr>
      </a:lvl3pPr>
      <a:lvl4pPr marL="1258888" indent="-174625" algn="l" rtl="0" eaLnBrk="0" fontAlgn="base" hangingPunct="0">
        <a:lnSpc>
          <a:spcPct val="95000"/>
        </a:lnSpc>
        <a:spcBef>
          <a:spcPct val="5000"/>
        </a:spcBef>
        <a:spcAft>
          <a:spcPct val="0"/>
        </a:spcAft>
        <a:buClr>
          <a:srgbClr val="F0C33B"/>
        </a:buClr>
        <a:buChar char="•"/>
        <a:defRPr kumimoji="1">
          <a:solidFill>
            <a:schemeClr val="tx1"/>
          </a:solidFill>
          <a:latin typeface="Arial" pitchFamily="34" charset="0"/>
        </a:defRPr>
      </a:lvl4pPr>
      <a:lvl5pPr marL="1539875" indent="-166688" algn="l" rtl="0" eaLnBrk="0" fontAlgn="base" hangingPunct="0">
        <a:lnSpc>
          <a:spcPct val="95000"/>
        </a:lnSpc>
        <a:spcBef>
          <a:spcPct val="5000"/>
        </a:spcBef>
        <a:spcAft>
          <a:spcPct val="0"/>
        </a:spcAft>
        <a:buClr>
          <a:srgbClr val="F0C33B"/>
        </a:buClr>
        <a:buChar char="-"/>
        <a:defRPr kumimoji="1">
          <a:solidFill>
            <a:schemeClr val="tx1"/>
          </a:solidFill>
          <a:latin typeface="Arial" pitchFamily="34" charset="0"/>
        </a:defRPr>
      </a:lvl5pPr>
      <a:lvl6pPr marL="1951733" indent="-168105" algn="l" defTabSz="914608" rtl="0" eaLnBrk="1" fontAlgn="base" hangingPunct="1">
        <a:lnSpc>
          <a:spcPct val="95000"/>
        </a:lnSpc>
        <a:spcBef>
          <a:spcPct val="5000"/>
        </a:spcBef>
        <a:spcAft>
          <a:spcPct val="0"/>
        </a:spcAft>
        <a:buClr>
          <a:srgbClr val="F0C33B"/>
        </a:buClr>
        <a:buChar char="-"/>
        <a:defRPr kumimoji="1">
          <a:solidFill>
            <a:schemeClr val="tx1"/>
          </a:solidFill>
          <a:latin typeface="+mn-lt"/>
        </a:defRPr>
      </a:lvl6pPr>
      <a:lvl7pPr marL="2362024" indent="-168105" algn="l" defTabSz="914608" rtl="0" eaLnBrk="1" fontAlgn="base" hangingPunct="1">
        <a:lnSpc>
          <a:spcPct val="95000"/>
        </a:lnSpc>
        <a:spcBef>
          <a:spcPct val="5000"/>
        </a:spcBef>
        <a:spcAft>
          <a:spcPct val="0"/>
        </a:spcAft>
        <a:buClr>
          <a:srgbClr val="F0C33B"/>
        </a:buClr>
        <a:buChar char="-"/>
        <a:defRPr kumimoji="1">
          <a:solidFill>
            <a:schemeClr val="tx1"/>
          </a:solidFill>
          <a:latin typeface="+mn-lt"/>
        </a:defRPr>
      </a:lvl7pPr>
      <a:lvl8pPr marL="2772315" indent="-168105" algn="l" defTabSz="914608" rtl="0" eaLnBrk="1" fontAlgn="base" hangingPunct="1">
        <a:lnSpc>
          <a:spcPct val="95000"/>
        </a:lnSpc>
        <a:spcBef>
          <a:spcPct val="5000"/>
        </a:spcBef>
        <a:spcAft>
          <a:spcPct val="0"/>
        </a:spcAft>
        <a:buClr>
          <a:srgbClr val="F0C33B"/>
        </a:buClr>
        <a:buChar char="-"/>
        <a:defRPr kumimoji="1">
          <a:solidFill>
            <a:schemeClr val="tx1"/>
          </a:solidFill>
          <a:latin typeface="+mn-lt"/>
        </a:defRPr>
      </a:lvl8pPr>
      <a:lvl9pPr marL="3182607" indent="-168105" algn="l" defTabSz="914608" rtl="0" eaLnBrk="1" fontAlgn="base" hangingPunct="1">
        <a:lnSpc>
          <a:spcPct val="95000"/>
        </a:lnSpc>
        <a:spcBef>
          <a:spcPct val="5000"/>
        </a:spcBef>
        <a:spcAft>
          <a:spcPct val="0"/>
        </a:spcAft>
        <a:buClr>
          <a:srgbClr val="F0C33B"/>
        </a:buClr>
        <a:buChar char="-"/>
        <a:defRPr kumimoji="1">
          <a:solidFill>
            <a:schemeClr val="tx1"/>
          </a:solidFill>
          <a:latin typeface="+mn-lt"/>
        </a:defRPr>
      </a:lvl9pPr>
    </p:bodyStyle>
    <p:otherStyle>
      <a:defPPr>
        <a:defRPr lang="en-US"/>
      </a:defPPr>
      <a:lvl1pPr marL="0" algn="l" defTabSz="820583" rtl="0" eaLnBrk="1" latinLnBrk="0" hangingPunct="1">
        <a:defRPr sz="1600" kern="1200">
          <a:solidFill>
            <a:schemeClr val="tx1"/>
          </a:solidFill>
          <a:latin typeface="+mn-lt"/>
          <a:ea typeface="+mn-ea"/>
          <a:cs typeface="+mn-cs"/>
        </a:defRPr>
      </a:lvl1pPr>
      <a:lvl2pPr marL="410291" algn="l" defTabSz="820583" rtl="0" eaLnBrk="1" latinLnBrk="0" hangingPunct="1">
        <a:defRPr sz="1600" kern="1200">
          <a:solidFill>
            <a:schemeClr val="tx1"/>
          </a:solidFill>
          <a:latin typeface="+mn-lt"/>
          <a:ea typeface="+mn-ea"/>
          <a:cs typeface="+mn-cs"/>
        </a:defRPr>
      </a:lvl2pPr>
      <a:lvl3pPr marL="820583" algn="l" defTabSz="820583" rtl="0" eaLnBrk="1" latinLnBrk="0" hangingPunct="1">
        <a:defRPr sz="1600" kern="1200">
          <a:solidFill>
            <a:schemeClr val="tx1"/>
          </a:solidFill>
          <a:latin typeface="+mn-lt"/>
          <a:ea typeface="+mn-ea"/>
          <a:cs typeface="+mn-cs"/>
        </a:defRPr>
      </a:lvl3pPr>
      <a:lvl4pPr marL="1230874" algn="l" defTabSz="820583" rtl="0" eaLnBrk="1" latinLnBrk="0" hangingPunct="1">
        <a:defRPr sz="1600" kern="1200">
          <a:solidFill>
            <a:schemeClr val="tx1"/>
          </a:solidFill>
          <a:latin typeface="+mn-lt"/>
          <a:ea typeface="+mn-ea"/>
          <a:cs typeface="+mn-cs"/>
        </a:defRPr>
      </a:lvl4pPr>
      <a:lvl5pPr marL="1641165" algn="l" defTabSz="820583" rtl="0" eaLnBrk="1" latinLnBrk="0" hangingPunct="1">
        <a:defRPr sz="1600" kern="1200">
          <a:solidFill>
            <a:schemeClr val="tx1"/>
          </a:solidFill>
          <a:latin typeface="+mn-lt"/>
          <a:ea typeface="+mn-ea"/>
          <a:cs typeface="+mn-cs"/>
        </a:defRPr>
      </a:lvl5pPr>
      <a:lvl6pPr marL="2051456" algn="l" defTabSz="820583" rtl="0" eaLnBrk="1" latinLnBrk="0" hangingPunct="1">
        <a:defRPr sz="1600" kern="1200">
          <a:solidFill>
            <a:schemeClr val="tx1"/>
          </a:solidFill>
          <a:latin typeface="+mn-lt"/>
          <a:ea typeface="+mn-ea"/>
          <a:cs typeface="+mn-cs"/>
        </a:defRPr>
      </a:lvl6pPr>
      <a:lvl7pPr marL="2461748" algn="l" defTabSz="820583" rtl="0" eaLnBrk="1" latinLnBrk="0" hangingPunct="1">
        <a:defRPr sz="1600" kern="1200">
          <a:solidFill>
            <a:schemeClr val="tx1"/>
          </a:solidFill>
          <a:latin typeface="+mn-lt"/>
          <a:ea typeface="+mn-ea"/>
          <a:cs typeface="+mn-cs"/>
        </a:defRPr>
      </a:lvl7pPr>
      <a:lvl8pPr marL="2872039" algn="l" defTabSz="820583" rtl="0" eaLnBrk="1" latinLnBrk="0" hangingPunct="1">
        <a:defRPr sz="1600" kern="1200">
          <a:solidFill>
            <a:schemeClr val="tx1"/>
          </a:solidFill>
          <a:latin typeface="+mn-lt"/>
          <a:ea typeface="+mn-ea"/>
          <a:cs typeface="+mn-cs"/>
        </a:defRPr>
      </a:lvl8pPr>
      <a:lvl9pPr marL="3282330" algn="l" defTabSz="820583"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9" name="Picture 4"/>
          <p:cNvPicPr>
            <a:picLocks noChangeAspect="1"/>
          </p:cNvPicPr>
          <p:nvPr/>
        </p:nvPicPr>
        <p:blipFill>
          <a:blip r:embed="rId2"/>
          <a:srcRect/>
          <a:stretch>
            <a:fillRect/>
          </a:stretch>
        </p:blipFill>
        <p:spPr bwMode="auto">
          <a:xfrm>
            <a:off x="7631113" y="5815013"/>
            <a:ext cx="1306512" cy="909637"/>
          </a:xfrm>
          <a:prstGeom prst="rect">
            <a:avLst/>
          </a:prstGeom>
          <a:noFill/>
          <a:ln w="9525">
            <a:noFill/>
            <a:miter lim="800000"/>
            <a:headEnd/>
            <a:tailEnd/>
          </a:ln>
        </p:spPr>
      </p:pic>
      <p:sp>
        <p:nvSpPr>
          <p:cNvPr id="7170" name="Title 1"/>
          <p:cNvSpPr>
            <a:spLocks noGrp="1"/>
          </p:cNvSpPr>
          <p:nvPr>
            <p:ph type="ctrTitle"/>
          </p:nvPr>
        </p:nvSpPr>
        <p:spPr>
          <a:xfrm>
            <a:off x="611188" y="0"/>
            <a:ext cx="7691437" cy="1309688"/>
          </a:xfrm>
        </p:spPr>
        <p:txBody>
          <a:bodyPr/>
          <a:lstStyle/>
          <a:p>
            <a:pPr eaLnBrk="1" hangingPunct="1"/>
            <a:r>
              <a:rPr lang="en-US" sz="2600" smtClean="0">
                <a:latin typeface="Arial" charset="0"/>
              </a:rPr>
              <a:t>ENG0001E:</a:t>
            </a:r>
            <a:br>
              <a:rPr lang="en-US" sz="2600" smtClean="0">
                <a:latin typeface="Arial" charset="0"/>
              </a:rPr>
            </a:br>
            <a:r>
              <a:rPr lang="en-US" sz="2600" smtClean="0">
                <a:latin typeface="Arial" charset="0"/>
              </a:rPr>
              <a:t>Engineering Management - Level 2</a:t>
            </a:r>
          </a:p>
        </p:txBody>
      </p:sp>
      <p:sp>
        <p:nvSpPr>
          <p:cNvPr id="7171" name="Text Box 6"/>
          <p:cNvSpPr txBox="1">
            <a:spLocks noChangeArrowheads="1"/>
          </p:cNvSpPr>
          <p:nvPr/>
        </p:nvSpPr>
        <p:spPr bwMode="auto">
          <a:xfrm>
            <a:off x="271463" y="4000500"/>
            <a:ext cx="8526462" cy="390525"/>
          </a:xfrm>
          <a:prstGeom prst="rect">
            <a:avLst/>
          </a:prstGeom>
          <a:noFill/>
          <a:ln w="9525">
            <a:noFill/>
            <a:miter lim="800000"/>
            <a:headEnd/>
            <a:tailEnd/>
          </a:ln>
        </p:spPr>
        <p:txBody>
          <a:bodyPr wrap="none" lIns="82058" tIns="41029" rIns="82058" bIns="41029">
            <a:spAutoFit/>
          </a:bodyPr>
          <a:lstStyle/>
          <a:p>
            <a:r>
              <a:rPr lang="en-US" sz="2000" b="1">
                <a:solidFill>
                  <a:schemeClr val="bg1"/>
                </a:solidFill>
              </a:rPr>
              <a:t>Module 09: Engineering Contractor ‘s Document Preparation &amp; Issue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p:nvPr>
        </p:nvSpPr>
        <p:spPr/>
        <p:txBody>
          <a:bodyPr/>
          <a:lstStyle/>
          <a:p>
            <a:pPr eaLnBrk="1" hangingPunct="1"/>
            <a:r>
              <a:rPr lang="en-CA" sz="2400" b="0" smtClean="0">
                <a:latin typeface="Arial" charset="0"/>
              </a:rPr>
              <a:t>Engineering Contractor’s Document Preparation &amp; Issue</a:t>
            </a:r>
            <a:endParaRPr lang="en-US" sz="2400" b="0" smtClean="0">
              <a:latin typeface="Arial" charset="0"/>
            </a:endParaRPr>
          </a:p>
        </p:txBody>
      </p:sp>
      <p:sp>
        <p:nvSpPr>
          <p:cNvPr id="8194" name="Rectangle 3"/>
          <p:cNvSpPr>
            <a:spLocks noGrp="1" noChangeArrowheads="1"/>
          </p:cNvSpPr>
          <p:nvPr>
            <p:ph idx="1"/>
          </p:nvPr>
        </p:nvSpPr>
        <p:spPr>
          <a:xfrm>
            <a:off x="152400" y="914400"/>
            <a:ext cx="8763000" cy="4800600"/>
          </a:xfrm>
        </p:spPr>
        <p:txBody>
          <a:bodyPr/>
          <a:lstStyle/>
          <a:p>
            <a:pPr marL="374650" indent="-374650" defTabSz="819150" eaLnBrk="1" hangingPunct="1">
              <a:buClr>
                <a:schemeClr val="tx2"/>
              </a:buClr>
            </a:pPr>
            <a:endParaRPr lang="en-CA" sz="1800" b="1" smtClean="0">
              <a:latin typeface="Arial" charset="0"/>
            </a:endParaRPr>
          </a:p>
          <a:p>
            <a:pPr marL="374650" indent="-374650" defTabSz="819150" eaLnBrk="1" hangingPunct="1"/>
            <a:endParaRPr lang="en-CA" sz="1800" b="1" smtClean="0">
              <a:latin typeface="Arial" charset="0"/>
            </a:endParaRPr>
          </a:p>
          <a:p>
            <a:pPr marL="742950" lvl="1" indent="-285750" algn="just" defTabSz="819150" eaLnBrk="1" hangingPunct="1">
              <a:buClr>
                <a:schemeClr val="tx1"/>
              </a:buClr>
              <a:buFont typeface="Wingdings" pitchFamily="2" charset="2"/>
              <a:buChar char="§"/>
            </a:pPr>
            <a:r>
              <a:rPr lang="en-US" sz="1800" smtClean="0">
                <a:latin typeface="Arial" charset="0"/>
              </a:rPr>
              <a:t>Engineering and design documents will be developed by the Licensors and DECs (DEC). Design document deliverables developed by the Licensors and DECs will include the following: </a:t>
            </a:r>
          </a:p>
          <a:p>
            <a:pPr marL="742950" lvl="1" indent="-285750" algn="just" defTabSz="819150" eaLnBrk="1" hangingPunct="1"/>
            <a:endParaRPr lang="en-US" sz="1800" smtClean="0">
              <a:latin typeface="Arial" charset="0"/>
            </a:endParaRPr>
          </a:p>
          <a:p>
            <a:pPr marL="1233488" lvl="3" indent="-306388" algn="just" defTabSz="819150" eaLnBrk="1" hangingPunct="1">
              <a:buClr>
                <a:schemeClr val="tx1"/>
              </a:buClr>
              <a:buFont typeface="Symbol" pitchFamily="18" charset="2"/>
              <a:buChar char="·"/>
            </a:pPr>
            <a:r>
              <a:rPr lang="en-CA" smtClean="0">
                <a:latin typeface="Arial" charset="0"/>
              </a:rPr>
              <a:t>Drawings</a:t>
            </a:r>
          </a:p>
          <a:p>
            <a:pPr marL="1233488" lvl="3" indent="-306388" algn="just" defTabSz="819150" eaLnBrk="1" hangingPunct="1">
              <a:buClr>
                <a:schemeClr val="tx1"/>
              </a:buClr>
              <a:buFont typeface="Symbol" pitchFamily="18" charset="2"/>
              <a:buChar char="·"/>
            </a:pPr>
            <a:r>
              <a:rPr lang="en-CA" smtClean="0">
                <a:latin typeface="Arial" charset="0"/>
              </a:rPr>
              <a:t>Specifications</a:t>
            </a:r>
          </a:p>
          <a:p>
            <a:pPr marL="1233488" lvl="3" indent="-306388" algn="just" defTabSz="819150" eaLnBrk="1" hangingPunct="1">
              <a:buClr>
                <a:schemeClr val="tx1"/>
              </a:buClr>
              <a:buFont typeface="Symbol" pitchFamily="18" charset="2"/>
              <a:buChar char="·"/>
            </a:pPr>
            <a:r>
              <a:rPr lang="en-CA" smtClean="0">
                <a:latin typeface="Arial" charset="0"/>
              </a:rPr>
              <a:t>Calculations</a:t>
            </a:r>
          </a:p>
          <a:p>
            <a:pPr marL="1233488" lvl="3" indent="-306388" algn="just" defTabSz="819150" eaLnBrk="1" hangingPunct="1">
              <a:buClr>
                <a:schemeClr val="tx1"/>
              </a:buClr>
              <a:buFont typeface="Symbol" pitchFamily="18" charset="2"/>
              <a:buChar char="·"/>
            </a:pPr>
            <a:r>
              <a:rPr lang="en-CA" smtClean="0">
                <a:latin typeface="Arial" charset="0"/>
              </a:rPr>
              <a:t>Reports and Studies</a:t>
            </a:r>
          </a:p>
          <a:p>
            <a:pPr marL="1233488" lvl="3" indent="-306388" algn="just" defTabSz="819150" eaLnBrk="1" hangingPunct="1">
              <a:buClr>
                <a:schemeClr val="tx1"/>
              </a:buClr>
              <a:buFont typeface="Symbol" pitchFamily="18" charset="2"/>
              <a:buNone/>
            </a:pPr>
            <a:endParaRPr lang="en-US" sz="1600" smtClean="0">
              <a:latin typeface="Arial" charset="0"/>
            </a:endParaRPr>
          </a:p>
          <a:p>
            <a:pPr marL="742950" lvl="1" indent="-285750" algn="just" defTabSz="819150" eaLnBrk="1" hangingPunct="1">
              <a:buClr>
                <a:schemeClr val="tx1"/>
              </a:buClr>
              <a:buFont typeface="Wingdings" pitchFamily="2" charset="2"/>
              <a:buChar char="§"/>
            </a:pPr>
            <a:r>
              <a:rPr lang="en-US" sz="1800" smtClean="0">
                <a:latin typeface="Arial" charset="0"/>
              </a:rPr>
              <a:t>The PMT will review and monitor the development of Engineering and Design documents produced by the Licensors and DECs via the participation in Reviews and Audits together with formal reviews of documents and drawings submitted to the PMT throughout the life of the project.</a:t>
            </a:r>
            <a:r>
              <a:rPr lang="en-US" smtClean="0">
                <a:latin typeface="Arial" charset="0"/>
              </a:rPr>
              <a:t> </a:t>
            </a:r>
            <a:endParaRPr lang="en-CA" sz="2600" b="1" smtClean="0">
              <a:latin typeface="Arial" charset="0"/>
            </a:endParaRPr>
          </a:p>
          <a:p>
            <a:pPr marL="1233488" lvl="3" indent="-306388" algn="just" defTabSz="819150" eaLnBrk="1" hangingPunct="1">
              <a:buClr>
                <a:schemeClr val="tx1"/>
              </a:buClr>
              <a:buFont typeface="Wingdings" pitchFamily="2" charset="2"/>
              <a:buChar char="§"/>
            </a:pPr>
            <a:endParaRPr lang="en-CA" smtClean="0">
              <a:latin typeface="Arial"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idx="4294967295"/>
          </p:nvPr>
        </p:nvSpPr>
        <p:spPr/>
        <p:txBody>
          <a:bodyPr/>
          <a:lstStyle/>
          <a:p>
            <a:pPr eaLnBrk="1" hangingPunct="1"/>
            <a:r>
              <a:rPr lang="en-US" sz="2400" b="0" smtClean="0">
                <a:latin typeface="Arial" charset="0"/>
              </a:rPr>
              <a:t>Drawings </a:t>
            </a:r>
            <a:r>
              <a:rPr lang="en-US" sz="2400" smtClean="0">
                <a:latin typeface="Arial" charset="0"/>
              </a:rPr>
              <a:t/>
            </a:r>
            <a:br>
              <a:rPr lang="en-US" sz="2400" smtClean="0">
                <a:latin typeface="Arial" charset="0"/>
              </a:rPr>
            </a:br>
            <a:endParaRPr lang="en-US" sz="2400" smtClean="0">
              <a:latin typeface="Arial" charset="0"/>
            </a:endParaRPr>
          </a:p>
        </p:txBody>
      </p:sp>
      <p:sp>
        <p:nvSpPr>
          <p:cNvPr id="10242" name="Rectangle 3"/>
          <p:cNvSpPr>
            <a:spLocks noGrp="1" noChangeArrowheads="1"/>
          </p:cNvSpPr>
          <p:nvPr>
            <p:ph type="body" idx="4294967295"/>
          </p:nvPr>
        </p:nvSpPr>
        <p:spPr>
          <a:xfrm>
            <a:off x="457200" y="1162050"/>
            <a:ext cx="8534400" cy="4857750"/>
          </a:xfrm>
        </p:spPr>
        <p:txBody>
          <a:bodyPr/>
          <a:lstStyle/>
          <a:p>
            <a:pPr algn="just" eaLnBrk="1" hangingPunct="1">
              <a:lnSpc>
                <a:spcPct val="75000"/>
              </a:lnSpc>
              <a:buClr>
                <a:schemeClr val="tx1"/>
              </a:buClr>
              <a:buFont typeface="Wingdings" pitchFamily="2" charset="2"/>
              <a:buChar char="§"/>
            </a:pPr>
            <a:r>
              <a:rPr lang="en-US" sz="1800" smtClean="0">
                <a:latin typeface="Arial" charset="0"/>
              </a:rPr>
              <a:t>Specific drawing requirements for the project are described in the PDS/CAD Procedures Manual. Key issues regarding drawing production by Licensors and DEC include:</a:t>
            </a:r>
          </a:p>
          <a:p>
            <a:pPr algn="just" eaLnBrk="1" hangingPunct="1">
              <a:lnSpc>
                <a:spcPct val="75000"/>
              </a:lnSpc>
              <a:buClr>
                <a:schemeClr val="tx1"/>
              </a:buClr>
              <a:buFont typeface="Wingdings" pitchFamily="2" charset="2"/>
              <a:buChar char="§"/>
            </a:pPr>
            <a:r>
              <a:rPr lang="en-US" sz="1800" smtClean="0">
                <a:latin typeface="Arial" charset="0"/>
              </a:rPr>
              <a:t>Design drawings will utilize computer aided design and drafting as described in Project Information Management section.</a:t>
            </a:r>
          </a:p>
          <a:p>
            <a:pPr algn="just" eaLnBrk="1" hangingPunct="1">
              <a:lnSpc>
                <a:spcPct val="75000"/>
              </a:lnSpc>
              <a:buClr>
                <a:schemeClr val="tx1"/>
              </a:buClr>
              <a:buFont typeface="Wingdings" pitchFamily="2" charset="2"/>
              <a:buChar char="§"/>
            </a:pPr>
            <a:r>
              <a:rPr lang="en-US" sz="1800" smtClean="0">
                <a:latin typeface="Arial" charset="0"/>
              </a:rPr>
              <a:t>Drawings for reports / studies will be A4 or A3 sized sheets, while P&amp;IDs, flow diagrams, construction drawings, etc. will generally be A1 sized. </a:t>
            </a:r>
          </a:p>
          <a:p>
            <a:pPr algn="just" eaLnBrk="1" hangingPunct="1">
              <a:lnSpc>
                <a:spcPct val="75000"/>
              </a:lnSpc>
              <a:buClr>
                <a:schemeClr val="tx1"/>
              </a:buClr>
              <a:buFont typeface="Wingdings" pitchFamily="2" charset="2"/>
              <a:buChar char="§"/>
            </a:pPr>
            <a:r>
              <a:rPr lang="en-US" sz="1800" smtClean="0">
                <a:latin typeface="Arial" charset="0"/>
              </a:rPr>
              <a:t>The J3 Program specific title block will be issued to all DECs for use.</a:t>
            </a:r>
          </a:p>
          <a:p>
            <a:pPr algn="just" eaLnBrk="1" hangingPunct="1">
              <a:lnSpc>
                <a:spcPct val="75000"/>
              </a:lnSpc>
              <a:buClr>
                <a:schemeClr val="tx1"/>
              </a:buClr>
              <a:buFont typeface="Wingdings" pitchFamily="2" charset="2"/>
              <a:buChar char="§"/>
            </a:pPr>
            <a:r>
              <a:rPr lang="en-US" sz="1800" smtClean="0">
                <a:latin typeface="Arial" charset="0"/>
              </a:rPr>
              <a:t>J3 Program specific drawing numbering system will be used by all DECs and is defined in the PCPM. </a:t>
            </a:r>
          </a:p>
          <a:p>
            <a:pPr algn="just" eaLnBrk="1" hangingPunct="1">
              <a:lnSpc>
                <a:spcPct val="75000"/>
              </a:lnSpc>
              <a:buClr>
                <a:schemeClr val="tx1"/>
              </a:buClr>
              <a:buFont typeface="Wingdings" pitchFamily="2" charset="2"/>
              <a:buChar char="§"/>
            </a:pPr>
            <a:r>
              <a:rPr lang="en-US" sz="1800" smtClean="0">
                <a:latin typeface="Arial" charset="0"/>
              </a:rPr>
              <a:t>Original, signed drawings will be retained by the Licensor and DECs Project Document and Data Management (PDDM) group for issue and file retention in line with their internal procedures. </a:t>
            </a:r>
          </a:p>
          <a:p>
            <a:pPr algn="just" eaLnBrk="1" hangingPunct="1">
              <a:lnSpc>
                <a:spcPct val="75000"/>
              </a:lnSpc>
              <a:buClr>
                <a:schemeClr val="tx1"/>
              </a:buClr>
              <a:buFont typeface="Wingdings" pitchFamily="2" charset="2"/>
              <a:buChar char="§"/>
            </a:pPr>
            <a:r>
              <a:rPr lang="en-US" sz="1800" smtClean="0">
                <a:latin typeface="Arial" charset="0"/>
              </a:rPr>
              <a:t>Drawings will be Reviewed and Approved in line with the requirements set out in the TRAM and is detailed in the PCPM.</a:t>
            </a:r>
          </a:p>
          <a:p>
            <a:pPr algn="just" eaLnBrk="1" hangingPunct="1">
              <a:lnSpc>
                <a:spcPct val="75000"/>
              </a:lnSpc>
              <a:buClr>
                <a:schemeClr val="tx1"/>
              </a:buClr>
              <a:buFont typeface="Wingdings" pitchFamily="2" charset="2"/>
              <a:buChar char="§"/>
            </a:pPr>
            <a:r>
              <a:rPr lang="en-US" sz="1800" smtClean="0">
                <a:latin typeface="Arial" charset="0"/>
              </a:rPr>
              <a:t>Project deliverables developed by the Licensors and DECs will be Reviewed and Approved in line with the requirements set out in the Technical Review and Approval Matrix (TRAM) issued for the J3 Program.</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idx="4294967295"/>
          </p:nvPr>
        </p:nvSpPr>
        <p:spPr/>
        <p:txBody>
          <a:bodyPr/>
          <a:lstStyle/>
          <a:p>
            <a:pPr eaLnBrk="1" hangingPunct="1"/>
            <a:r>
              <a:rPr lang="en-US" sz="2400" smtClean="0">
                <a:latin typeface="Arial" charset="0"/>
              </a:rPr>
              <a:t>Drawings</a:t>
            </a:r>
          </a:p>
        </p:txBody>
      </p:sp>
      <p:sp>
        <p:nvSpPr>
          <p:cNvPr id="11266" name="Rectangle 3"/>
          <p:cNvSpPr>
            <a:spLocks noGrp="1" noChangeArrowheads="1"/>
          </p:cNvSpPr>
          <p:nvPr>
            <p:ph idx="4294967295"/>
          </p:nvPr>
        </p:nvSpPr>
        <p:spPr>
          <a:xfrm>
            <a:off x="609600" y="1371600"/>
            <a:ext cx="7772400" cy="1828800"/>
          </a:xfrm>
        </p:spPr>
        <p:txBody>
          <a:bodyPr/>
          <a:lstStyle/>
          <a:p>
            <a:pPr marL="374650" indent="-374650" defTabSz="819150" eaLnBrk="1" hangingPunct="1">
              <a:buClr>
                <a:schemeClr val="tx1"/>
              </a:buClr>
              <a:buFont typeface="Wingdings" pitchFamily="2" charset="2"/>
              <a:buChar char="§"/>
            </a:pPr>
            <a:r>
              <a:rPr lang="en-US" sz="1800" smtClean="0">
                <a:latin typeface="Arial" charset="0"/>
              </a:rPr>
              <a:t>The two main types of engineering drawings include:</a:t>
            </a:r>
          </a:p>
          <a:p>
            <a:pPr marL="700088" lvl="1" indent="-341313" defTabSz="819150" eaLnBrk="1" hangingPunct="1">
              <a:buClr>
                <a:schemeClr val="tx1"/>
              </a:buClr>
              <a:buFontTx/>
              <a:buChar char="•"/>
            </a:pPr>
            <a:r>
              <a:rPr lang="en-US" sz="1800" smtClean="0">
                <a:solidFill>
                  <a:srgbClr val="3366CC"/>
                </a:solidFill>
                <a:latin typeface="Arial" charset="0"/>
              </a:rPr>
              <a:t>Design basis</a:t>
            </a:r>
          </a:p>
          <a:p>
            <a:pPr marL="700088" lvl="1" indent="-341313" defTabSz="819150" eaLnBrk="1" hangingPunct="1">
              <a:buClr>
                <a:schemeClr val="tx1"/>
              </a:buClr>
              <a:buFontTx/>
              <a:buChar char="•"/>
            </a:pPr>
            <a:r>
              <a:rPr lang="en-US" sz="1800" smtClean="0">
                <a:solidFill>
                  <a:srgbClr val="3366CC"/>
                </a:solidFill>
                <a:latin typeface="Arial" charset="0"/>
              </a:rPr>
              <a:t>Production drawings</a:t>
            </a:r>
          </a:p>
          <a:p>
            <a:pPr marL="374650" indent="-374650" defTabSz="819150" eaLnBrk="1" hangingPunct="1">
              <a:buClr>
                <a:schemeClr val="tx1"/>
              </a:buClr>
              <a:buFont typeface="Wingdings" pitchFamily="2" charset="2"/>
              <a:buChar char="§"/>
            </a:pPr>
            <a:r>
              <a:rPr lang="en-GB" sz="1800" smtClean="0">
                <a:latin typeface="Arial" charset="0"/>
              </a:rPr>
              <a:t>Key Steps:</a:t>
            </a:r>
            <a:endParaRPr lang="en-US" sz="1800" smtClean="0">
              <a:latin typeface="Arial" charset="0"/>
            </a:endParaRPr>
          </a:p>
        </p:txBody>
      </p:sp>
      <p:grpSp>
        <p:nvGrpSpPr>
          <p:cNvPr id="11267" name="Group 4"/>
          <p:cNvGrpSpPr>
            <a:grpSpLocks noChangeAspect="1"/>
          </p:cNvGrpSpPr>
          <p:nvPr/>
        </p:nvGrpSpPr>
        <p:grpSpPr bwMode="auto">
          <a:xfrm>
            <a:off x="533400" y="3432175"/>
            <a:ext cx="8218488" cy="2465388"/>
            <a:chOff x="480" y="2256"/>
            <a:chExt cx="4800" cy="1440"/>
          </a:xfrm>
        </p:grpSpPr>
        <p:sp>
          <p:nvSpPr>
            <p:cNvPr id="11268" name="AutoShape 5"/>
            <p:cNvSpPr>
              <a:spLocks noChangeAspect="1" noChangeArrowheads="1" noTextEdit="1"/>
            </p:cNvSpPr>
            <p:nvPr/>
          </p:nvSpPr>
          <p:spPr bwMode="auto">
            <a:xfrm>
              <a:off x="480" y="2256"/>
              <a:ext cx="4800" cy="1440"/>
            </a:xfrm>
            <a:prstGeom prst="rect">
              <a:avLst/>
            </a:prstGeom>
            <a:noFill/>
            <a:ln w="9525">
              <a:noFill/>
              <a:miter lim="800000"/>
              <a:headEnd/>
              <a:tailEnd/>
            </a:ln>
          </p:spPr>
          <p:txBody>
            <a:bodyPr/>
            <a:lstStyle/>
            <a:p>
              <a:endParaRPr lang="en-US"/>
            </a:p>
          </p:txBody>
        </p:sp>
        <p:sp>
          <p:nvSpPr>
            <p:cNvPr id="11269" name="Rectangle 6"/>
            <p:cNvSpPr>
              <a:spLocks noChangeArrowheads="1"/>
            </p:cNvSpPr>
            <p:nvPr/>
          </p:nvSpPr>
          <p:spPr bwMode="auto">
            <a:xfrm>
              <a:off x="567" y="2315"/>
              <a:ext cx="4700" cy="1373"/>
            </a:xfrm>
            <a:prstGeom prst="rect">
              <a:avLst/>
            </a:prstGeom>
            <a:solidFill>
              <a:srgbClr val="99CCFF"/>
            </a:solidFill>
            <a:ln w="9525">
              <a:noFill/>
              <a:miter lim="800000"/>
              <a:headEnd/>
              <a:tailEnd/>
            </a:ln>
          </p:spPr>
          <p:txBody>
            <a:bodyPr/>
            <a:lstStyle/>
            <a:p>
              <a:endParaRPr lang="en-US"/>
            </a:p>
          </p:txBody>
        </p:sp>
        <p:sp>
          <p:nvSpPr>
            <p:cNvPr id="11270" name="Rectangle 7"/>
            <p:cNvSpPr>
              <a:spLocks noChangeArrowheads="1"/>
            </p:cNvSpPr>
            <p:nvPr/>
          </p:nvSpPr>
          <p:spPr bwMode="auto">
            <a:xfrm>
              <a:off x="492" y="2267"/>
              <a:ext cx="4699" cy="1372"/>
            </a:xfrm>
            <a:prstGeom prst="rect">
              <a:avLst/>
            </a:prstGeom>
            <a:solidFill>
              <a:srgbClr val="D2E9FF"/>
            </a:solidFill>
            <a:ln w="9525">
              <a:noFill/>
              <a:miter lim="800000"/>
              <a:headEnd/>
              <a:tailEnd/>
            </a:ln>
          </p:spPr>
          <p:txBody>
            <a:bodyPr/>
            <a:lstStyle/>
            <a:p>
              <a:endParaRPr lang="en-US"/>
            </a:p>
          </p:txBody>
        </p:sp>
        <p:sp>
          <p:nvSpPr>
            <p:cNvPr id="11271" name="Rectangle 8"/>
            <p:cNvSpPr>
              <a:spLocks noChangeArrowheads="1"/>
            </p:cNvSpPr>
            <p:nvPr/>
          </p:nvSpPr>
          <p:spPr bwMode="auto">
            <a:xfrm>
              <a:off x="2106" y="3081"/>
              <a:ext cx="842" cy="119"/>
            </a:xfrm>
            <a:prstGeom prst="rect">
              <a:avLst/>
            </a:prstGeom>
            <a:solidFill>
              <a:srgbClr val="FFFFFF"/>
            </a:solidFill>
            <a:ln w="4763">
              <a:solidFill>
                <a:srgbClr val="0000FF"/>
              </a:solidFill>
              <a:miter lim="800000"/>
              <a:headEnd/>
              <a:tailEnd/>
            </a:ln>
          </p:spPr>
          <p:txBody>
            <a:bodyPr/>
            <a:lstStyle/>
            <a:p>
              <a:endParaRPr lang="en-US"/>
            </a:p>
          </p:txBody>
        </p:sp>
        <p:sp>
          <p:nvSpPr>
            <p:cNvPr id="11272" name="Rectangle 9"/>
            <p:cNvSpPr>
              <a:spLocks noChangeArrowheads="1"/>
            </p:cNvSpPr>
            <p:nvPr/>
          </p:nvSpPr>
          <p:spPr bwMode="auto">
            <a:xfrm>
              <a:off x="2357" y="3104"/>
              <a:ext cx="546"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Discipline Lead</a:t>
              </a:r>
              <a:endParaRPr lang="en-US">
                <a:cs typeface="Arial" charset="0"/>
              </a:endParaRPr>
            </a:p>
          </p:txBody>
        </p:sp>
        <p:sp>
          <p:nvSpPr>
            <p:cNvPr id="11273" name="Rectangle 10"/>
            <p:cNvSpPr>
              <a:spLocks noChangeArrowheads="1"/>
            </p:cNvSpPr>
            <p:nvPr/>
          </p:nvSpPr>
          <p:spPr bwMode="auto">
            <a:xfrm>
              <a:off x="2106" y="3200"/>
              <a:ext cx="842" cy="358"/>
            </a:xfrm>
            <a:prstGeom prst="rect">
              <a:avLst/>
            </a:prstGeom>
            <a:solidFill>
              <a:srgbClr val="FFFFFF"/>
            </a:solidFill>
            <a:ln w="4763">
              <a:solidFill>
                <a:srgbClr val="0000FF"/>
              </a:solidFill>
              <a:miter lim="800000"/>
              <a:headEnd/>
              <a:tailEnd/>
            </a:ln>
          </p:spPr>
          <p:txBody>
            <a:bodyPr/>
            <a:lstStyle/>
            <a:p>
              <a:endParaRPr lang="en-US"/>
            </a:p>
          </p:txBody>
        </p:sp>
        <p:sp>
          <p:nvSpPr>
            <p:cNvPr id="11274" name="Rectangle 11"/>
            <p:cNvSpPr>
              <a:spLocks noChangeArrowheads="1"/>
            </p:cNvSpPr>
            <p:nvPr/>
          </p:nvSpPr>
          <p:spPr bwMode="auto">
            <a:xfrm>
              <a:off x="2224" y="3293"/>
              <a:ext cx="460" cy="79"/>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Obtain required</a:t>
              </a:r>
              <a:endParaRPr lang="en-US">
                <a:cs typeface="Arial" charset="0"/>
              </a:endParaRPr>
            </a:p>
          </p:txBody>
        </p:sp>
        <p:sp>
          <p:nvSpPr>
            <p:cNvPr id="11275" name="Rectangle 12"/>
            <p:cNvSpPr>
              <a:spLocks noChangeArrowheads="1"/>
            </p:cNvSpPr>
            <p:nvPr/>
          </p:nvSpPr>
          <p:spPr bwMode="auto">
            <a:xfrm>
              <a:off x="2336" y="3378"/>
              <a:ext cx="289"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approvals</a:t>
              </a:r>
              <a:endParaRPr lang="en-US">
                <a:cs typeface="Arial" charset="0"/>
              </a:endParaRPr>
            </a:p>
          </p:txBody>
        </p:sp>
        <p:sp>
          <p:nvSpPr>
            <p:cNvPr id="11276" name="Rectangle 13"/>
            <p:cNvSpPr>
              <a:spLocks noChangeArrowheads="1"/>
            </p:cNvSpPr>
            <p:nvPr/>
          </p:nvSpPr>
          <p:spPr bwMode="auto">
            <a:xfrm>
              <a:off x="3171" y="3081"/>
              <a:ext cx="843" cy="119"/>
            </a:xfrm>
            <a:prstGeom prst="rect">
              <a:avLst/>
            </a:prstGeom>
            <a:solidFill>
              <a:srgbClr val="FFFFFF"/>
            </a:solidFill>
            <a:ln w="4763">
              <a:solidFill>
                <a:srgbClr val="0000FF"/>
              </a:solidFill>
              <a:miter lim="800000"/>
              <a:headEnd/>
              <a:tailEnd/>
            </a:ln>
          </p:spPr>
          <p:txBody>
            <a:bodyPr/>
            <a:lstStyle/>
            <a:p>
              <a:endParaRPr lang="en-US"/>
            </a:p>
          </p:txBody>
        </p:sp>
        <p:sp>
          <p:nvSpPr>
            <p:cNvPr id="11277" name="Rectangle 14"/>
            <p:cNvSpPr>
              <a:spLocks noChangeArrowheads="1"/>
            </p:cNvSpPr>
            <p:nvPr/>
          </p:nvSpPr>
          <p:spPr bwMode="auto">
            <a:xfrm>
              <a:off x="3363" y="3104"/>
              <a:ext cx="671"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Disc Lead / Doc Ctrl</a:t>
              </a:r>
              <a:endParaRPr lang="en-US">
                <a:cs typeface="Arial" charset="0"/>
              </a:endParaRPr>
            </a:p>
          </p:txBody>
        </p:sp>
        <p:sp>
          <p:nvSpPr>
            <p:cNvPr id="11278" name="Rectangle 15"/>
            <p:cNvSpPr>
              <a:spLocks noChangeArrowheads="1"/>
            </p:cNvSpPr>
            <p:nvPr/>
          </p:nvSpPr>
          <p:spPr bwMode="auto">
            <a:xfrm>
              <a:off x="3171" y="3200"/>
              <a:ext cx="843" cy="358"/>
            </a:xfrm>
            <a:prstGeom prst="rect">
              <a:avLst/>
            </a:prstGeom>
            <a:solidFill>
              <a:srgbClr val="FFFFFF"/>
            </a:solidFill>
            <a:ln w="4763">
              <a:solidFill>
                <a:srgbClr val="0000FF"/>
              </a:solidFill>
              <a:miter lim="800000"/>
              <a:headEnd/>
              <a:tailEnd/>
            </a:ln>
          </p:spPr>
          <p:txBody>
            <a:bodyPr/>
            <a:lstStyle/>
            <a:p>
              <a:endParaRPr lang="en-US"/>
            </a:p>
          </p:txBody>
        </p:sp>
        <p:sp>
          <p:nvSpPr>
            <p:cNvPr id="11279" name="Rectangle 16"/>
            <p:cNvSpPr>
              <a:spLocks noChangeArrowheads="1"/>
            </p:cNvSpPr>
            <p:nvPr/>
          </p:nvSpPr>
          <p:spPr bwMode="auto">
            <a:xfrm>
              <a:off x="3212" y="3251"/>
              <a:ext cx="575"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Issue drawings and</a:t>
              </a:r>
              <a:endParaRPr lang="en-US">
                <a:cs typeface="Arial" charset="0"/>
              </a:endParaRPr>
            </a:p>
          </p:txBody>
        </p:sp>
        <p:sp>
          <p:nvSpPr>
            <p:cNvPr id="11280" name="Rectangle 17"/>
            <p:cNvSpPr>
              <a:spLocks noChangeArrowheads="1"/>
            </p:cNvSpPr>
            <p:nvPr/>
          </p:nvSpPr>
          <p:spPr bwMode="auto">
            <a:xfrm>
              <a:off x="3200" y="3336"/>
              <a:ext cx="590"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maintain originals in</a:t>
              </a:r>
              <a:endParaRPr lang="en-US">
                <a:cs typeface="Arial" charset="0"/>
              </a:endParaRPr>
            </a:p>
          </p:txBody>
        </p:sp>
        <p:sp>
          <p:nvSpPr>
            <p:cNvPr id="11281" name="Rectangle 18"/>
            <p:cNvSpPr>
              <a:spLocks noChangeArrowheads="1"/>
            </p:cNvSpPr>
            <p:nvPr/>
          </p:nvSpPr>
          <p:spPr bwMode="auto">
            <a:xfrm>
              <a:off x="3367" y="3420"/>
              <a:ext cx="338" cy="79"/>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project files</a:t>
              </a:r>
              <a:endParaRPr lang="en-US">
                <a:cs typeface="Arial" charset="0"/>
              </a:endParaRPr>
            </a:p>
          </p:txBody>
        </p:sp>
        <p:sp>
          <p:nvSpPr>
            <p:cNvPr id="11282" name="Line 19"/>
            <p:cNvSpPr>
              <a:spLocks noChangeShapeType="1"/>
            </p:cNvSpPr>
            <p:nvPr/>
          </p:nvSpPr>
          <p:spPr bwMode="auto">
            <a:xfrm>
              <a:off x="2948" y="3319"/>
              <a:ext cx="177" cy="1"/>
            </a:xfrm>
            <a:prstGeom prst="line">
              <a:avLst/>
            </a:prstGeom>
            <a:noFill/>
            <a:ln w="4763">
              <a:solidFill>
                <a:srgbClr val="000000"/>
              </a:solidFill>
              <a:round/>
              <a:headEnd/>
              <a:tailEnd/>
            </a:ln>
          </p:spPr>
          <p:txBody>
            <a:bodyPr/>
            <a:lstStyle/>
            <a:p>
              <a:endParaRPr lang="en-US"/>
            </a:p>
          </p:txBody>
        </p:sp>
        <p:sp>
          <p:nvSpPr>
            <p:cNvPr id="11283" name="Freeform 20"/>
            <p:cNvSpPr>
              <a:spLocks/>
            </p:cNvSpPr>
            <p:nvPr/>
          </p:nvSpPr>
          <p:spPr bwMode="auto">
            <a:xfrm>
              <a:off x="3110" y="3295"/>
              <a:ext cx="61" cy="48"/>
            </a:xfrm>
            <a:custGeom>
              <a:avLst/>
              <a:gdLst>
                <a:gd name="T0" fmla="*/ 61 w 61"/>
                <a:gd name="T1" fmla="*/ 24 h 48"/>
                <a:gd name="T2" fmla="*/ 0 w 61"/>
                <a:gd name="T3" fmla="*/ 48 h 48"/>
                <a:gd name="T4" fmla="*/ 1 w 61"/>
                <a:gd name="T5" fmla="*/ 45 h 48"/>
                <a:gd name="T6" fmla="*/ 3 w 61"/>
                <a:gd name="T7" fmla="*/ 43 h 48"/>
                <a:gd name="T8" fmla="*/ 4 w 61"/>
                <a:gd name="T9" fmla="*/ 40 h 48"/>
                <a:gd name="T10" fmla="*/ 5 w 61"/>
                <a:gd name="T11" fmla="*/ 38 h 48"/>
                <a:gd name="T12" fmla="*/ 5 w 61"/>
                <a:gd name="T13" fmla="*/ 35 h 48"/>
                <a:gd name="T14" fmla="*/ 7 w 61"/>
                <a:gd name="T15" fmla="*/ 31 h 48"/>
                <a:gd name="T16" fmla="*/ 7 w 61"/>
                <a:gd name="T17" fmla="*/ 17 h 48"/>
                <a:gd name="T18" fmla="*/ 5 w 61"/>
                <a:gd name="T19" fmla="*/ 13 h 48"/>
                <a:gd name="T20" fmla="*/ 5 w 61"/>
                <a:gd name="T21" fmla="*/ 11 h 48"/>
                <a:gd name="T22" fmla="*/ 3 w 61"/>
                <a:gd name="T23" fmla="*/ 5 h 48"/>
                <a:gd name="T24" fmla="*/ 1 w 61"/>
                <a:gd name="T25" fmla="*/ 3 h 48"/>
                <a:gd name="T26" fmla="*/ 0 w 61"/>
                <a:gd name="T27" fmla="*/ 0 h 48"/>
                <a:gd name="T28" fmla="*/ 61 w 61"/>
                <a:gd name="T29" fmla="*/ 24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
                <a:gd name="T46" fmla="*/ 0 h 48"/>
                <a:gd name="T47" fmla="*/ 61 w 61"/>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 h="48">
                  <a:moveTo>
                    <a:pt x="61" y="24"/>
                  </a:moveTo>
                  <a:lnTo>
                    <a:pt x="0" y="48"/>
                  </a:lnTo>
                  <a:lnTo>
                    <a:pt x="1" y="45"/>
                  </a:lnTo>
                  <a:lnTo>
                    <a:pt x="3" y="43"/>
                  </a:lnTo>
                  <a:lnTo>
                    <a:pt x="4" y="40"/>
                  </a:lnTo>
                  <a:lnTo>
                    <a:pt x="5" y="38"/>
                  </a:lnTo>
                  <a:lnTo>
                    <a:pt x="5" y="35"/>
                  </a:lnTo>
                  <a:lnTo>
                    <a:pt x="7" y="31"/>
                  </a:lnTo>
                  <a:lnTo>
                    <a:pt x="7" y="17"/>
                  </a:lnTo>
                  <a:lnTo>
                    <a:pt x="5" y="13"/>
                  </a:lnTo>
                  <a:lnTo>
                    <a:pt x="5" y="11"/>
                  </a:lnTo>
                  <a:lnTo>
                    <a:pt x="3" y="5"/>
                  </a:lnTo>
                  <a:lnTo>
                    <a:pt x="1" y="3"/>
                  </a:lnTo>
                  <a:lnTo>
                    <a:pt x="0" y="0"/>
                  </a:lnTo>
                  <a:lnTo>
                    <a:pt x="61" y="24"/>
                  </a:lnTo>
                  <a:close/>
                </a:path>
              </a:pathLst>
            </a:custGeom>
            <a:solidFill>
              <a:srgbClr val="000000"/>
            </a:solidFill>
            <a:ln w="9525">
              <a:noFill/>
              <a:round/>
              <a:headEnd/>
              <a:tailEnd/>
            </a:ln>
          </p:spPr>
          <p:txBody>
            <a:bodyPr/>
            <a:lstStyle/>
            <a:p>
              <a:endParaRPr lang="en-US"/>
            </a:p>
          </p:txBody>
        </p:sp>
        <p:sp>
          <p:nvSpPr>
            <p:cNvPr id="11284" name="Freeform 21"/>
            <p:cNvSpPr>
              <a:spLocks/>
            </p:cNvSpPr>
            <p:nvPr/>
          </p:nvSpPr>
          <p:spPr bwMode="auto">
            <a:xfrm>
              <a:off x="3219" y="3092"/>
              <a:ext cx="124" cy="98"/>
            </a:xfrm>
            <a:custGeom>
              <a:avLst/>
              <a:gdLst>
                <a:gd name="T0" fmla="*/ 0 w 124"/>
                <a:gd name="T1" fmla="*/ 49 h 98"/>
                <a:gd name="T2" fmla="*/ 3 w 124"/>
                <a:gd name="T3" fmla="*/ 35 h 98"/>
                <a:gd name="T4" fmla="*/ 11 w 124"/>
                <a:gd name="T5" fmla="*/ 22 h 98"/>
                <a:gd name="T6" fmla="*/ 23 w 124"/>
                <a:gd name="T7" fmla="*/ 12 h 98"/>
                <a:gd name="T8" fmla="*/ 37 w 124"/>
                <a:gd name="T9" fmla="*/ 4 h 98"/>
                <a:gd name="T10" fmla="*/ 55 w 124"/>
                <a:gd name="T11" fmla="*/ 0 h 98"/>
                <a:gd name="T12" fmla="*/ 72 w 124"/>
                <a:gd name="T13" fmla="*/ 0 h 98"/>
                <a:gd name="T14" fmla="*/ 89 w 124"/>
                <a:gd name="T15" fmla="*/ 4 h 98"/>
                <a:gd name="T16" fmla="*/ 103 w 124"/>
                <a:gd name="T17" fmla="*/ 12 h 98"/>
                <a:gd name="T18" fmla="*/ 115 w 124"/>
                <a:gd name="T19" fmla="*/ 22 h 98"/>
                <a:gd name="T20" fmla="*/ 122 w 124"/>
                <a:gd name="T21" fmla="*/ 35 h 98"/>
                <a:gd name="T22" fmla="*/ 124 w 124"/>
                <a:gd name="T23" fmla="*/ 49 h 98"/>
                <a:gd name="T24" fmla="*/ 122 w 124"/>
                <a:gd name="T25" fmla="*/ 63 h 98"/>
                <a:gd name="T26" fmla="*/ 115 w 124"/>
                <a:gd name="T27" fmla="*/ 76 h 98"/>
                <a:gd name="T28" fmla="*/ 103 w 124"/>
                <a:gd name="T29" fmla="*/ 86 h 98"/>
                <a:gd name="T30" fmla="*/ 89 w 124"/>
                <a:gd name="T31" fmla="*/ 93 h 98"/>
                <a:gd name="T32" fmla="*/ 72 w 124"/>
                <a:gd name="T33" fmla="*/ 98 h 98"/>
                <a:gd name="T34" fmla="*/ 55 w 124"/>
                <a:gd name="T35" fmla="*/ 98 h 98"/>
                <a:gd name="T36" fmla="*/ 37 w 124"/>
                <a:gd name="T37" fmla="*/ 93 h 98"/>
                <a:gd name="T38" fmla="*/ 23 w 124"/>
                <a:gd name="T39" fmla="*/ 86 h 98"/>
                <a:gd name="T40" fmla="*/ 11 w 124"/>
                <a:gd name="T41" fmla="*/ 76 h 98"/>
                <a:gd name="T42" fmla="*/ 3 w 124"/>
                <a:gd name="T43" fmla="*/ 63 h 98"/>
                <a:gd name="T44" fmla="*/ 0 w 124"/>
                <a:gd name="T45" fmla="*/ 49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98"/>
                <a:gd name="T71" fmla="*/ 124 w 124"/>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98">
                  <a:moveTo>
                    <a:pt x="0" y="49"/>
                  </a:moveTo>
                  <a:lnTo>
                    <a:pt x="3" y="35"/>
                  </a:lnTo>
                  <a:lnTo>
                    <a:pt x="11" y="22"/>
                  </a:lnTo>
                  <a:lnTo>
                    <a:pt x="23" y="12"/>
                  </a:lnTo>
                  <a:lnTo>
                    <a:pt x="37" y="4"/>
                  </a:lnTo>
                  <a:lnTo>
                    <a:pt x="55" y="0"/>
                  </a:lnTo>
                  <a:lnTo>
                    <a:pt x="72" y="0"/>
                  </a:lnTo>
                  <a:lnTo>
                    <a:pt x="89" y="4"/>
                  </a:lnTo>
                  <a:lnTo>
                    <a:pt x="103" y="12"/>
                  </a:lnTo>
                  <a:lnTo>
                    <a:pt x="115" y="22"/>
                  </a:lnTo>
                  <a:lnTo>
                    <a:pt x="122" y="35"/>
                  </a:lnTo>
                  <a:lnTo>
                    <a:pt x="124" y="49"/>
                  </a:lnTo>
                  <a:lnTo>
                    <a:pt x="122" y="63"/>
                  </a:lnTo>
                  <a:lnTo>
                    <a:pt x="115" y="76"/>
                  </a:lnTo>
                  <a:lnTo>
                    <a:pt x="103" y="86"/>
                  </a:lnTo>
                  <a:lnTo>
                    <a:pt x="89" y="93"/>
                  </a:lnTo>
                  <a:lnTo>
                    <a:pt x="72" y="98"/>
                  </a:lnTo>
                  <a:lnTo>
                    <a:pt x="55" y="98"/>
                  </a:lnTo>
                  <a:lnTo>
                    <a:pt x="37" y="93"/>
                  </a:lnTo>
                  <a:lnTo>
                    <a:pt x="23" y="86"/>
                  </a:lnTo>
                  <a:lnTo>
                    <a:pt x="11" y="76"/>
                  </a:lnTo>
                  <a:lnTo>
                    <a:pt x="3" y="63"/>
                  </a:lnTo>
                  <a:lnTo>
                    <a:pt x="0" y="49"/>
                  </a:lnTo>
                  <a:close/>
                </a:path>
              </a:pathLst>
            </a:custGeom>
            <a:solidFill>
              <a:srgbClr val="00FFFF"/>
            </a:solidFill>
            <a:ln w="9525">
              <a:noFill/>
              <a:round/>
              <a:headEnd/>
              <a:tailEnd/>
            </a:ln>
          </p:spPr>
          <p:txBody>
            <a:bodyPr/>
            <a:lstStyle/>
            <a:p>
              <a:endParaRPr lang="en-US"/>
            </a:p>
          </p:txBody>
        </p:sp>
        <p:sp>
          <p:nvSpPr>
            <p:cNvPr id="11285" name="Rectangle 22"/>
            <p:cNvSpPr>
              <a:spLocks noChangeArrowheads="1"/>
            </p:cNvSpPr>
            <p:nvPr/>
          </p:nvSpPr>
          <p:spPr bwMode="auto">
            <a:xfrm>
              <a:off x="3263" y="3109"/>
              <a:ext cx="29"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7</a:t>
              </a:r>
              <a:endParaRPr lang="en-US">
                <a:cs typeface="Arial" charset="0"/>
              </a:endParaRPr>
            </a:p>
          </p:txBody>
        </p:sp>
        <p:sp>
          <p:nvSpPr>
            <p:cNvPr id="11286" name="Freeform 23"/>
            <p:cNvSpPr>
              <a:spLocks/>
            </p:cNvSpPr>
            <p:nvPr/>
          </p:nvSpPr>
          <p:spPr bwMode="auto">
            <a:xfrm>
              <a:off x="2168" y="3092"/>
              <a:ext cx="123" cy="98"/>
            </a:xfrm>
            <a:custGeom>
              <a:avLst/>
              <a:gdLst>
                <a:gd name="T0" fmla="*/ 0 w 123"/>
                <a:gd name="T1" fmla="*/ 49 h 98"/>
                <a:gd name="T2" fmla="*/ 2 w 123"/>
                <a:gd name="T3" fmla="*/ 35 h 98"/>
                <a:gd name="T4" fmla="*/ 10 w 123"/>
                <a:gd name="T5" fmla="*/ 22 h 98"/>
                <a:gd name="T6" fmla="*/ 21 w 123"/>
                <a:gd name="T7" fmla="*/ 12 h 98"/>
                <a:gd name="T8" fmla="*/ 36 w 123"/>
                <a:gd name="T9" fmla="*/ 4 h 98"/>
                <a:gd name="T10" fmla="*/ 53 w 123"/>
                <a:gd name="T11" fmla="*/ 0 h 98"/>
                <a:gd name="T12" fmla="*/ 70 w 123"/>
                <a:gd name="T13" fmla="*/ 0 h 98"/>
                <a:gd name="T14" fmla="*/ 87 w 123"/>
                <a:gd name="T15" fmla="*/ 4 h 98"/>
                <a:gd name="T16" fmla="*/ 102 w 123"/>
                <a:gd name="T17" fmla="*/ 12 h 98"/>
                <a:gd name="T18" fmla="*/ 114 w 123"/>
                <a:gd name="T19" fmla="*/ 22 h 98"/>
                <a:gd name="T20" fmla="*/ 120 w 123"/>
                <a:gd name="T21" fmla="*/ 35 h 98"/>
                <a:gd name="T22" fmla="*/ 123 w 123"/>
                <a:gd name="T23" fmla="*/ 49 h 98"/>
                <a:gd name="T24" fmla="*/ 120 w 123"/>
                <a:gd name="T25" fmla="*/ 63 h 98"/>
                <a:gd name="T26" fmla="*/ 114 w 123"/>
                <a:gd name="T27" fmla="*/ 76 h 98"/>
                <a:gd name="T28" fmla="*/ 102 w 123"/>
                <a:gd name="T29" fmla="*/ 86 h 98"/>
                <a:gd name="T30" fmla="*/ 87 w 123"/>
                <a:gd name="T31" fmla="*/ 93 h 98"/>
                <a:gd name="T32" fmla="*/ 70 w 123"/>
                <a:gd name="T33" fmla="*/ 98 h 98"/>
                <a:gd name="T34" fmla="*/ 53 w 123"/>
                <a:gd name="T35" fmla="*/ 98 h 98"/>
                <a:gd name="T36" fmla="*/ 36 w 123"/>
                <a:gd name="T37" fmla="*/ 93 h 98"/>
                <a:gd name="T38" fmla="*/ 21 w 123"/>
                <a:gd name="T39" fmla="*/ 86 h 98"/>
                <a:gd name="T40" fmla="*/ 10 w 123"/>
                <a:gd name="T41" fmla="*/ 76 h 98"/>
                <a:gd name="T42" fmla="*/ 2 w 123"/>
                <a:gd name="T43" fmla="*/ 63 h 98"/>
                <a:gd name="T44" fmla="*/ 0 w 123"/>
                <a:gd name="T45" fmla="*/ 49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3"/>
                <a:gd name="T70" fmla="*/ 0 h 98"/>
                <a:gd name="T71" fmla="*/ 123 w 123"/>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3" h="98">
                  <a:moveTo>
                    <a:pt x="0" y="49"/>
                  </a:moveTo>
                  <a:lnTo>
                    <a:pt x="2" y="35"/>
                  </a:lnTo>
                  <a:lnTo>
                    <a:pt x="10" y="22"/>
                  </a:lnTo>
                  <a:lnTo>
                    <a:pt x="21" y="12"/>
                  </a:lnTo>
                  <a:lnTo>
                    <a:pt x="36" y="4"/>
                  </a:lnTo>
                  <a:lnTo>
                    <a:pt x="53" y="0"/>
                  </a:lnTo>
                  <a:lnTo>
                    <a:pt x="70" y="0"/>
                  </a:lnTo>
                  <a:lnTo>
                    <a:pt x="87" y="4"/>
                  </a:lnTo>
                  <a:lnTo>
                    <a:pt x="102" y="12"/>
                  </a:lnTo>
                  <a:lnTo>
                    <a:pt x="114" y="22"/>
                  </a:lnTo>
                  <a:lnTo>
                    <a:pt x="120" y="35"/>
                  </a:lnTo>
                  <a:lnTo>
                    <a:pt x="123" y="49"/>
                  </a:lnTo>
                  <a:lnTo>
                    <a:pt x="120" y="63"/>
                  </a:lnTo>
                  <a:lnTo>
                    <a:pt x="114" y="76"/>
                  </a:lnTo>
                  <a:lnTo>
                    <a:pt x="102" y="86"/>
                  </a:lnTo>
                  <a:lnTo>
                    <a:pt x="87" y="93"/>
                  </a:lnTo>
                  <a:lnTo>
                    <a:pt x="70" y="98"/>
                  </a:lnTo>
                  <a:lnTo>
                    <a:pt x="53" y="98"/>
                  </a:lnTo>
                  <a:lnTo>
                    <a:pt x="36" y="93"/>
                  </a:lnTo>
                  <a:lnTo>
                    <a:pt x="21" y="86"/>
                  </a:lnTo>
                  <a:lnTo>
                    <a:pt x="10" y="76"/>
                  </a:lnTo>
                  <a:lnTo>
                    <a:pt x="2" y="63"/>
                  </a:lnTo>
                  <a:lnTo>
                    <a:pt x="0" y="49"/>
                  </a:lnTo>
                  <a:close/>
                </a:path>
              </a:pathLst>
            </a:custGeom>
            <a:solidFill>
              <a:srgbClr val="00FFFF"/>
            </a:solidFill>
            <a:ln w="9525">
              <a:noFill/>
              <a:round/>
              <a:headEnd/>
              <a:tailEnd/>
            </a:ln>
          </p:spPr>
          <p:txBody>
            <a:bodyPr/>
            <a:lstStyle/>
            <a:p>
              <a:endParaRPr lang="en-US"/>
            </a:p>
          </p:txBody>
        </p:sp>
        <p:sp>
          <p:nvSpPr>
            <p:cNvPr id="11287" name="Rectangle 24"/>
            <p:cNvSpPr>
              <a:spLocks noChangeArrowheads="1"/>
            </p:cNvSpPr>
            <p:nvPr/>
          </p:nvSpPr>
          <p:spPr bwMode="auto">
            <a:xfrm>
              <a:off x="2210" y="3109"/>
              <a:ext cx="29"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6</a:t>
              </a:r>
              <a:endParaRPr lang="en-US">
                <a:cs typeface="Arial" charset="0"/>
              </a:endParaRPr>
            </a:p>
          </p:txBody>
        </p:sp>
        <p:sp>
          <p:nvSpPr>
            <p:cNvPr id="11288" name="Rectangle 25"/>
            <p:cNvSpPr>
              <a:spLocks noChangeArrowheads="1"/>
            </p:cNvSpPr>
            <p:nvPr/>
          </p:nvSpPr>
          <p:spPr bwMode="auto">
            <a:xfrm>
              <a:off x="691" y="2354"/>
              <a:ext cx="795" cy="118"/>
            </a:xfrm>
            <a:prstGeom prst="rect">
              <a:avLst/>
            </a:prstGeom>
            <a:solidFill>
              <a:srgbClr val="FFFFFF"/>
            </a:solidFill>
            <a:ln w="4763">
              <a:solidFill>
                <a:srgbClr val="0000FF"/>
              </a:solidFill>
              <a:miter lim="800000"/>
              <a:headEnd/>
              <a:tailEnd/>
            </a:ln>
          </p:spPr>
          <p:txBody>
            <a:bodyPr/>
            <a:lstStyle/>
            <a:p>
              <a:endParaRPr lang="en-US"/>
            </a:p>
          </p:txBody>
        </p:sp>
        <p:sp>
          <p:nvSpPr>
            <p:cNvPr id="11289" name="Rectangle 26"/>
            <p:cNvSpPr>
              <a:spLocks noChangeArrowheads="1"/>
            </p:cNvSpPr>
            <p:nvPr/>
          </p:nvSpPr>
          <p:spPr bwMode="auto">
            <a:xfrm>
              <a:off x="886" y="2376"/>
              <a:ext cx="446" cy="71"/>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PMT CAD Coord</a:t>
              </a:r>
              <a:endParaRPr lang="en-US">
                <a:cs typeface="Arial" charset="0"/>
              </a:endParaRPr>
            </a:p>
          </p:txBody>
        </p:sp>
        <p:sp>
          <p:nvSpPr>
            <p:cNvPr id="11290" name="Rectangle 27"/>
            <p:cNvSpPr>
              <a:spLocks noChangeArrowheads="1"/>
            </p:cNvSpPr>
            <p:nvPr/>
          </p:nvSpPr>
          <p:spPr bwMode="auto">
            <a:xfrm>
              <a:off x="691" y="2472"/>
              <a:ext cx="795" cy="359"/>
            </a:xfrm>
            <a:prstGeom prst="rect">
              <a:avLst/>
            </a:prstGeom>
            <a:solidFill>
              <a:srgbClr val="FFFFFF"/>
            </a:solidFill>
            <a:ln w="4763">
              <a:solidFill>
                <a:srgbClr val="0000FF"/>
              </a:solidFill>
              <a:miter lim="800000"/>
              <a:headEnd/>
              <a:tailEnd/>
            </a:ln>
          </p:spPr>
          <p:txBody>
            <a:bodyPr/>
            <a:lstStyle/>
            <a:p>
              <a:endParaRPr lang="en-US"/>
            </a:p>
          </p:txBody>
        </p:sp>
        <p:sp>
          <p:nvSpPr>
            <p:cNvPr id="11291" name="Rectangle 28"/>
            <p:cNvSpPr>
              <a:spLocks noChangeArrowheads="1"/>
            </p:cNvSpPr>
            <p:nvPr/>
          </p:nvSpPr>
          <p:spPr bwMode="auto">
            <a:xfrm>
              <a:off x="872" y="2524"/>
              <a:ext cx="327"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Establish a</a:t>
              </a:r>
              <a:endParaRPr lang="en-US">
                <a:cs typeface="Arial" charset="0"/>
              </a:endParaRPr>
            </a:p>
          </p:txBody>
        </p:sp>
        <p:sp>
          <p:nvSpPr>
            <p:cNvPr id="11292" name="Rectangle 29"/>
            <p:cNvSpPr>
              <a:spLocks noChangeArrowheads="1"/>
            </p:cNvSpPr>
            <p:nvPr/>
          </p:nvSpPr>
          <p:spPr bwMode="auto">
            <a:xfrm>
              <a:off x="752" y="2609"/>
              <a:ext cx="511"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standard drawing</a:t>
              </a:r>
              <a:endParaRPr lang="en-US">
                <a:cs typeface="Arial" charset="0"/>
              </a:endParaRPr>
            </a:p>
          </p:txBody>
        </p:sp>
        <p:sp>
          <p:nvSpPr>
            <p:cNvPr id="11293" name="Rectangle 30"/>
            <p:cNvSpPr>
              <a:spLocks noChangeArrowheads="1"/>
            </p:cNvSpPr>
            <p:nvPr/>
          </p:nvSpPr>
          <p:spPr bwMode="auto">
            <a:xfrm>
              <a:off x="963" y="2694"/>
              <a:ext cx="189" cy="79"/>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format</a:t>
              </a:r>
              <a:endParaRPr lang="en-US">
                <a:cs typeface="Arial" charset="0"/>
              </a:endParaRPr>
            </a:p>
          </p:txBody>
        </p:sp>
        <p:sp>
          <p:nvSpPr>
            <p:cNvPr id="11294" name="Rectangle 31"/>
            <p:cNvSpPr>
              <a:spLocks noChangeArrowheads="1"/>
            </p:cNvSpPr>
            <p:nvPr/>
          </p:nvSpPr>
          <p:spPr bwMode="auto">
            <a:xfrm>
              <a:off x="1684" y="2354"/>
              <a:ext cx="892" cy="118"/>
            </a:xfrm>
            <a:prstGeom prst="rect">
              <a:avLst/>
            </a:prstGeom>
            <a:solidFill>
              <a:srgbClr val="FFFFFF"/>
            </a:solidFill>
            <a:ln w="4763">
              <a:solidFill>
                <a:srgbClr val="0000FF"/>
              </a:solidFill>
              <a:miter lim="800000"/>
              <a:headEnd/>
              <a:tailEnd/>
            </a:ln>
          </p:spPr>
          <p:txBody>
            <a:bodyPr/>
            <a:lstStyle/>
            <a:p>
              <a:endParaRPr lang="en-US"/>
            </a:p>
          </p:txBody>
        </p:sp>
        <p:sp>
          <p:nvSpPr>
            <p:cNvPr id="11295" name="Rectangle 32"/>
            <p:cNvSpPr>
              <a:spLocks noChangeArrowheads="1"/>
            </p:cNvSpPr>
            <p:nvPr/>
          </p:nvSpPr>
          <p:spPr bwMode="auto">
            <a:xfrm>
              <a:off x="1961" y="2376"/>
              <a:ext cx="546" cy="71"/>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Discipline Lead</a:t>
              </a:r>
              <a:endParaRPr lang="en-US">
                <a:cs typeface="Arial" charset="0"/>
              </a:endParaRPr>
            </a:p>
          </p:txBody>
        </p:sp>
        <p:sp>
          <p:nvSpPr>
            <p:cNvPr id="11296" name="Rectangle 33"/>
            <p:cNvSpPr>
              <a:spLocks noChangeArrowheads="1"/>
            </p:cNvSpPr>
            <p:nvPr/>
          </p:nvSpPr>
          <p:spPr bwMode="auto">
            <a:xfrm>
              <a:off x="1684" y="2472"/>
              <a:ext cx="892" cy="359"/>
            </a:xfrm>
            <a:prstGeom prst="rect">
              <a:avLst/>
            </a:prstGeom>
            <a:solidFill>
              <a:srgbClr val="FFFFFF"/>
            </a:solidFill>
            <a:ln w="4763">
              <a:solidFill>
                <a:srgbClr val="0000FF"/>
              </a:solidFill>
              <a:miter lim="800000"/>
              <a:headEnd/>
              <a:tailEnd/>
            </a:ln>
          </p:spPr>
          <p:txBody>
            <a:bodyPr/>
            <a:lstStyle/>
            <a:p>
              <a:endParaRPr lang="en-US"/>
            </a:p>
          </p:txBody>
        </p:sp>
        <p:sp>
          <p:nvSpPr>
            <p:cNvPr id="11297" name="Rectangle 34"/>
            <p:cNvSpPr>
              <a:spLocks noChangeArrowheads="1"/>
            </p:cNvSpPr>
            <p:nvPr/>
          </p:nvSpPr>
          <p:spPr bwMode="auto">
            <a:xfrm>
              <a:off x="1853" y="2524"/>
              <a:ext cx="419"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Assign unique</a:t>
              </a:r>
              <a:endParaRPr lang="en-US">
                <a:cs typeface="Arial" charset="0"/>
              </a:endParaRPr>
            </a:p>
          </p:txBody>
        </p:sp>
        <p:sp>
          <p:nvSpPr>
            <p:cNvPr id="11298" name="Rectangle 35"/>
            <p:cNvSpPr>
              <a:spLocks noChangeArrowheads="1"/>
            </p:cNvSpPr>
            <p:nvPr/>
          </p:nvSpPr>
          <p:spPr bwMode="auto">
            <a:xfrm>
              <a:off x="1824" y="2609"/>
              <a:ext cx="464"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number to each</a:t>
              </a:r>
              <a:endParaRPr lang="en-US">
                <a:cs typeface="Arial" charset="0"/>
              </a:endParaRPr>
            </a:p>
          </p:txBody>
        </p:sp>
        <p:sp>
          <p:nvSpPr>
            <p:cNvPr id="11299" name="Rectangle 36"/>
            <p:cNvSpPr>
              <a:spLocks noChangeArrowheads="1"/>
            </p:cNvSpPr>
            <p:nvPr/>
          </p:nvSpPr>
          <p:spPr bwMode="auto">
            <a:xfrm>
              <a:off x="1717" y="2694"/>
              <a:ext cx="627" cy="79"/>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drawing per standard</a:t>
              </a:r>
              <a:endParaRPr lang="en-US">
                <a:cs typeface="Arial" charset="0"/>
              </a:endParaRPr>
            </a:p>
          </p:txBody>
        </p:sp>
        <p:sp>
          <p:nvSpPr>
            <p:cNvPr id="11300" name="Rectangle 37"/>
            <p:cNvSpPr>
              <a:spLocks noChangeArrowheads="1"/>
            </p:cNvSpPr>
            <p:nvPr/>
          </p:nvSpPr>
          <p:spPr bwMode="auto">
            <a:xfrm>
              <a:off x="2800" y="2354"/>
              <a:ext cx="793" cy="118"/>
            </a:xfrm>
            <a:prstGeom prst="rect">
              <a:avLst/>
            </a:prstGeom>
            <a:solidFill>
              <a:srgbClr val="FFFFFF"/>
            </a:solidFill>
            <a:ln w="4763">
              <a:solidFill>
                <a:srgbClr val="0000FF"/>
              </a:solidFill>
              <a:miter lim="800000"/>
              <a:headEnd/>
              <a:tailEnd/>
            </a:ln>
          </p:spPr>
          <p:txBody>
            <a:bodyPr/>
            <a:lstStyle/>
            <a:p>
              <a:endParaRPr lang="en-US"/>
            </a:p>
          </p:txBody>
        </p:sp>
        <p:sp>
          <p:nvSpPr>
            <p:cNvPr id="11301" name="Rectangle 38"/>
            <p:cNvSpPr>
              <a:spLocks noChangeArrowheads="1"/>
            </p:cNvSpPr>
            <p:nvPr/>
          </p:nvSpPr>
          <p:spPr bwMode="auto">
            <a:xfrm>
              <a:off x="2964" y="2376"/>
              <a:ext cx="616" cy="71"/>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 / Design</a:t>
              </a:r>
              <a:endParaRPr lang="en-US">
                <a:cs typeface="Arial" charset="0"/>
              </a:endParaRPr>
            </a:p>
          </p:txBody>
        </p:sp>
        <p:sp>
          <p:nvSpPr>
            <p:cNvPr id="11302" name="Rectangle 39"/>
            <p:cNvSpPr>
              <a:spLocks noChangeArrowheads="1"/>
            </p:cNvSpPr>
            <p:nvPr/>
          </p:nvSpPr>
          <p:spPr bwMode="auto">
            <a:xfrm>
              <a:off x="2800" y="2472"/>
              <a:ext cx="793" cy="359"/>
            </a:xfrm>
            <a:prstGeom prst="rect">
              <a:avLst/>
            </a:prstGeom>
            <a:solidFill>
              <a:srgbClr val="FFFFFF"/>
            </a:solidFill>
            <a:ln w="4763">
              <a:solidFill>
                <a:srgbClr val="0000FF"/>
              </a:solidFill>
              <a:miter lim="800000"/>
              <a:headEnd/>
              <a:tailEnd/>
            </a:ln>
          </p:spPr>
          <p:txBody>
            <a:bodyPr/>
            <a:lstStyle/>
            <a:p>
              <a:endParaRPr lang="en-US"/>
            </a:p>
          </p:txBody>
        </p:sp>
        <p:sp>
          <p:nvSpPr>
            <p:cNvPr id="11303" name="Rectangle 40"/>
            <p:cNvSpPr>
              <a:spLocks noChangeArrowheads="1"/>
            </p:cNvSpPr>
            <p:nvPr/>
          </p:nvSpPr>
          <p:spPr bwMode="auto">
            <a:xfrm>
              <a:off x="2875" y="2524"/>
              <a:ext cx="671" cy="239"/>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Prepare drawings and </a:t>
              </a:r>
            </a:p>
            <a:p>
              <a:r>
                <a:rPr lang="en-US" sz="900">
                  <a:solidFill>
                    <a:srgbClr val="000000"/>
                  </a:solidFill>
                  <a:cs typeface="Arial" charset="0"/>
                </a:rPr>
                <a:t>Name electronic files</a:t>
              </a:r>
            </a:p>
            <a:p>
              <a:r>
                <a:rPr lang="en-US" sz="900">
                  <a:solidFill>
                    <a:srgbClr val="000000"/>
                  </a:solidFill>
                  <a:cs typeface="Arial" charset="0"/>
                </a:rPr>
                <a:t>In consistent manner</a:t>
              </a:r>
              <a:endParaRPr lang="en-US">
                <a:cs typeface="Arial" charset="0"/>
              </a:endParaRPr>
            </a:p>
          </p:txBody>
        </p:sp>
        <p:sp>
          <p:nvSpPr>
            <p:cNvPr id="11304" name="Rectangle 41"/>
            <p:cNvSpPr>
              <a:spLocks noChangeArrowheads="1"/>
            </p:cNvSpPr>
            <p:nvPr/>
          </p:nvSpPr>
          <p:spPr bwMode="auto">
            <a:xfrm>
              <a:off x="2857" y="2609"/>
              <a:ext cx="1" cy="161"/>
            </a:xfrm>
            <a:prstGeom prst="rect">
              <a:avLst/>
            </a:prstGeom>
            <a:noFill/>
            <a:ln w="9525">
              <a:noFill/>
              <a:miter lim="800000"/>
              <a:headEnd/>
              <a:tailEnd/>
            </a:ln>
          </p:spPr>
          <p:txBody>
            <a:bodyPr wrap="none" lIns="0" tIns="0" rIns="0" bIns="0">
              <a:spAutoFit/>
            </a:bodyPr>
            <a:lstStyle/>
            <a:p>
              <a:endParaRPr lang="en-US">
                <a:cs typeface="Arial" charset="0"/>
              </a:endParaRPr>
            </a:p>
          </p:txBody>
        </p:sp>
        <p:sp>
          <p:nvSpPr>
            <p:cNvPr id="11305" name="Rectangle 42"/>
            <p:cNvSpPr>
              <a:spLocks noChangeArrowheads="1"/>
            </p:cNvSpPr>
            <p:nvPr/>
          </p:nvSpPr>
          <p:spPr bwMode="auto">
            <a:xfrm>
              <a:off x="3045" y="2694"/>
              <a:ext cx="1" cy="160"/>
            </a:xfrm>
            <a:prstGeom prst="rect">
              <a:avLst/>
            </a:prstGeom>
            <a:noFill/>
            <a:ln w="9525">
              <a:noFill/>
              <a:miter lim="800000"/>
              <a:headEnd/>
              <a:tailEnd/>
            </a:ln>
          </p:spPr>
          <p:txBody>
            <a:bodyPr wrap="none" lIns="0" tIns="0" rIns="0" bIns="0">
              <a:spAutoFit/>
            </a:bodyPr>
            <a:lstStyle/>
            <a:p>
              <a:endParaRPr lang="en-US">
                <a:cs typeface="Arial" charset="0"/>
              </a:endParaRPr>
            </a:p>
          </p:txBody>
        </p:sp>
        <p:sp>
          <p:nvSpPr>
            <p:cNvPr id="11306" name="Line 43"/>
            <p:cNvSpPr>
              <a:spLocks noChangeShapeType="1"/>
            </p:cNvSpPr>
            <p:nvPr/>
          </p:nvSpPr>
          <p:spPr bwMode="auto">
            <a:xfrm>
              <a:off x="1486" y="2592"/>
              <a:ext cx="152" cy="1"/>
            </a:xfrm>
            <a:prstGeom prst="line">
              <a:avLst/>
            </a:prstGeom>
            <a:noFill/>
            <a:ln w="4763">
              <a:solidFill>
                <a:srgbClr val="000000"/>
              </a:solidFill>
              <a:round/>
              <a:headEnd/>
              <a:tailEnd/>
            </a:ln>
          </p:spPr>
          <p:txBody>
            <a:bodyPr/>
            <a:lstStyle/>
            <a:p>
              <a:endParaRPr lang="en-US"/>
            </a:p>
          </p:txBody>
        </p:sp>
        <p:sp>
          <p:nvSpPr>
            <p:cNvPr id="11307" name="Freeform 44"/>
            <p:cNvSpPr>
              <a:spLocks/>
            </p:cNvSpPr>
            <p:nvPr/>
          </p:nvSpPr>
          <p:spPr bwMode="auto">
            <a:xfrm>
              <a:off x="1624" y="2568"/>
              <a:ext cx="60" cy="49"/>
            </a:xfrm>
            <a:custGeom>
              <a:avLst/>
              <a:gdLst>
                <a:gd name="T0" fmla="*/ 60 w 60"/>
                <a:gd name="T1" fmla="*/ 24 h 49"/>
                <a:gd name="T2" fmla="*/ 0 w 60"/>
                <a:gd name="T3" fmla="*/ 49 h 49"/>
                <a:gd name="T4" fmla="*/ 1 w 60"/>
                <a:gd name="T5" fmla="*/ 46 h 49"/>
                <a:gd name="T6" fmla="*/ 2 w 60"/>
                <a:gd name="T7" fmla="*/ 43 h 49"/>
                <a:gd name="T8" fmla="*/ 5 w 60"/>
                <a:gd name="T9" fmla="*/ 37 h 49"/>
                <a:gd name="T10" fmla="*/ 5 w 60"/>
                <a:gd name="T11" fmla="*/ 35 h 49"/>
                <a:gd name="T12" fmla="*/ 6 w 60"/>
                <a:gd name="T13" fmla="*/ 32 h 49"/>
                <a:gd name="T14" fmla="*/ 6 w 60"/>
                <a:gd name="T15" fmla="*/ 17 h 49"/>
                <a:gd name="T16" fmla="*/ 5 w 60"/>
                <a:gd name="T17" fmla="*/ 14 h 49"/>
                <a:gd name="T18" fmla="*/ 5 w 60"/>
                <a:gd name="T19" fmla="*/ 10 h 49"/>
                <a:gd name="T20" fmla="*/ 3 w 60"/>
                <a:gd name="T21" fmla="*/ 8 h 49"/>
                <a:gd name="T22" fmla="*/ 2 w 60"/>
                <a:gd name="T23" fmla="*/ 5 h 49"/>
                <a:gd name="T24" fmla="*/ 1 w 60"/>
                <a:gd name="T25" fmla="*/ 3 h 49"/>
                <a:gd name="T26" fmla="*/ 0 w 60"/>
                <a:gd name="T27" fmla="*/ 0 h 49"/>
                <a:gd name="T28" fmla="*/ 60 w 60"/>
                <a:gd name="T29" fmla="*/ 24 h 4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0"/>
                <a:gd name="T46" fmla="*/ 0 h 49"/>
                <a:gd name="T47" fmla="*/ 60 w 60"/>
                <a:gd name="T48" fmla="*/ 49 h 4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0" h="49">
                  <a:moveTo>
                    <a:pt x="60" y="24"/>
                  </a:moveTo>
                  <a:lnTo>
                    <a:pt x="0" y="49"/>
                  </a:lnTo>
                  <a:lnTo>
                    <a:pt x="1" y="46"/>
                  </a:lnTo>
                  <a:lnTo>
                    <a:pt x="2" y="43"/>
                  </a:lnTo>
                  <a:lnTo>
                    <a:pt x="5" y="37"/>
                  </a:lnTo>
                  <a:lnTo>
                    <a:pt x="5" y="35"/>
                  </a:lnTo>
                  <a:lnTo>
                    <a:pt x="6" y="32"/>
                  </a:lnTo>
                  <a:lnTo>
                    <a:pt x="6" y="17"/>
                  </a:lnTo>
                  <a:lnTo>
                    <a:pt x="5" y="14"/>
                  </a:lnTo>
                  <a:lnTo>
                    <a:pt x="5" y="10"/>
                  </a:lnTo>
                  <a:lnTo>
                    <a:pt x="3" y="8"/>
                  </a:lnTo>
                  <a:lnTo>
                    <a:pt x="2" y="5"/>
                  </a:lnTo>
                  <a:lnTo>
                    <a:pt x="1" y="3"/>
                  </a:lnTo>
                  <a:lnTo>
                    <a:pt x="0" y="0"/>
                  </a:lnTo>
                  <a:lnTo>
                    <a:pt x="60" y="24"/>
                  </a:lnTo>
                  <a:close/>
                </a:path>
              </a:pathLst>
            </a:custGeom>
            <a:solidFill>
              <a:srgbClr val="000000"/>
            </a:solidFill>
            <a:ln w="9525">
              <a:noFill/>
              <a:round/>
              <a:headEnd/>
              <a:tailEnd/>
            </a:ln>
          </p:spPr>
          <p:txBody>
            <a:bodyPr/>
            <a:lstStyle/>
            <a:p>
              <a:endParaRPr lang="en-US"/>
            </a:p>
          </p:txBody>
        </p:sp>
        <p:sp>
          <p:nvSpPr>
            <p:cNvPr id="11308" name="Line 45"/>
            <p:cNvSpPr>
              <a:spLocks noChangeShapeType="1"/>
            </p:cNvSpPr>
            <p:nvPr/>
          </p:nvSpPr>
          <p:spPr bwMode="auto">
            <a:xfrm>
              <a:off x="2576" y="2592"/>
              <a:ext cx="178" cy="1"/>
            </a:xfrm>
            <a:prstGeom prst="line">
              <a:avLst/>
            </a:prstGeom>
            <a:noFill/>
            <a:ln w="4763">
              <a:solidFill>
                <a:srgbClr val="000000"/>
              </a:solidFill>
              <a:round/>
              <a:headEnd/>
              <a:tailEnd/>
            </a:ln>
          </p:spPr>
          <p:txBody>
            <a:bodyPr/>
            <a:lstStyle/>
            <a:p>
              <a:endParaRPr lang="en-US"/>
            </a:p>
          </p:txBody>
        </p:sp>
        <p:sp>
          <p:nvSpPr>
            <p:cNvPr id="11309" name="Freeform 46"/>
            <p:cNvSpPr>
              <a:spLocks/>
            </p:cNvSpPr>
            <p:nvPr/>
          </p:nvSpPr>
          <p:spPr bwMode="auto">
            <a:xfrm>
              <a:off x="2739" y="2568"/>
              <a:ext cx="61" cy="49"/>
            </a:xfrm>
            <a:custGeom>
              <a:avLst/>
              <a:gdLst>
                <a:gd name="T0" fmla="*/ 61 w 61"/>
                <a:gd name="T1" fmla="*/ 24 h 49"/>
                <a:gd name="T2" fmla="*/ 0 w 61"/>
                <a:gd name="T3" fmla="*/ 49 h 49"/>
                <a:gd name="T4" fmla="*/ 2 w 61"/>
                <a:gd name="T5" fmla="*/ 46 h 49"/>
                <a:gd name="T6" fmla="*/ 3 w 61"/>
                <a:gd name="T7" fmla="*/ 43 h 49"/>
                <a:gd name="T8" fmla="*/ 6 w 61"/>
                <a:gd name="T9" fmla="*/ 37 h 49"/>
                <a:gd name="T10" fmla="*/ 6 w 61"/>
                <a:gd name="T11" fmla="*/ 35 h 49"/>
                <a:gd name="T12" fmla="*/ 7 w 61"/>
                <a:gd name="T13" fmla="*/ 32 h 49"/>
                <a:gd name="T14" fmla="*/ 7 w 61"/>
                <a:gd name="T15" fmla="*/ 17 h 49"/>
                <a:gd name="T16" fmla="*/ 6 w 61"/>
                <a:gd name="T17" fmla="*/ 14 h 49"/>
                <a:gd name="T18" fmla="*/ 6 w 61"/>
                <a:gd name="T19" fmla="*/ 10 h 49"/>
                <a:gd name="T20" fmla="*/ 4 w 61"/>
                <a:gd name="T21" fmla="*/ 8 h 49"/>
                <a:gd name="T22" fmla="*/ 3 w 61"/>
                <a:gd name="T23" fmla="*/ 5 h 49"/>
                <a:gd name="T24" fmla="*/ 2 w 61"/>
                <a:gd name="T25" fmla="*/ 3 h 49"/>
                <a:gd name="T26" fmla="*/ 0 w 61"/>
                <a:gd name="T27" fmla="*/ 0 h 49"/>
                <a:gd name="T28" fmla="*/ 61 w 61"/>
                <a:gd name="T29" fmla="*/ 24 h 4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
                <a:gd name="T46" fmla="*/ 0 h 49"/>
                <a:gd name="T47" fmla="*/ 61 w 61"/>
                <a:gd name="T48" fmla="*/ 49 h 4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 h="49">
                  <a:moveTo>
                    <a:pt x="61" y="24"/>
                  </a:moveTo>
                  <a:lnTo>
                    <a:pt x="0" y="49"/>
                  </a:lnTo>
                  <a:lnTo>
                    <a:pt x="2" y="46"/>
                  </a:lnTo>
                  <a:lnTo>
                    <a:pt x="3" y="43"/>
                  </a:lnTo>
                  <a:lnTo>
                    <a:pt x="6" y="37"/>
                  </a:lnTo>
                  <a:lnTo>
                    <a:pt x="6" y="35"/>
                  </a:lnTo>
                  <a:lnTo>
                    <a:pt x="7" y="32"/>
                  </a:lnTo>
                  <a:lnTo>
                    <a:pt x="7" y="17"/>
                  </a:lnTo>
                  <a:lnTo>
                    <a:pt x="6" y="14"/>
                  </a:lnTo>
                  <a:lnTo>
                    <a:pt x="6" y="10"/>
                  </a:lnTo>
                  <a:lnTo>
                    <a:pt x="4" y="8"/>
                  </a:lnTo>
                  <a:lnTo>
                    <a:pt x="3" y="5"/>
                  </a:lnTo>
                  <a:lnTo>
                    <a:pt x="2" y="3"/>
                  </a:lnTo>
                  <a:lnTo>
                    <a:pt x="0" y="0"/>
                  </a:lnTo>
                  <a:lnTo>
                    <a:pt x="61" y="24"/>
                  </a:lnTo>
                  <a:close/>
                </a:path>
              </a:pathLst>
            </a:custGeom>
            <a:solidFill>
              <a:srgbClr val="000000"/>
            </a:solidFill>
            <a:ln w="9525">
              <a:noFill/>
              <a:round/>
              <a:headEnd/>
              <a:tailEnd/>
            </a:ln>
          </p:spPr>
          <p:txBody>
            <a:bodyPr/>
            <a:lstStyle/>
            <a:p>
              <a:endParaRPr lang="en-US"/>
            </a:p>
          </p:txBody>
        </p:sp>
        <p:sp>
          <p:nvSpPr>
            <p:cNvPr id="11310" name="Rectangle 47"/>
            <p:cNvSpPr>
              <a:spLocks noChangeArrowheads="1"/>
            </p:cNvSpPr>
            <p:nvPr/>
          </p:nvSpPr>
          <p:spPr bwMode="auto">
            <a:xfrm>
              <a:off x="3791" y="2354"/>
              <a:ext cx="792" cy="118"/>
            </a:xfrm>
            <a:prstGeom prst="rect">
              <a:avLst/>
            </a:prstGeom>
            <a:solidFill>
              <a:srgbClr val="FFFFFF"/>
            </a:solidFill>
            <a:ln w="4763">
              <a:solidFill>
                <a:srgbClr val="0000FF"/>
              </a:solidFill>
              <a:miter lim="800000"/>
              <a:headEnd/>
              <a:tailEnd/>
            </a:ln>
          </p:spPr>
          <p:txBody>
            <a:bodyPr/>
            <a:lstStyle/>
            <a:p>
              <a:endParaRPr lang="en-US"/>
            </a:p>
          </p:txBody>
        </p:sp>
        <p:sp>
          <p:nvSpPr>
            <p:cNvPr id="11311" name="Rectangle 48"/>
            <p:cNvSpPr>
              <a:spLocks noChangeArrowheads="1"/>
            </p:cNvSpPr>
            <p:nvPr/>
          </p:nvSpPr>
          <p:spPr bwMode="auto">
            <a:xfrm>
              <a:off x="3954" y="2376"/>
              <a:ext cx="617" cy="71"/>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 / Design</a:t>
              </a:r>
              <a:endParaRPr lang="en-US">
                <a:cs typeface="Arial" charset="0"/>
              </a:endParaRPr>
            </a:p>
          </p:txBody>
        </p:sp>
        <p:sp>
          <p:nvSpPr>
            <p:cNvPr id="11312" name="Rectangle 49"/>
            <p:cNvSpPr>
              <a:spLocks noChangeArrowheads="1"/>
            </p:cNvSpPr>
            <p:nvPr/>
          </p:nvSpPr>
          <p:spPr bwMode="auto">
            <a:xfrm>
              <a:off x="3791" y="2472"/>
              <a:ext cx="792" cy="359"/>
            </a:xfrm>
            <a:prstGeom prst="rect">
              <a:avLst/>
            </a:prstGeom>
            <a:solidFill>
              <a:srgbClr val="FFFFFF"/>
            </a:solidFill>
            <a:ln w="4763">
              <a:solidFill>
                <a:srgbClr val="0000FF"/>
              </a:solidFill>
              <a:miter lim="800000"/>
              <a:headEnd/>
              <a:tailEnd/>
            </a:ln>
          </p:spPr>
          <p:txBody>
            <a:bodyPr/>
            <a:lstStyle/>
            <a:p>
              <a:endParaRPr lang="en-US"/>
            </a:p>
          </p:txBody>
        </p:sp>
        <p:sp>
          <p:nvSpPr>
            <p:cNvPr id="11313" name="Rectangle 50"/>
            <p:cNvSpPr>
              <a:spLocks noChangeArrowheads="1"/>
            </p:cNvSpPr>
            <p:nvPr/>
          </p:nvSpPr>
          <p:spPr bwMode="auto">
            <a:xfrm>
              <a:off x="3858" y="2524"/>
              <a:ext cx="497"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Ensure drawings</a:t>
              </a:r>
              <a:endParaRPr lang="en-US">
                <a:cs typeface="Arial" charset="0"/>
              </a:endParaRPr>
            </a:p>
          </p:txBody>
        </p:sp>
        <p:sp>
          <p:nvSpPr>
            <p:cNvPr id="11314" name="Rectangle 51"/>
            <p:cNvSpPr>
              <a:spLocks noChangeArrowheads="1"/>
            </p:cNvSpPr>
            <p:nvPr/>
          </p:nvSpPr>
          <p:spPr bwMode="auto">
            <a:xfrm>
              <a:off x="3862" y="2609"/>
              <a:ext cx="490"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contain a unique</a:t>
              </a:r>
              <a:endParaRPr lang="en-US">
                <a:cs typeface="Arial" charset="0"/>
              </a:endParaRPr>
            </a:p>
          </p:txBody>
        </p:sp>
        <p:sp>
          <p:nvSpPr>
            <p:cNvPr id="11315" name="Rectangle 52"/>
            <p:cNvSpPr>
              <a:spLocks noChangeArrowheads="1"/>
            </p:cNvSpPr>
            <p:nvPr/>
          </p:nvSpPr>
          <p:spPr bwMode="auto">
            <a:xfrm>
              <a:off x="3872" y="2694"/>
              <a:ext cx="474" cy="79"/>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revision number</a:t>
              </a:r>
              <a:endParaRPr lang="en-US">
                <a:cs typeface="Arial" charset="0"/>
              </a:endParaRPr>
            </a:p>
          </p:txBody>
        </p:sp>
        <p:sp>
          <p:nvSpPr>
            <p:cNvPr id="11316" name="Line 53"/>
            <p:cNvSpPr>
              <a:spLocks noChangeShapeType="1"/>
            </p:cNvSpPr>
            <p:nvPr/>
          </p:nvSpPr>
          <p:spPr bwMode="auto">
            <a:xfrm>
              <a:off x="3593" y="2592"/>
              <a:ext cx="151" cy="1"/>
            </a:xfrm>
            <a:prstGeom prst="line">
              <a:avLst/>
            </a:prstGeom>
            <a:noFill/>
            <a:ln w="4763">
              <a:solidFill>
                <a:srgbClr val="000000"/>
              </a:solidFill>
              <a:round/>
              <a:headEnd/>
              <a:tailEnd/>
            </a:ln>
          </p:spPr>
          <p:txBody>
            <a:bodyPr/>
            <a:lstStyle/>
            <a:p>
              <a:endParaRPr lang="en-US"/>
            </a:p>
          </p:txBody>
        </p:sp>
        <p:sp>
          <p:nvSpPr>
            <p:cNvPr id="11317" name="Freeform 54"/>
            <p:cNvSpPr>
              <a:spLocks/>
            </p:cNvSpPr>
            <p:nvPr/>
          </p:nvSpPr>
          <p:spPr bwMode="auto">
            <a:xfrm>
              <a:off x="3730" y="2568"/>
              <a:ext cx="61" cy="49"/>
            </a:xfrm>
            <a:custGeom>
              <a:avLst/>
              <a:gdLst>
                <a:gd name="T0" fmla="*/ 61 w 61"/>
                <a:gd name="T1" fmla="*/ 24 h 49"/>
                <a:gd name="T2" fmla="*/ 0 w 61"/>
                <a:gd name="T3" fmla="*/ 49 h 49"/>
                <a:gd name="T4" fmla="*/ 1 w 61"/>
                <a:gd name="T5" fmla="*/ 46 h 49"/>
                <a:gd name="T6" fmla="*/ 3 w 61"/>
                <a:gd name="T7" fmla="*/ 43 h 49"/>
                <a:gd name="T8" fmla="*/ 5 w 61"/>
                <a:gd name="T9" fmla="*/ 37 h 49"/>
                <a:gd name="T10" fmla="*/ 5 w 61"/>
                <a:gd name="T11" fmla="*/ 35 h 49"/>
                <a:gd name="T12" fmla="*/ 7 w 61"/>
                <a:gd name="T13" fmla="*/ 32 h 49"/>
                <a:gd name="T14" fmla="*/ 7 w 61"/>
                <a:gd name="T15" fmla="*/ 17 h 49"/>
                <a:gd name="T16" fmla="*/ 5 w 61"/>
                <a:gd name="T17" fmla="*/ 14 h 49"/>
                <a:gd name="T18" fmla="*/ 5 w 61"/>
                <a:gd name="T19" fmla="*/ 10 h 49"/>
                <a:gd name="T20" fmla="*/ 4 w 61"/>
                <a:gd name="T21" fmla="*/ 8 h 49"/>
                <a:gd name="T22" fmla="*/ 3 w 61"/>
                <a:gd name="T23" fmla="*/ 5 h 49"/>
                <a:gd name="T24" fmla="*/ 1 w 61"/>
                <a:gd name="T25" fmla="*/ 3 h 49"/>
                <a:gd name="T26" fmla="*/ 0 w 61"/>
                <a:gd name="T27" fmla="*/ 0 h 49"/>
                <a:gd name="T28" fmla="*/ 61 w 61"/>
                <a:gd name="T29" fmla="*/ 24 h 4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
                <a:gd name="T46" fmla="*/ 0 h 49"/>
                <a:gd name="T47" fmla="*/ 61 w 61"/>
                <a:gd name="T48" fmla="*/ 49 h 4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 h="49">
                  <a:moveTo>
                    <a:pt x="61" y="24"/>
                  </a:moveTo>
                  <a:lnTo>
                    <a:pt x="0" y="49"/>
                  </a:lnTo>
                  <a:lnTo>
                    <a:pt x="1" y="46"/>
                  </a:lnTo>
                  <a:lnTo>
                    <a:pt x="3" y="43"/>
                  </a:lnTo>
                  <a:lnTo>
                    <a:pt x="5" y="37"/>
                  </a:lnTo>
                  <a:lnTo>
                    <a:pt x="5" y="35"/>
                  </a:lnTo>
                  <a:lnTo>
                    <a:pt x="7" y="32"/>
                  </a:lnTo>
                  <a:lnTo>
                    <a:pt x="7" y="17"/>
                  </a:lnTo>
                  <a:lnTo>
                    <a:pt x="5" y="14"/>
                  </a:lnTo>
                  <a:lnTo>
                    <a:pt x="5" y="10"/>
                  </a:lnTo>
                  <a:lnTo>
                    <a:pt x="4" y="8"/>
                  </a:lnTo>
                  <a:lnTo>
                    <a:pt x="3" y="5"/>
                  </a:lnTo>
                  <a:lnTo>
                    <a:pt x="1" y="3"/>
                  </a:lnTo>
                  <a:lnTo>
                    <a:pt x="0" y="0"/>
                  </a:lnTo>
                  <a:lnTo>
                    <a:pt x="61" y="24"/>
                  </a:lnTo>
                  <a:close/>
                </a:path>
              </a:pathLst>
            </a:custGeom>
            <a:solidFill>
              <a:srgbClr val="000000"/>
            </a:solidFill>
            <a:ln w="9525">
              <a:noFill/>
              <a:round/>
              <a:headEnd/>
              <a:tailEnd/>
            </a:ln>
          </p:spPr>
          <p:txBody>
            <a:bodyPr/>
            <a:lstStyle/>
            <a:p>
              <a:endParaRPr lang="en-US"/>
            </a:p>
          </p:txBody>
        </p:sp>
        <p:sp>
          <p:nvSpPr>
            <p:cNvPr id="11318" name="Freeform 55"/>
            <p:cNvSpPr>
              <a:spLocks/>
            </p:cNvSpPr>
            <p:nvPr/>
          </p:nvSpPr>
          <p:spPr bwMode="auto">
            <a:xfrm>
              <a:off x="731" y="2364"/>
              <a:ext cx="124" cy="99"/>
            </a:xfrm>
            <a:custGeom>
              <a:avLst/>
              <a:gdLst>
                <a:gd name="T0" fmla="*/ 0 w 124"/>
                <a:gd name="T1" fmla="*/ 49 h 99"/>
                <a:gd name="T2" fmla="*/ 2 w 124"/>
                <a:gd name="T3" fmla="*/ 35 h 99"/>
                <a:gd name="T4" fmla="*/ 9 w 124"/>
                <a:gd name="T5" fmla="*/ 22 h 99"/>
                <a:gd name="T6" fmla="*/ 21 w 124"/>
                <a:gd name="T7" fmla="*/ 12 h 99"/>
                <a:gd name="T8" fmla="*/ 35 w 124"/>
                <a:gd name="T9" fmla="*/ 4 h 99"/>
                <a:gd name="T10" fmla="*/ 52 w 124"/>
                <a:gd name="T11" fmla="*/ 0 h 99"/>
                <a:gd name="T12" fmla="*/ 71 w 124"/>
                <a:gd name="T13" fmla="*/ 0 h 99"/>
                <a:gd name="T14" fmla="*/ 87 w 124"/>
                <a:gd name="T15" fmla="*/ 4 h 99"/>
                <a:gd name="T16" fmla="*/ 102 w 124"/>
                <a:gd name="T17" fmla="*/ 12 h 99"/>
                <a:gd name="T18" fmla="*/ 113 w 124"/>
                <a:gd name="T19" fmla="*/ 22 h 99"/>
                <a:gd name="T20" fmla="*/ 121 w 124"/>
                <a:gd name="T21" fmla="*/ 35 h 99"/>
                <a:gd name="T22" fmla="*/ 124 w 124"/>
                <a:gd name="T23" fmla="*/ 49 h 99"/>
                <a:gd name="T24" fmla="*/ 121 w 124"/>
                <a:gd name="T25" fmla="*/ 63 h 99"/>
                <a:gd name="T26" fmla="*/ 113 w 124"/>
                <a:gd name="T27" fmla="*/ 77 h 99"/>
                <a:gd name="T28" fmla="*/ 102 w 124"/>
                <a:gd name="T29" fmla="*/ 87 h 99"/>
                <a:gd name="T30" fmla="*/ 87 w 124"/>
                <a:gd name="T31" fmla="*/ 95 h 99"/>
                <a:gd name="T32" fmla="*/ 71 w 124"/>
                <a:gd name="T33" fmla="*/ 99 h 99"/>
                <a:gd name="T34" fmla="*/ 52 w 124"/>
                <a:gd name="T35" fmla="*/ 99 h 99"/>
                <a:gd name="T36" fmla="*/ 35 w 124"/>
                <a:gd name="T37" fmla="*/ 95 h 99"/>
                <a:gd name="T38" fmla="*/ 21 w 124"/>
                <a:gd name="T39" fmla="*/ 87 h 99"/>
                <a:gd name="T40" fmla="*/ 9 w 124"/>
                <a:gd name="T41" fmla="*/ 77 h 99"/>
                <a:gd name="T42" fmla="*/ 2 w 124"/>
                <a:gd name="T43" fmla="*/ 63 h 99"/>
                <a:gd name="T44" fmla="*/ 0 w 124"/>
                <a:gd name="T45" fmla="*/ 49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99"/>
                <a:gd name="T71" fmla="*/ 124 w 124"/>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99">
                  <a:moveTo>
                    <a:pt x="0" y="49"/>
                  </a:moveTo>
                  <a:lnTo>
                    <a:pt x="2" y="35"/>
                  </a:lnTo>
                  <a:lnTo>
                    <a:pt x="9" y="22"/>
                  </a:lnTo>
                  <a:lnTo>
                    <a:pt x="21" y="12"/>
                  </a:lnTo>
                  <a:lnTo>
                    <a:pt x="35" y="4"/>
                  </a:lnTo>
                  <a:lnTo>
                    <a:pt x="52" y="0"/>
                  </a:lnTo>
                  <a:lnTo>
                    <a:pt x="71" y="0"/>
                  </a:lnTo>
                  <a:lnTo>
                    <a:pt x="87" y="4"/>
                  </a:lnTo>
                  <a:lnTo>
                    <a:pt x="102" y="12"/>
                  </a:lnTo>
                  <a:lnTo>
                    <a:pt x="113" y="22"/>
                  </a:lnTo>
                  <a:lnTo>
                    <a:pt x="121" y="35"/>
                  </a:lnTo>
                  <a:lnTo>
                    <a:pt x="124" y="49"/>
                  </a:lnTo>
                  <a:lnTo>
                    <a:pt x="121" y="63"/>
                  </a:lnTo>
                  <a:lnTo>
                    <a:pt x="113" y="77"/>
                  </a:lnTo>
                  <a:lnTo>
                    <a:pt x="102" y="87"/>
                  </a:lnTo>
                  <a:lnTo>
                    <a:pt x="87" y="95"/>
                  </a:lnTo>
                  <a:lnTo>
                    <a:pt x="71" y="99"/>
                  </a:lnTo>
                  <a:lnTo>
                    <a:pt x="52" y="99"/>
                  </a:lnTo>
                  <a:lnTo>
                    <a:pt x="35" y="95"/>
                  </a:lnTo>
                  <a:lnTo>
                    <a:pt x="21" y="87"/>
                  </a:lnTo>
                  <a:lnTo>
                    <a:pt x="9" y="77"/>
                  </a:lnTo>
                  <a:lnTo>
                    <a:pt x="2" y="63"/>
                  </a:lnTo>
                  <a:lnTo>
                    <a:pt x="0" y="49"/>
                  </a:lnTo>
                  <a:close/>
                </a:path>
              </a:pathLst>
            </a:custGeom>
            <a:solidFill>
              <a:srgbClr val="00FFFF"/>
            </a:solidFill>
            <a:ln w="9525">
              <a:noFill/>
              <a:round/>
              <a:headEnd/>
              <a:tailEnd/>
            </a:ln>
          </p:spPr>
          <p:txBody>
            <a:bodyPr/>
            <a:lstStyle/>
            <a:p>
              <a:endParaRPr lang="en-US"/>
            </a:p>
          </p:txBody>
        </p:sp>
        <p:sp>
          <p:nvSpPr>
            <p:cNvPr id="11319" name="Rectangle 56"/>
            <p:cNvSpPr>
              <a:spLocks noChangeArrowheads="1"/>
            </p:cNvSpPr>
            <p:nvPr/>
          </p:nvSpPr>
          <p:spPr bwMode="auto">
            <a:xfrm>
              <a:off x="774" y="2381"/>
              <a:ext cx="29"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1</a:t>
              </a:r>
              <a:endParaRPr lang="en-US">
                <a:cs typeface="Arial" charset="0"/>
              </a:endParaRPr>
            </a:p>
          </p:txBody>
        </p:sp>
        <p:sp>
          <p:nvSpPr>
            <p:cNvPr id="11320" name="Freeform 57"/>
            <p:cNvSpPr>
              <a:spLocks/>
            </p:cNvSpPr>
            <p:nvPr/>
          </p:nvSpPr>
          <p:spPr bwMode="auto">
            <a:xfrm>
              <a:off x="2812" y="2364"/>
              <a:ext cx="124" cy="99"/>
            </a:xfrm>
            <a:custGeom>
              <a:avLst/>
              <a:gdLst>
                <a:gd name="T0" fmla="*/ 0 w 124"/>
                <a:gd name="T1" fmla="*/ 49 h 99"/>
                <a:gd name="T2" fmla="*/ 3 w 124"/>
                <a:gd name="T3" fmla="*/ 35 h 99"/>
                <a:gd name="T4" fmla="*/ 10 w 124"/>
                <a:gd name="T5" fmla="*/ 22 h 99"/>
                <a:gd name="T6" fmla="*/ 21 w 124"/>
                <a:gd name="T7" fmla="*/ 12 h 99"/>
                <a:gd name="T8" fmla="*/ 36 w 124"/>
                <a:gd name="T9" fmla="*/ 4 h 99"/>
                <a:gd name="T10" fmla="*/ 53 w 124"/>
                <a:gd name="T11" fmla="*/ 0 h 99"/>
                <a:gd name="T12" fmla="*/ 71 w 124"/>
                <a:gd name="T13" fmla="*/ 0 h 99"/>
                <a:gd name="T14" fmla="*/ 87 w 124"/>
                <a:gd name="T15" fmla="*/ 4 h 99"/>
                <a:gd name="T16" fmla="*/ 103 w 124"/>
                <a:gd name="T17" fmla="*/ 12 h 99"/>
                <a:gd name="T18" fmla="*/ 113 w 124"/>
                <a:gd name="T19" fmla="*/ 22 h 99"/>
                <a:gd name="T20" fmla="*/ 121 w 124"/>
                <a:gd name="T21" fmla="*/ 35 h 99"/>
                <a:gd name="T22" fmla="*/ 124 w 124"/>
                <a:gd name="T23" fmla="*/ 49 h 99"/>
                <a:gd name="T24" fmla="*/ 121 w 124"/>
                <a:gd name="T25" fmla="*/ 63 h 99"/>
                <a:gd name="T26" fmla="*/ 113 w 124"/>
                <a:gd name="T27" fmla="*/ 77 h 99"/>
                <a:gd name="T28" fmla="*/ 103 w 124"/>
                <a:gd name="T29" fmla="*/ 87 h 99"/>
                <a:gd name="T30" fmla="*/ 87 w 124"/>
                <a:gd name="T31" fmla="*/ 95 h 99"/>
                <a:gd name="T32" fmla="*/ 71 w 124"/>
                <a:gd name="T33" fmla="*/ 99 h 99"/>
                <a:gd name="T34" fmla="*/ 53 w 124"/>
                <a:gd name="T35" fmla="*/ 99 h 99"/>
                <a:gd name="T36" fmla="*/ 36 w 124"/>
                <a:gd name="T37" fmla="*/ 95 h 99"/>
                <a:gd name="T38" fmla="*/ 21 w 124"/>
                <a:gd name="T39" fmla="*/ 87 h 99"/>
                <a:gd name="T40" fmla="*/ 10 w 124"/>
                <a:gd name="T41" fmla="*/ 77 h 99"/>
                <a:gd name="T42" fmla="*/ 3 w 124"/>
                <a:gd name="T43" fmla="*/ 63 h 99"/>
                <a:gd name="T44" fmla="*/ 0 w 124"/>
                <a:gd name="T45" fmla="*/ 49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99"/>
                <a:gd name="T71" fmla="*/ 124 w 124"/>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99">
                  <a:moveTo>
                    <a:pt x="0" y="49"/>
                  </a:moveTo>
                  <a:lnTo>
                    <a:pt x="3" y="35"/>
                  </a:lnTo>
                  <a:lnTo>
                    <a:pt x="10" y="22"/>
                  </a:lnTo>
                  <a:lnTo>
                    <a:pt x="21" y="12"/>
                  </a:lnTo>
                  <a:lnTo>
                    <a:pt x="36" y="4"/>
                  </a:lnTo>
                  <a:lnTo>
                    <a:pt x="53" y="0"/>
                  </a:lnTo>
                  <a:lnTo>
                    <a:pt x="71" y="0"/>
                  </a:lnTo>
                  <a:lnTo>
                    <a:pt x="87" y="4"/>
                  </a:lnTo>
                  <a:lnTo>
                    <a:pt x="103" y="12"/>
                  </a:lnTo>
                  <a:lnTo>
                    <a:pt x="113" y="22"/>
                  </a:lnTo>
                  <a:lnTo>
                    <a:pt x="121" y="35"/>
                  </a:lnTo>
                  <a:lnTo>
                    <a:pt x="124" y="49"/>
                  </a:lnTo>
                  <a:lnTo>
                    <a:pt x="121" y="63"/>
                  </a:lnTo>
                  <a:lnTo>
                    <a:pt x="113" y="77"/>
                  </a:lnTo>
                  <a:lnTo>
                    <a:pt x="103" y="87"/>
                  </a:lnTo>
                  <a:lnTo>
                    <a:pt x="87" y="95"/>
                  </a:lnTo>
                  <a:lnTo>
                    <a:pt x="71" y="99"/>
                  </a:lnTo>
                  <a:lnTo>
                    <a:pt x="53" y="99"/>
                  </a:lnTo>
                  <a:lnTo>
                    <a:pt x="36" y="95"/>
                  </a:lnTo>
                  <a:lnTo>
                    <a:pt x="21" y="87"/>
                  </a:lnTo>
                  <a:lnTo>
                    <a:pt x="10" y="77"/>
                  </a:lnTo>
                  <a:lnTo>
                    <a:pt x="3" y="63"/>
                  </a:lnTo>
                  <a:lnTo>
                    <a:pt x="0" y="49"/>
                  </a:lnTo>
                  <a:close/>
                </a:path>
              </a:pathLst>
            </a:custGeom>
            <a:solidFill>
              <a:srgbClr val="00FFFF"/>
            </a:solidFill>
            <a:ln w="9525">
              <a:noFill/>
              <a:round/>
              <a:headEnd/>
              <a:tailEnd/>
            </a:ln>
          </p:spPr>
          <p:txBody>
            <a:bodyPr/>
            <a:lstStyle/>
            <a:p>
              <a:endParaRPr lang="en-US"/>
            </a:p>
          </p:txBody>
        </p:sp>
        <p:sp>
          <p:nvSpPr>
            <p:cNvPr id="11321" name="Rectangle 58"/>
            <p:cNvSpPr>
              <a:spLocks noChangeArrowheads="1"/>
            </p:cNvSpPr>
            <p:nvPr/>
          </p:nvSpPr>
          <p:spPr bwMode="auto">
            <a:xfrm>
              <a:off x="2855" y="2381"/>
              <a:ext cx="29"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3</a:t>
              </a:r>
              <a:endParaRPr lang="en-US">
                <a:cs typeface="Arial" charset="0"/>
              </a:endParaRPr>
            </a:p>
          </p:txBody>
        </p:sp>
        <p:sp>
          <p:nvSpPr>
            <p:cNvPr id="11322" name="Freeform 59"/>
            <p:cNvSpPr>
              <a:spLocks/>
            </p:cNvSpPr>
            <p:nvPr/>
          </p:nvSpPr>
          <p:spPr bwMode="auto">
            <a:xfrm>
              <a:off x="3802" y="2364"/>
              <a:ext cx="124" cy="99"/>
            </a:xfrm>
            <a:custGeom>
              <a:avLst/>
              <a:gdLst>
                <a:gd name="T0" fmla="*/ 0 w 124"/>
                <a:gd name="T1" fmla="*/ 49 h 99"/>
                <a:gd name="T2" fmla="*/ 3 w 124"/>
                <a:gd name="T3" fmla="*/ 35 h 99"/>
                <a:gd name="T4" fmla="*/ 11 w 124"/>
                <a:gd name="T5" fmla="*/ 22 h 99"/>
                <a:gd name="T6" fmla="*/ 22 w 124"/>
                <a:gd name="T7" fmla="*/ 12 h 99"/>
                <a:gd name="T8" fmla="*/ 37 w 124"/>
                <a:gd name="T9" fmla="*/ 4 h 99"/>
                <a:gd name="T10" fmla="*/ 53 w 124"/>
                <a:gd name="T11" fmla="*/ 0 h 99"/>
                <a:gd name="T12" fmla="*/ 72 w 124"/>
                <a:gd name="T13" fmla="*/ 0 h 99"/>
                <a:gd name="T14" fmla="*/ 88 w 124"/>
                <a:gd name="T15" fmla="*/ 4 h 99"/>
                <a:gd name="T16" fmla="*/ 103 w 124"/>
                <a:gd name="T17" fmla="*/ 12 h 99"/>
                <a:gd name="T18" fmla="*/ 114 w 124"/>
                <a:gd name="T19" fmla="*/ 22 h 99"/>
                <a:gd name="T20" fmla="*/ 122 w 124"/>
                <a:gd name="T21" fmla="*/ 35 h 99"/>
                <a:gd name="T22" fmla="*/ 124 w 124"/>
                <a:gd name="T23" fmla="*/ 49 h 99"/>
                <a:gd name="T24" fmla="*/ 122 w 124"/>
                <a:gd name="T25" fmla="*/ 63 h 99"/>
                <a:gd name="T26" fmla="*/ 114 w 124"/>
                <a:gd name="T27" fmla="*/ 77 h 99"/>
                <a:gd name="T28" fmla="*/ 103 w 124"/>
                <a:gd name="T29" fmla="*/ 87 h 99"/>
                <a:gd name="T30" fmla="*/ 88 w 124"/>
                <a:gd name="T31" fmla="*/ 95 h 99"/>
                <a:gd name="T32" fmla="*/ 72 w 124"/>
                <a:gd name="T33" fmla="*/ 99 h 99"/>
                <a:gd name="T34" fmla="*/ 53 w 124"/>
                <a:gd name="T35" fmla="*/ 99 h 99"/>
                <a:gd name="T36" fmla="*/ 37 w 124"/>
                <a:gd name="T37" fmla="*/ 95 h 99"/>
                <a:gd name="T38" fmla="*/ 22 w 124"/>
                <a:gd name="T39" fmla="*/ 87 h 99"/>
                <a:gd name="T40" fmla="*/ 11 w 124"/>
                <a:gd name="T41" fmla="*/ 77 h 99"/>
                <a:gd name="T42" fmla="*/ 3 w 124"/>
                <a:gd name="T43" fmla="*/ 63 h 99"/>
                <a:gd name="T44" fmla="*/ 0 w 124"/>
                <a:gd name="T45" fmla="*/ 49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99"/>
                <a:gd name="T71" fmla="*/ 124 w 124"/>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99">
                  <a:moveTo>
                    <a:pt x="0" y="49"/>
                  </a:moveTo>
                  <a:lnTo>
                    <a:pt x="3" y="35"/>
                  </a:lnTo>
                  <a:lnTo>
                    <a:pt x="11" y="22"/>
                  </a:lnTo>
                  <a:lnTo>
                    <a:pt x="22" y="12"/>
                  </a:lnTo>
                  <a:lnTo>
                    <a:pt x="37" y="4"/>
                  </a:lnTo>
                  <a:lnTo>
                    <a:pt x="53" y="0"/>
                  </a:lnTo>
                  <a:lnTo>
                    <a:pt x="72" y="0"/>
                  </a:lnTo>
                  <a:lnTo>
                    <a:pt x="88" y="4"/>
                  </a:lnTo>
                  <a:lnTo>
                    <a:pt x="103" y="12"/>
                  </a:lnTo>
                  <a:lnTo>
                    <a:pt x="114" y="22"/>
                  </a:lnTo>
                  <a:lnTo>
                    <a:pt x="122" y="35"/>
                  </a:lnTo>
                  <a:lnTo>
                    <a:pt x="124" y="49"/>
                  </a:lnTo>
                  <a:lnTo>
                    <a:pt x="122" y="63"/>
                  </a:lnTo>
                  <a:lnTo>
                    <a:pt x="114" y="77"/>
                  </a:lnTo>
                  <a:lnTo>
                    <a:pt x="103" y="87"/>
                  </a:lnTo>
                  <a:lnTo>
                    <a:pt x="88" y="95"/>
                  </a:lnTo>
                  <a:lnTo>
                    <a:pt x="72" y="99"/>
                  </a:lnTo>
                  <a:lnTo>
                    <a:pt x="53" y="99"/>
                  </a:lnTo>
                  <a:lnTo>
                    <a:pt x="37" y="95"/>
                  </a:lnTo>
                  <a:lnTo>
                    <a:pt x="22" y="87"/>
                  </a:lnTo>
                  <a:lnTo>
                    <a:pt x="11" y="77"/>
                  </a:lnTo>
                  <a:lnTo>
                    <a:pt x="3" y="63"/>
                  </a:lnTo>
                  <a:lnTo>
                    <a:pt x="0" y="49"/>
                  </a:lnTo>
                  <a:close/>
                </a:path>
              </a:pathLst>
            </a:custGeom>
            <a:solidFill>
              <a:srgbClr val="00FFFF"/>
            </a:solidFill>
            <a:ln w="9525">
              <a:noFill/>
              <a:round/>
              <a:headEnd/>
              <a:tailEnd/>
            </a:ln>
          </p:spPr>
          <p:txBody>
            <a:bodyPr/>
            <a:lstStyle/>
            <a:p>
              <a:endParaRPr lang="en-US"/>
            </a:p>
          </p:txBody>
        </p:sp>
        <p:sp>
          <p:nvSpPr>
            <p:cNvPr id="11323" name="Rectangle 60"/>
            <p:cNvSpPr>
              <a:spLocks noChangeArrowheads="1"/>
            </p:cNvSpPr>
            <p:nvPr/>
          </p:nvSpPr>
          <p:spPr bwMode="auto">
            <a:xfrm>
              <a:off x="3846" y="2381"/>
              <a:ext cx="28"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4</a:t>
              </a:r>
              <a:endParaRPr lang="en-US">
                <a:cs typeface="Arial" charset="0"/>
              </a:endParaRPr>
            </a:p>
          </p:txBody>
        </p:sp>
        <p:sp>
          <p:nvSpPr>
            <p:cNvPr id="11324" name="Freeform 61"/>
            <p:cNvSpPr>
              <a:spLocks/>
            </p:cNvSpPr>
            <p:nvPr/>
          </p:nvSpPr>
          <p:spPr bwMode="auto">
            <a:xfrm>
              <a:off x="1746" y="2364"/>
              <a:ext cx="126" cy="99"/>
            </a:xfrm>
            <a:custGeom>
              <a:avLst/>
              <a:gdLst>
                <a:gd name="T0" fmla="*/ 0 w 126"/>
                <a:gd name="T1" fmla="*/ 49 h 99"/>
                <a:gd name="T2" fmla="*/ 3 w 126"/>
                <a:gd name="T3" fmla="*/ 35 h 99"/>
                <a:gd name="T4" fmla="*/ 9 w 126"/>
                <a:gd name="T5" fmla="*/ 22 h 99"/>
                <a:gd name="T6" fmla="*/ 21 w 126"/>
                <a:gd name="T7" fmla="*/ 12 h 99"/>
                <a:gd name="T8" fmla="*/ 36 w 126"/>
                <a:gd name="T9" fmla="*/ 4 h 99"/>
                <a:gd name="T10" fmla="*/ 53 w 126"/>
                <a:gd name="T11" fmla="*/ 0 h 99"/>
                <a:gd name="T12" fmla="*/ 71 w 126"/>
                <a:gd name="T13" fmla="*/ 0 h 99"/>
                <a:gd name="T14" fmla="*/ 89 w 126"/>
                <a:gd name="T15" fmla="*/ 4 h 99"/>
                <a:gd name="T16" fmla="*/ 103 w 126"/>
                <a:gd name="T17" fmla="*/ 12 h 99"/>
                <a:gd name="T18" fmla="*/ 115 w 126"/>
                <a:gd name="T19" fmla="*/ 22 h 99"/>
                <a:gd name="T20" fmla="*/ 123 w 126"/>
                <a:gd name="T21" fmla="*/ 35 h 99"/>
                <a:gd name="T22" fmla="*/ 126 w 126"/>
                <a:gd name="T23" fmla="*/ 49 h 99"/>
                <a:gd name="T24" fmla="*/ 123 w 126"/>
                <a:gd name="T25" fmla="*/ 63 h 99"/>
                <a:gd name="T26" fmla="*/ 115 w 126"/>
                <a:gd name="T27" fmla="*/ 77 h 99"/>
                <a:gd name="T28" fmla="*/ 103 w 126"/>
                <a:gd name="T29" fmla="*/ 87 h 99"/>
                <a:gd name="T30" fmla="*/ 89 w 126"/>
                <a:gd name="T31" fmla="*/ 95 h 99"/>
                <a:gd name="T32" fmla="*/ 71 w 126"/>
                <a:gd name="T33" fmla="*/ 99 h 99"/>
                <a:gd name="T34" fmla="*/ 53 w 126"/>
                <a:gd name="T35" fmla="*/ 99 h 99"/>
                <a:gd name="T36" fmla="*/ 36 w 126"/>
                <a:gd name="T37" fmla="*/ 95 h 99"/>
                <a:gd name="T38" fmla="*/ 21 w 126"/>
                <a:gd name="T39" fmla="*/ 87 h 99"/>
                <a:gd name="T40" fmla="*/ 9 w 126"/>
                <a:gd name="T41" fmla="*/ 77 h 99"/>
                <a:gd name="T42" fmla="*/ 3 w 126"/>
                <a:gd name="T43" fmla="*/ 63 h 99"/>
                <a:gd name="T44" fmla="*/ 0 w 126"/>
                <a:gd name="T45" fmla="*/ 49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6"/>
                <a:gd name="T70" fmla="*/ 0 h 99"/>
                <a:gd name="T71" fmla="*/ 126 w 126"/>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6" h="99">
                  <a:moveTo>
                    <a:pt x="0" y="49"/>
                  </a:moveTo>
                  <a:lnTo>
                    <a:pt x="3" y="35"/>
                  </a:lnTo>
                  <a:lnTo>
                    <a:pt x="9" y="22"/>
                  </a:lnTo>
                  <a:lnTo>
                    <a:pt x="21" y="12"/>
                  </a:lnTo>
                  <a:lnTo>
                    <a:pt x="36" y="4"/>
                  </a:lnTo>
                  <a:lnTo>
                    <a:pt x="53" y="0"/>
                  </a:lnTo>
                  <a:lnTo>
                    <a:pt x="71" y="0"/>
                  </a:lnTo>
                  <a:lnTo>
                    <a:pt x="89" y="4"/>
                  </a:lnTo>
                  <a:lnTo>
                    <a:pt x="103" y="12"/>
                  </a:lnTo>
                  <a:lnTo>
                    <a:pt x="115" y="22"/>
                  </a:lnTo>
                  <a:lnTo>
                    <a:pt x="123" y="35"/>
                  </a:lnTo>
                  <a:lnTo>
                    <a:pt x="126" y="49"/>
                  </a:lnTo>
                  <a:lnTo>
                    <a:pt x="123" y="63"/>
                  </a:lnTo>
                  <a:lnTo>
                    <a:pt x="115" y="77"/>
                  </a:lnTo>
                  <a:lnTo>
                    <a:pt x="103" y="87"/>
                  </a:lnTo>
                  <a:lnTo>
                    <a:pt x="89" y="95"/>
                  </a:lnTo>
                  <a:lnTo>
                    <a:pt x="71" y="99"/>
                  </a:lnTo>
                  <a:lnTo>
                    <a:pt x="53" y="99"/>
                  </a:lnTo>
                  <a:lnTo>
                    <a:pt x="36" y="95"/>
                  </a:lnTo>
                  <a:lnTo>
                    <a:pt x="21" y="87"/>
                  </a:lnTo>
                  <a:lnTo>
                    <a:pt x="9" y="77"/>
                  </a:lnTo>
                  <a:lnTo>
                    <a:pt x="3" y="63"/>
                  </a:lnTo>
                  <a:lnTo>
                    <a:pt x="0" y="49"/>
                  </a:lnTo>
                  <a:close/>
                </a:path>
              </a:pathLst>
            </a:custGeom>
            <a:solidFill>
              <a:srgbClr val="00FFFF"/>
            </a:solidFill>
            <a:ln w="9525">
              <a:noFill/>
              <a:round/>
              <a:headEnd/>
              <a:tailEnd/>
            </a:ln>
          </p:spPr>
          <p:txBody>
            <a:bodyPr/>
            <a:lstStyle/>
            <a:p>
              <a:endParaRPr lang="en-US"/>
            </a:p>
          </p:txBody>
        </p:sp>
        <p:sp>
          <p:nvSpPr>
            <p:cNvPr id="11325" name="Rectangle 62"/>
            <p:cNvSpPr>
              <a:spLocks noChangeArrowheads="1"/>
            </p:cNvSpPr>
            <p:nvPr/>
          </p:nvSpPr>
          <p:spPr bwMode="auto">
            <a:xfrm>
              <a:off x="1790" y="2381"/>
              <a:ext cx="29"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2</a:t>
              </a:r>
              <a:endParaRPr lang="en-US">
                <a:cs typeface="Arial" charset="0"/>
              </a:endParaRPr>
            </a:p>
          </p:txBody>
        </p:sp>
        <p:sp>
          <p:nvSpPr>
            <p:cNvPr id="11326" name="Rectangle 63"/>
            <p:cNvSpPr>
              <a:spLocks noChangeArrowheads="1"/>
            </p:cNvSpPr>
            <p:nvPr/>
          </p:nvSpPr>
          <p:spPr bwMode="auto">
            <a:xfrm>
              <a:off x="1116" y="3083"/>
              <a:ext cx="792" cy="119"/>
            </a:xfrm>
            <a:prstGeom prst="rect">
              <a:avLst/>
            </a:prstGeom>
            <a:solidFill>
              <a:srgbClr val="FFFFFF"/>
            </a:solidFill>
            <a:ln w="4763">
              <a:solidFill>
                <a:srgbClr val="0000FF"/>
              </a:solidFill>
              <a:miter lim="800000"/>
              <a:headEnd/>
              <a:tailEnd/>
            </a:ln>
          </p:spPr>
          <p:txBody>
            <a:bodyPr/>
            <a:lstStyle/>
            <a:p>
              <a:endParaRPr lang="en-US"/>
            </a:p>
          </p:txBody>
        </p:sp>
        <p:sp>
          <p:nvSpPr>
            <p:cNvPr id="11327" name="Rectangle 64"/>
            <p:cNvSpPr>
              <a:spLocks noChangeArrowheads="1"/>
            </p:cNvSpPr>
            <p:nvPr/>
          </p:nvSpPr>
          <p:spPr bwMode="auto">
            <a:xfrm>
              <a:off x="1279" y="3106"/>
              <a:ext cx="617"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 / Design</a:t>
              </a:r>
              <a:endParaRPr lang="en-US">
                <a:cs typeface="Arial" charset="0"/>
              </a:endParaRPr>
            </a:p>
          </p:txBody>
        </p:sp>
        <p:sp>
          <p:nvSpPr>
            <p:cNvPr id="11328" name="Rectangle 65"/>
            <p:cNvSpPr>
              <a:spLocks noChangeArrowheads="1"/>
            </p:cNvSpPr>
            <p:nvPr/>
          </p:nvSpPr>
          <p:spPr bwMode="auto">
            <a:xfrm>
              <a:off x="1116" y="3202"/>
              <a:ext cx="792" cy="358"/>
            </a:xfrm>
            <a:prstGeom prst="rect">
              <a:avLst/>
            </a:prstGeom>
            <a:solidFill>
              <a:srgbClr val="FFFFFF"/>
            </a:solidFill>
            <a:ln w="4763">
              <a:solidFill>
                <a:srgbClr val="0000FF"/>
              </a:solidFill>
              <a:miter lim="800000"/>
              <a:headEnd/>
              <a:tailEnd/>
            </a:ln>
          </p:spPr>
          <p:txBody>
            <a:bodyPr/>
            <a:lstStyle/>
            <a:p>
              <a:endParaRPr lang="en-US"/>
            </a:p>
          </p:txBody>
        </p:sp>
        <p:sp>
          <p:nvSpPr>
            <p:cNvPr id="11329" name="Rectangle 66"/>
            <p:cNvSpPr>
              <a:spLocks noChangeArrowheads="1"/>
            </p:cNvSpPr>
            <p:nvPr/>
          </p:nvSpPr>
          <p:spPr bwMode="auto">
            <a:xfrm>
              <a:off x="1180" y="3253"/>
              <a:ext cx="501"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Perform required</a:t>
              </a:r>
              <a:endParaRPr lang="en-US">
                <a:cs typeface="Arial" charset="0"/>
              </a:endParaRPr>
            </a:p>
          </p:txBody>
        </p:sp>
        <p:sp>
          <p:nvSpPr>
            <p:cNvPr id="11330" name="Rectangle 67"/>
            <p:cNvSpPr>
              <a:spLocks noChangeArrowheads="1"/>
            </p:cNvSpPr>
            <p:nvPr/>
          </p:nvSpPr>
          <p:spPr bwMode="auto">
            <a:xfrm>
              <a:off x="1287" y="3338"/>
              <a:ext cx="337"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checks and</a:t>
              </a:r>
              <a:endParaRPr lang="en-US">
                <a:cs typeface="Arial" charset="0"/>
              </a:endParaRPr>
            </a:p>
          </p:txBody>
        </p:sp>
        <p:sp>
          <p:nvSpPr>
            <p:cNvPr id="11331" name="Rectangle 68"/>
            <p:cNvSpPr>
              <a:spLocks noChangeArrowheads="1"/>
            </p:cNvSpPr>
            <p:nvPr/>
          </p:nvSpPr>
          <p:spPr bwMode="auto">
            <a:xfrm>
              <a:off x="1362" y="3423"/>
              <a:ext cx="226"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reviews</a:t>
              </a:r>
              <a:endParaRPr lang="en-US">
                <a:cs typeface="Arial" charset="0"/>
              </a:endParaRPr>
            </a:p>
          </p:txBody>
        </p:sp>
        <p:sp>
          <p:nvSpPr>
            <p:cNvPr id="11332" name="Freeform 69"/>
            <p:cNvSpPr>
              <a:spLocks/>
            </p:cNvSpPr>
            <p:nvPr/>
          </p:nvSpPr>
          <p:spPr bwMode="auto">
            <a:xfrm>
              <a:off x="1128" y="3094"/>
              <a:ext cx="124" cy="98"/>
            </a:xfrm>
            <a:custGeom>
              <a:avLst/>
              <a:gdLst>
                <a:gd name="T0" fmla="*/ 0 w 124"/>
                <a:gd name="T1" fmla="*/ 49 h 98"/>
                <a:gd name="T2" fmla="*/ 2 w 124"/>
                <a:gd name="T3" fmla="*/ 35 h 98"/>
                <a:gd name="T4" fmla="*/ 9 w 124"/>
                <a:gd name="T5" fmla="*/ 22 h 98"/>
                <a:gd name="T6" fmla="*/ 21 w 124"/>
                <a:gd name="T7" fmla="*/ 12 h 98"/>
                <a:gd name="T8" fmla="*/ 35 w 124"/>
                <a:gd name="T9" fmla="*/ 4 h 98"/>
                <a:gd name="T10" fmla="*/ 52 w 124"/>
                <a:gd name="T11" fmla="*/ 0 h 98"/>
                <a:gd name="T12" fmla="*/ 71 w 124"/>
                <a:gd name="T13" fmla="*/ 0 h 98"/>
                <a:gd name="T14" fmla="*/ 87 w 124"/>
                <a:gd name="T15" fmla="*/ 4 h 98"/>
                <a:gd name="T16" fmla="*/ 102 w 124"/>
                <a:gd name="T17" fmla="*/ 12 h 98"/>
                <a:gd name="T18" fmla="*/ 113 w 124"/>
                <a:gd name="T19" fmla="*/ 22 h 98"/>
                <a:gd name="T20" fmla="*/ 121 w 124"/>
                <a:gd name="T21" fmla="*/ 35 h 98"/>
                <a:gd name="T22" fmla="*/ 124 w 124"/>
                <a:gd name="T23" fmla="*/ 49 h 98"/>
                <a:gd name="T24" fmla="*/ 121 w 124"/>
                <a:gd name="T25" fmla="*/ 63 h 98"/>
                <a:gd name="T26" fmla="*/ 113 w 124"/>
                <a:gd name="T27" fmla="*/ 75 h 98"/>
                <a:gd name="T28" fmla="*/ 102 w 124"/>
                <a:gd name="T29" fmla="*/ 86 h 98"/>
                <a:gd name="T30" fmla="*/ 87 w 124"/>
                <a:gd name="T31" fmla="*/ 93 h 98"/>
                <a:gd name="T32" fmla="*/ 71 w 124"/>
                <a:gd name="T33" fmla="*/ 98 h 98"/>
                <a:gd name="T34" fmla="*/ 52 w 124"/>
                <a:gd name="T35" fmla="*/ 98 h 98"/>
                <a:gd name="T36" fmla="*/ 35 w 124"/>
                <a:gd name="T37" fmla="*/ 93 h 98"/>
                <a:gd name="T38" fmla="*/ 21 w 124"/>
                <a:gd name="T39" fmla="*/ 86 h 98"/>
                <a:gd name="T40" fmla="*/ 9 w 124"/>
                <a:gd name="T41" fmla="*/ 75 h 98"/>
                <a:gd name="T42" fmla="*/ 2 w 124"/>
                <a:gd name="T43" fmla="*/ 63 h 98"/>
                <a:gd name="T44" fmla="*/ 0 w 124"/>
                <a:gd name="T45" fmla="*/ 49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98"/>
                <a:gd name="T71" fmla="*/ 124 w 124"/>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98">
                  <a:moveTo>
                    <a:pt x="0" y="49"/>
                  </a:moveTo>
                  <a:lnTo>
                    <a:pt x="2" y="35"/>
                  </a:lnTo>
                  <a:lnTo>
                    <a:pt x="9" y="22"/>
                  </a:lnTo>
                  <a:lnTo>
                    <a:pt x="21" y="12"/>
                  </a:lnTo>
                  <a:lnTo>
                    <a:pt x="35" y="4"/>
                  </a:lnTo>
                  <a:lnTo>
                    <a:pt x="52" y="0"/>
                  </a:lnTo>
                  <a:lnTo>
                    <a:pt x="71" y="0"/>
                  </a:lnTo>
                  <a:lnTo>
                    <a:pt x="87" y="4"/>
                  </a:lnTo>
                  <a:lnTo>
                    <a:pt x="102" y="12"/>
                  </a:lnTo>
                  <a:lnTo>
                    <a:pt x="113" y="22"/>
                  </a:lnTo>
                  <a:lnTo>
                    <a:pt x="121" y="35"/>
                  </a:lnTo>
                  <a:lnTo>
                    <a:pt x="124" y="49"/>
                  </a:lnTo>
                  <a:lnTo>
                    <a:pt x="121" y="63"/>
                  </a:lnTo>
                  <a:lnTo>
                    <a:pt x="113" y="75"/>
                  </a:lnTo>
                  <a:lnTo>
                    <a:pt x="102" y="86"/>
                  </a:lnTo>
                  <a:lnTo>
                    <a:pt x="87" y="93"/>
                  </a:lnTo>
                  <a:lnTo>
                    <a:pt x="71" y="98"/>
                  </a:lnTo>
                  <a:lnTo>
                    <a:pt x="52" y="98"/>
                  </a:lnTo>
                  <a:lnTo>
                    <a:pt x="35" y="93"/>
                  </a:lnTo>
                  <a:lnTo>
                    <a:pt x="21" y="86"/>
                  </a:lnTo>
                  <a:lnTo>
                    <a:pt x="9" y="75"/>
                  </a:lnTo>
                  <a:lnTo>
                    <a:pt x="2" y="63"/>
                  </a:lnTo>
                  <a:lnTo>
                    <a:pt x="0" y="49"/>
                  </a:lnTo>
                  <a:close/>
                </a:path>
              </a:pathLst>
            </a:custGeom>
            <a:solidFill>
              <a:srgbClr val="00FFFF"/>
            </a:solidFill>
            <a:ln w="9525">
              <a:noFill/>
              <a:round/>
              <a:headEnd/>
              <a:tailEnd/>
            </a:ln>
          </p:spPr>
          <p:txBody>
            <a:bodyPr/>
            <a:lstStyle/>
            <a:p>
              <a:endParaRPr lang="en-US"/>
            </a:p>
          </p:txBody>
        </p:sp>
        <p:sp>
          <p:nvSpPr>
            <p:cNvPr id="11333" name="Rectangle 70"/>
            <p:cNvSpPr>
              <a:spLocks noChangeArrowheads="1"/>
            </p:cNvSpPr>
            <p:nvPr/>
          </p:nvSpPr>
          <p:spPr bwMode="auto">
            <a:xfrm>
              <a:off x="1171" y="3111"/>
              <a:ext cx="28"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5</a:t>
              </a:r>
              <a:endParaRPr lang="en-US">
                <a:cs typeface="Arial" charset="0"/>
              </a:endParaRPr>
            </a:p>
          </p:txBody>
        </p:sp>
        <p:sp>
          <p:nvSpPr>
            <p:cNvPr id="11334" name="Line 71"/>
            <p:cNvSpPr>
              <a:spLocks noChangeShapeType="1"/>
            </p:cNvSpPr>
            <p:nvPr/>
          </p:nvSpPr>
          <p:spPr bwMode="auto">
            <a:xfrm>
              <a:off x="1908" y="3321"/>
              <a:ext cx="152" cy="1"/>
            </a:xfrm>
            <a:prstGeom prst="line">
              <a:avLst/>
            </a:prstGeom>
            <a:noFill/>
            <a:ln w="4763">
              <a:solidFill>
                <a:srgbClr val="000000"/>
              </a:solidFill>
              <a:round/>
              <a:headEnd/>
              <a:tailEnd/>
            </a:ln>
          </p:spPr>
          <p:txBody>
            <a:bodyPr/>
            <a:lstStyle/>
            <a:p>
              <a:endParaRPr lang="en-US"/>
            </a:p>
          </p:txBody>
        </p:sp>
        <p:sp>
          <p:nvSpPr>
            <p:cNvPr id="11335" name="Freeform 72"/>
            <p:cNvSpPr>
              <a:spLocks/>
            </p:cNvSpPr>
            <p:nvPr/>
          </p:nvSpPr>
          <p:spPr bwMode="auto">
            <a:xfrm>
              <a:off x="2046" y="3297"/>
              <a:ext cx="60" cy="48"/>
            </a:xfrm>
            <a:custGeom>
              <a:avLst/>
              <a:gdLst>
                <a:gd name="T0" fmla="*/ 60 w 60"/>
                <a:gd name="T1" fmla="*/ 24 h 48"/>
                <a:gd name="T2" fmla="*/ 0 w 60"/>
                <a:gd name="T3" fmla="*/ 48 h 48"/>
                <a:gd name="T4" fmla="*/ 1 w 60"/>
                <a:gd name="T5" fmla="*/ 45 h 48"/>
                <a:gd name="T6" fmla="*/ 2 w 60"/>
                <a:gd name="T7" fmla="*/ 43 h 48"/>
                <a:gd name="T8" fmla="*/ 4 w 60"/>
                <a:gd name="T9" fmla="*/ 40 h 48"/>
                <a:gd name="T10" fmla="*/ 5 w 60"/>
                <a:gd name="T11" fmla="*/ 38 h 48"/>
                <a:gd name="T12" fmla="*/ 5 w 60"/>
                <a:gd name="T13" fmla="*/ 35 h 48"/>
                <a:gd name="T14" fmla="*/ 6 w 60"/>
                <a:gd name="T15" fmla="*/ 32 h 48"/>
                <a:gd name="T16" fmla="*/ 6 w 60"/>
                <a:gd name="T17" fmla="*/ 17 h 48"/>
                <a:gd name="T18" fmla="*/ 5 w 60"/>
                <a:gd name="T19" fmla="*/ 13 h 48"/>
                <a:gd name="T20" fmla="*/ 5 w 60"/>
                <a:gd name="T21" fmla="*/ 11 h 48"/>
                <a:gd name="T22" fmla="*/ 2 w 60"/>
                <a:gd name="T23" fmla="*/ 5 h 48"/>
                <a:gd name="T24" fmla="*/ 1 w 60"/>
                <a:gd name="T25" fmla="*/ 3 h 48"/>
                <a:gd name="T26" fmla="*/ 0 w 60"/>
                <a:gd name="T27" fmla="*/ 0 h 48"/>
                <a:gd name="T28" fmla="*/ 60 w 60"/>
                <a:gd name="T29" fmla="*/ 24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0"/>
                <a:gd name="T46" fmla="*/ 0 h 48"/>
                <a:gd name="T47" fmla="*/ 60 w 60"/>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0" h="48">
                  <a:moveTo>
                    <a:pt x="60" y="24"/>
                  </a:moveTo>
                  <a:lnTo>
                    <a:pt x="0" y="48"/>
                  </a:lnTo>
                  <a:lnTo>
                    <a:pt x="1" y="45"/>
                  </a:lnTo>
                  <a:lnTo>
                    <a:pt x="2" y="43"/>
                  </a:lnTo>
                  <a:lnTo>
                    <a:pt x="4" y="40"/>
                  </a:lnTo>
                  <a:lnTo>
                    <a:pt x="5" y="38"/>
                  </a:lnTo>
                  <a:lnTo>
                    <a:pt x="5" y="35"/>
                  </a:lnTo>
                  <a:lnTo>
                    <a:pt x="6" y="32"/>
                  </a:lnTo>
                  <a:lnTo>
                    <a:pt x="6" y="17"/>
                  </a:lnTo>
                  <a:lnTo>
                    <a:pt x="5" y="13"/>
                  </a:lnTo>
                  <a:lnTo>
                    <a:pt x="5" y="11"/>
                  </a:lnTo>
                  <a:lnTo>
                    <a:pt x="2" y="5"/>
                  </a:lnTo>
                  <a:lnTo>
                    <a:pt x="1" y="3"/>
                  </a:lnTo>
                  <a:lnTo>
                    <a:pt x="0" y="0"/>
                  </a:lnTo>
                  <a:lnTo>
                    <a:pt x="60" y="24"/>
                  </a:lnTo>
                  <a:close/>
                </a:path>
              </a:pathLst>
            </a:custGeom>
            <a:solidFill>
              <a:srgbClr val="000000"/>
            </a:solidFill>
            <a:ln w="9525">
              <a:noFill/>
              <a:round/>
              <a:headEnd/>
              <a:tailEnd/>
            </a:ln>
          </p:spPr>
          <p:txBody>
            <a:bodyPr/>
            <a:lstStyle/>
            <a:p>
              <a:endParaRPr lang="en-US"/>
            </a:p>
          </p:txBody>
        </p:sp>
        <p:sp>
          <p:nvSpPr>
            <p:cNvPr id="11336" name="Rectangle 73"/>
            <p:cNvSpPr>
              <a:spLocks noChangeArrowheads="1"/>
            </p:cNvSpPr>
            <p:nvPr/>
          </p:nvSpPr>
          <p:spPr bwMode="auto">
            <a:xfrm>
              <a:off x="4211" y="3083"/>
              <a:ext cx="793" cy="119"/>
            </a:xfrm>
            <a:prstGeom prst="rect">
              <a:avLst/>
            </a:prstGeom>
            <a:solidFill>
              <a:srgbClr val="FFFFFF"/>
            </a:solidFill>
            <a:ln w="4763">
              <a:solidFill>
                <a:srgbClr val="0000FF"/>
              </a:solidFill>
              <a:miter lim="800000"/>
              <a:headEnd/>
              <a:tailEnd/>
            </a:ln>
          </p:spPr>
          <p:txBody>
            <a:bodyPr/>
            <a:lstStyle/>
            <a:p>
              <a:endParaRPr lang="en-US"/>
            </a:p>
          </p:txBody>
        </p:sp>
        <p:sp>
          <p:nvSpPr>
            <p:cNvPr id="11337" name="Rectangle 74"/>
            <p:cNvSpPr>
              <a:spLocks noChangeArrowheads="1"/>
            </p:cNvSpPr>
            <p:nvPr/>
          </p:nvSpPr>
          <p:spPr bwMode="auto">
            <a:xfrm>
              <a:off x="4376" y="3106"/>
              <a:ext cx="617"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 / Design</a:t>
              </a:r>
              <a:endParaRPr lang="en-US">
                <a:cs typeface="Arial" charset="0"/>
              </a:endParaRPr>
            </a:p>
          </p:txBody>
        </p:sp>
        <p:sp>
          <p:nvSpPr>
            <p:cNvPr id="11338" name="Rectangle 75"/>
            <p:cNvSpPr>
              <a:spLocks noChangeArrowheads="1"/>
            </p:cNvSpPr>
            <p:nvPr/>
          </p:nvSpPr>
          <p:spPr bwMode="auto">
            <a:xfrm>
              <a:off x="4211" y="3202"/>
              <a:ext cx="793" cy="358"/>
            </a:xfrm>
            <a:prstGeom prst="rect">
              <a:avLst/>
            </a:prstGeom>
            <a:solidFill>
              <a:srgbClr val="FFFFFF"/>
            </a:solidFill>
            <a:ln w="4763">
              <a:solidFill>
                <a:srgbClr val="0000FF"/>
              </a:solidFill>
              <a:miter lim="800000"/>
              <a:headEnd/>
              <a:tailEnd/>
            </a:ln>
          </p:spPr>
          <p:txBody>
            <a:bodyPr/>
            <a:lstStyle/>
            <a:p>
              <a:endParaRPr lang="en-US"/>
            </a:p>
          </p:txBody>
        </p:sp>
        <p:sp>
          <p:nvSpPr>
            <p:cNvPr id="11339" name="Rectangle 76"/>
            <p:cNvSpPr>
              <a:spLocks noChangeArrowheads="1"/>
            </p:cNvSpPr>
            <p:nvPr/>
          </p:nvSpPr>
          <p:spPr bwMode="auto">
            <a:xfrm>
              <a:off x="4284" y="3295"/>
              <a:ext cx="490"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Revise drawings</a:t>
              </a:r>
              <a:endParaRPr lang="en-US">
                <a:cs typeface="Arial" charset="0"/>
              </a:endParaRPr>
            </a:p>
          </p:txBody>
        </p:sp>
        <p:sp>
          <p:nvSpPr>
            <p:cNvPr id="11340" name="Rectangle 77"/>
            <p:cNvSpPr>
              <a:spLocks noChangeArrowheads="1"/>
            </p:cNvSpPr>
            <p:nvPr/>
          </p:nvSpPr>
          <p:spPr bwMode="auto">
            <a:xfrm>
              <a:off x="4412" y="3380"/>
              <a:ext cx="297" cy="80"/>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if required</a:t>
              </a:r>
              <a:endParaRPr lang="en-US">
                <a:cs typeface="Arial" charset="0"/>
              </a:endParaRPr>
            </a:p>
          </p:txBody>
        </p:sp>
        <p:sp>
          <p:nvSpPr>
            <p:cNvPr id="11341" name="Line 78"/>
            <p:cNvSpPr>
              <a:spLocks noChangeShapeType="1"/>
            </p:cNvSpPr>
            <p:nvPr/>
          </p:nvSpPr>
          <p:spPr bwMode="auto">
            <a:xfrm>
              <a:off x="4014" y="3321"/>
              <a:ext cx="151" cy="1"/>
            </a:xfrm>
            <a:prstGeom prst="line">
              <a:avLst/>
            </a:prstGeom>
            <a:noFill/>
            <a:ln w="4763">
              <a:solidFill>
                <a:srgbClr val="000000"/>
              </a:solidFill>
              <a:round/>
              <a:headEnd/>
              <a:tailEnd/>
            </a:ln>
          </p:spPr>
          <p:txBody>
            <a:bodyPr/>
            <a:lstStyle/>
            <a:p>
              <a:endParaRPr lang="en-US"/>
            </a:p>
          </p:txBody>
        </p:sp>
        <p:sp>
          <p:nvSpPr>
            <p:cNvPr id="11342" name="Freeform 79"/>
            <p:cNvSpPr>
              <a:spLocks/>
            </p:cNvSpPr>
            <p:nvPr/>
          </p:nvSpPr>
          <p:spPr bwMode="auto">
            <a:xfrm>
              <a:off x="4151" y="3297"/>
              <a:ext cx="60" cy="48"/>
            </a:xfrm>
            <a:custGeom>
              <a:avLst/>
              <a:gdLst>
                <a:gd name="T0" fmla="*/ 60 w 60"/>
                <a:gd name="T1" fmla="*/ 24 h 48"/>
                <a:gd name="T2" fmla="*/ 0 w 60"/>
                <a:gd name="T3" fmla="*/ 48 h 48"/>
                <a:gd name="T4" fmla="*/ 1 w 60"/>
                <a:gd name="T5" fmla="*/ 45 h 48"/>
                <a:gd name="T6" fmla="*/ 2 w 60"/>
                <a:gd name="T7" fmla="*/ 43 h 48"/>
                <a:gd name="T8" fmla="*/ 4 w 60"/>
                <a:gd name="T9" fmla="*/ 40 h 48"/>
                <a:gd name="T10" fmla="*/ 4 w 60"/>
                <a:gd name="T11" fmla="*/ 38 h 48"/>
                <a:gd name="T12" fmla="*/ 5 w 60"/>
                <a:gd name="T13" fmla="*/ 35 h 48"/>
                <a:gd name="T14" fmla="*/ 5 w 60"/>
                <a:gd name="T15" fmla="*/ 32 h 48"/>
                <a:gd name="T16" fmla="*/ 6 w 60"/>
                <a:gd name="T17" fmla="*/ 28 h 48"/>
                <a:gd name="T18" fmla="*/ 6 w 60"/>
                <a:gd name="T19" fmla="*/ 20 h 48"/>
                <a:gd name="T20" fmla="*/ 5 w 60"/>
                <a:gd name="T21" fmla="*/ 17 h 48"/>
                <a:gd name="T22" fmla="*/ 5 w 60"/>
                <a:gd name="T23" fmla="*/ 13 h 48"/>
                <a:gd name="T24" fmla="*/ 4 w 60"/>
                <a:gd name="T25" fmla="*/ 11 h 48"/>
                <a:gd name="T26" fmla="*/ 4 w 60"/>
                <a:gd name="T27" fmla="*/ 8 h 48"/>
                <a:gd name="T28" fmla="*/ 2 w 60"/>
                <a:gd name="T29" fmla="*/ 5 h 48"/>
                <a:gd name="T30" fmla="*/ 1 w 60"/>
                <a:gd name="T31" fmla="*/ 3 h 48"/>
                <a:gd name="T32" fmla="*/ 0 w 60"/>
                <a:gd name="T33" fmla="*/ 0 h 48"/>
                <a:gd name="T34" fmla="*/ 60 w 60"/>
                <a:gd name="T35" fmla="*/ 24 h 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48"/>
                <a:gd name="T56" fmla="*/ 60 w 60"/>
                <a:gd name="T57" fmla="*/ 48 h 4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48">
                  <a:moveTo>
                    <a:pt x="60" y="24"/>
                  </a:moveTo>
                  <a:lnTo>
                    <a:pt x="0" y="48"/>
                  </a:lnTo>
                  <a:lnTo>
                    <a:pt x="1" y="45"/>
                  </a:lnTo>
                  <a:lnTo>
                    <a:pt x="2" y="43"/>
                  </a:lnTo>
                  <a:lnTo>
                    <a:pt x="4" y="40"/>
                  </a:lnTo>
                  <a:lnTo>
                    <a:pt x="4" y="38"/>
                  </a:lnTo>
                  <a:lnTo>
                    <a:pt x="5" y="35"/>
                  </a:lnTo>
                  <a:lnTo>
                    <a:pt x="5" y="32"/>
                  </a:lnTo>
                  <a:lnTo>
                    <a:pt x="6" y="28"/>
                  </a:lnTo>
                  <a:lnTo>
                    <a:pt x="6" y="20"/>
                  </a:lnTo>
                  <a:lnTo>
                    <a:pt x="5" y="17"/>
                  </a:lnTo>
                  <a:lnTo>
                    <a:pt x="5" y="13"/>
                  </a:lnTo>
                  <a:lnTo>
                    <a:pt x="4" y="11"/>
                  </a:lnTo>
                  <a:lnTo>
                    <a:pt x="4" y="8"/>
                  </a:lnTo>
                  <a:lnTo>
                    <a:pt x="2" y="5"/>
                  </a:lnTo>
                  <a:lnTo>
                    <a:pt x="1" y="3"/>
                  </a:lnTo>
                  <a:lnTo>
                    <a:pt x="0" y="0"/>
                  </a:lnTo>
                  <a:lnTo>
                    <a:pt x="60" y="24"/>
                  </a:lnTo>
                  <a:close/>
                </a:path>
              </a:pathLst>
            </a:custGeom>
            <a:solidFill>
              <a:srgbClr val="000000"/>
            </a:solidFill>
            <a:ln w="9525">
              <a:noFill/>
              <a:round/>
              <a:headEnd/>
              <a:tailEnd/>
            </a:ln>
          </p:spPr>
          <p:txBody>
            <a:bodyPr/>
            <a:lstStyle/>
            <a:p>
              <a:endParaRPr lang="en-US"/>
            </a:p>
          </p:txBody>
        </p:sp>
        <p:sp>
          <p:nvSpPr>
            <p:cNvPr id="11343" name="Freeform 80"/>
            <p:cNvSpPr>
              <a:spLocks/>
            </p:cNvSpPr>
            <p:nvPr/>
          </p:nvSpPr>
          <p:spPr bwMode="auto">
            <a:xfrm>
              <a:off x="4223" y="3094"/>
              <a:ext cx="126" cy="98"/>
            </a:xfrm>
            <a:custGeom>
              <a:avLst/>
              <a:gdLst>
                <a:gd name="T0" fmla="*/ 0 w 126"/>
                <a:gd name="T1" fmla="*/ 49 h 98"/>
                <a:gd name="T2" fmla="*/ 3 w 126"/>
                <a:gd name="T3" fmla="*/ 35 h 98"/>
                <a:gd name="T4" fmla="*/ 9 w 126"/>
                <a:gd name="T5" fmla="*/ 22 h 98"/>
                <a:gd name="T6" fmla="*/ 21 w 126"/>
                <a:gd name="T7" fmla="*/ 12 h 98"/>
                <a:gd name="T8" fmla="*/ 36 w 126"/>
                <a:gd name="T9" fmla="*/ 4 h 98"/>
                <a:gd name="T10" fmla="*/ 53 w 126"/>
                <a:gd name="T11" fmla="*/ 0 h 98"/>
                <a:gd name="T12" fmla="*/ 71 w 126"/>
                <a:gd name="T13" fmla="*/ 0 h 98"/>
                <a:gd name="T14" fmla="*/ 89 w 126"/>
                <a:gd name="T15" fmla="*/ 4 h 98"/>
                <a:gd name="T16" fmla="*/ 103 w 126"/>
                <a:gd name="T17" fmla="*/ 12 h 98"/>
                <a:gd name="T18" fmla="*/ 115 w 126"/>
                <a:gd name="T19" fmla="*/ 22 h 98"/>
                <a:gd name="T20" fmla="*/ 123 w 126"/>
                <a:gd name="T21" fmla="*/ 35 h 98"/>
                <a:gd name="T22" fmla="*/ 126 w 126"/>
                <a:gd name="T23" fmla="*/ 49 h 98"/>
                <a:gd name="T24" fmla="*/ 123 w 126"/>
                <a:gd name="T25" fmla="*/ 63 h 98"/>
                <a:gd name="T26" fmla="*/ 115 w 126"/>
                <a:gd name="T27" fmla="*/ 75 h 98"/>
                <a:gd name="T28" fmla="*/ 103 w 126"/>
                <a:gd name="T29" fmla="*/ 86 h 98"/>
                <a:gd name="T30" fmla="*/ 89 w 126"/>
                <a:gd name="T31" fmla="*/ 93 h 98"/>
                <a:gd name="T32" fmla="*/ 71 w 126"/>
                <a:gd name="T33" fmla="*/ 98 h 98"/>
                <a:gd name="T34" fmla="*/ 53 w 126"/>
                <a:gd name="T35" fmla="*/ 98 h 98"/>
                <a:gd name="T36" fmla="*/ 36 w 126"/>
                <a:gd name="T37" fmla="*/ 93 h 98"/>
                <a:gd name="T38" fmla="*/ 21 w 126"/>
                <a:gd name="T39" fmla="*/ 86 h 98"/>
                <a:gd name="T40" fmla="*/ 9 w 126"/>
                <a:gd name="T41" fmla="*/ 75 h 98"/>
                <a:gd name="T42" fmla="*/ 3 w 126"/>
                <a:gd name="T43" fmla="*/ 63 h 98"/>
                <a:gd name="T44" fmla="*/ 0 w 126"/>
                <a:gd name="T45" fmla="*/ 49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6"/>
                <a:gd name="T70" fmla="*/ 0 h 98"/>
                <a:gd name="T71" fmla="*/ 126 w 126"/>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6" h="98">
                  <a:moveTo>
                    <a:pt x="0" y="49"/>
                  </a:moveTo>
                  <a:lnTo>
                    <a:pt x="3" y="35"/>
                  </a:lnTo>
                  <a:lnTo>
                    <a:pt x="9" y="22"/>
                  </a:lnTo>
                  <a:lnTo>
                    <a:pt x="21" y="12"/>
                  </a:lnTo>
                  <a:lnTo>
                    <a:pt x="36" y="4"/>
                  </a:lnTo>
                  <a:lnTo>
                    <a:pt x="53" y="0"/>
                  </a:lnTo>
                  <a:lnTo>
                    <a:pt x="71" y="0"/>
                  </a:lnTo>
                  <a:lnTo>
                    <a:pt x="89" y="4"/>
                  </a:lnTo>
                  <a:lnTo>
                    <a:pt x="103" y="12"/>
                  </a:lnTo>
                  <a:lnTo>
                    <a:pt x="115" y="22"/>
                  </a:lnTo>
                  <a:lnTo>
                    <a:pt x="123" y="35"/>
                  </a:lnTo>
                  <a:lnTo>
                    <a:pt x="126" y="49"/>
                  </a:lnTo>
                  <a:lnTo>
                    <a:pt x="123" y="63"/>
                  </a:lnTo>
                  <a:lnTo>
                    <a:pt x="115" y="75"/>
                  </a:lnTo>
                  <a:lnTo>
                    <a:pt x="103" y="86"/>
                  </a:lnTo>
                  <a:lnTo>
                    <a:pt x="89" y="93"/>
                  </a:lnTo>
                  <a:lnTo>
                    <a:pt x="71" y="98"/>
                  </a:lnTo>
                  <a:lnTo>
                    <a:pt x="53" y="98"/>
                  </a:lnTo>
                  <a:lnTo>
                    <a:pt x="36" y="93"/>
                  </a:lnTo>
                  <a:lnTo>
                    <a:pt x="21" y="86"/>
                  </a:lnTo>
                  <a:lnTo>
                    <a:pt x="9" y="75"/>
                  </a:lnTo>
                  <a:lnTo>
                    <a:pt x="3" y="63"/>
                  </a:lnTo>
                  <a:lnTo>
                    <a:pt x="0" y="49"/>
                  </a:lnTo>
                  <a:close/>
                </a:path>
              </a:pathLst>
            </a:custGeom>
            <a:solidFill>
              <a:srgbClr val="00FFFF"/>
            </a:solidFill>
            <a:ln w="9525">
              <a:noFill/>
              <a:round/>
              <a:headEnd/>
              <a:tailEnd/>
            </a:ln>
          </p:spPr>
          <p:txBody>
            <a:bodyPr/>
            <a:lstStyle/>
            <a:p>
              <a:endParaRPr lang="en-US"/>
            </a:p>
          </p:txBody>
        </p:sp>
        <p:sp>
          <p:nvSpPr>
            <p:cNvPr id="11344" name="Rectangle 81"/>
            <p:cNvSpPr>
              <a:spLocks noChangeArrowheads="1"/>
            </p:cNvSpPr>
            <p:nvPr/>
          </p:nvSpPr>
          <p:spPr bwMode="auto">
            <a:xfrm>
              <a:off x="4267" y="3111"/>
              <a:ext cx="28"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8</a:t>
              </a:r>
              <a:endParaRPr lang="en-US">
                <a:cs typeface="Arial" charset="0"/>
              </a:endParaRPr>
            </a:p>
          </p:txBody>
        </p:sp>
        <p:sp>
          <p:nvSpPr>
            <p:cNvPr id="11345" name="Freeform 82"/>
            <p:cNvSpPr>
              <a:spLocks/>
            </p:cNvSpPr>
            <p:nvPr/>
          </p:nvSpPr>
          <p:spPr bwMode="auto">
            <a:xfrm>
              <a:off x="1481" y="2831"/>
              <a:ext cx="2721" cy="209"/>
            </a:xfrm>
            <a:custGeom>
              <a:avLst/>
              <a:gdLst>
                <a:gd name="T0" fmla="*/ 2721 w 2721"/>
                <a:gd name="T1" fmla="*/ 0 h 209"/>
                <a:gd name="T2" fmla="*/ 2721 w 2721"/>
                <a:gd name="T3" fmla="*/ 111 h 209"/>
                <a:gd name="T4" fmla="*/ 0 w 2721"/>
                <a:gd name="T5" fmla="*/ 111 h 209"/>
                <a:gd name="T6" fmla="*/ 0 w 2721"/>
                <a:gd name="T7" fmla="*/ 209 h 209"/>
                <a:gd name="T8" fmla="*/ 0 60000 65536"/>
                <a:gd name="T9" fmla="*/ 0 60000 65536"/>
                <a:gd name="T10" fmla="*/ 0 60000 65536"/>
                <a:gd name="T11" fmla="*/ 0 60000 65536"/>
                <a:gd name="T12" fmla="*/ 0 w 2721"/>
                <a:gd name="T13" fmla="*/ 0 h 209"/>
                <a:gd name="T14" fmla="*/ 2721 w 2721"/>
                <a:gd name="T15" fmla="*/ 209 h 209"/>
              </a:gdLst>
              <a:ahLst/>
              <a:cxnLst>
                <a:cxn ang="T8">
                  <a:pos x="T0" y="T1"/>
                </a:cxn>
                <a:cxn ang="T9">
                  <a:pos x="T2" y="T3"/>
                </a:cxn>
                <a:cxn ang="T10">
                  <a:pos x="T4" y="T5"/>
                </a:cxn>
                <a:cxn ang="T11">
                  <a:pos x="T6" y="T7"/>
                </a:cxn>
              </a:cxnLst>
              <a:rect l="T12" t="T13" r="T14" b="T15"/>
              <a:pathLst>
                <a:path w="2721" h="209">
                  <a:moveTo>
                    <a:pt x="2721" y="0"/>
                  </a:moveTo>
                  <a:lnTo>
                    <a:pt x="2721" y="111"/>
                  </a:lnTo>
                  <a:lnTo>
                    <a:pt x="0" y="111"/>
                  </a:lnTo>
                  <a:lnTo>
                    <a:pt x="0" y="209"/>
                  </a:lnTo>
                </a:path>
              </a:pathLst>
            </a:custGeom>
            <a:noFill/>
            <a:ln w="4763">
              <a:solidFill>
                <a:srgbClr val="000000"/>
              </a:solidFill>
              <a:prstDash val="solid"/>
              <a:round/>
              <a:headEnd/>
              <a:tailEnd/>
            </a:ln>
          </p:spPr>
          <p:txBody>
            <a:bodyPr/>
            <a:lstStyle/>
            <a:p>
              <a:endParaRPr lang="en-US"/>
            </a:p>
          </p:txBody>
        </p:sp>
        <p:sp>
          <p:nvSpPr>
            <p:cNvPr id="11346" name="Freeform 83"/>
            <p:cNvSpPr>
              <a:spLocks/>
            </p:cNvSpPr>
            <p:nvPr/>
          </p:nvSpPr>
          <p:spPr bwMode="auto">
            <a:xfrm>
              <a:off x="1451" y="3035"/>
              <a:ext cx="60" cy="48"/>
            </a:xfrm>
            <a:custGeom>
              <a:avLst/>
              <a:gdLst>
                <a:gd name="T0" fmla="*/ 60 w 60"/>
                <a:gd name="T1" fmla="*/ 0 h 48"/>
                <a:gd name="T2" fmla="*/ 30 w 60"/>
                <a:gd name="T3" fmla="*/ 48 h 48"/>
                <a:gd name="T4" fmla="*/ 0 w 60"/>
                <a:gd name="T5" fmla="*/ 0 h 48"/>
                <a:gd name="T6" fmla="*/ 60 w 60"/>
                <a:gd name="T7" fmla="*/ 0 h 48"/>
                <a:gd name="T8" fmla="*/ 0 60000 65536"/>
                <a:gd name="T9" fmla="*/ 0 60000 65536"/>
                <a:gd name="T10" fmla="*/ 0 60000 65536"/>
                <a:gd name="T11" fmla="*/ 0 60000 65536"/>
                <a:gd name="T12" fmla="*/ 0 w 60"/>
                <a:gd name="T13" fmla="*/ 0 h 48"/>
                <a:gd name="T14" fmla="*/ 60 w 60"/>
                <a:gd name="T15" fmla="*/ 48 h 48"/>
              </a:gdLst>
              <a:ahLst/>
              <a:cxnLst>
                <a:cxn ang="T8">
                  <a:pos x="T0" y="T1"/>
                </a:cxn>
                <a:cxn ang="T9">
                  <a:pos x="T2" y="T3"/>
                </a:cxn>
                <a:cxn ang="T10">
                  <a:pos x="T4" y="T5"/>
                </a:cxn>
                <a:cxn ang="T11">
                  <a:pos x="T6" y="T7"/>
                </a:cxn>
              </a:cxnLst>
              <a:rect l="T12" t="T13" r="T14" b="T15"/>
              <a:pathLst>
                <a:path w="60" h="48">
                  <a:moveTo>
                    <a:pt x="60" y="0"/>
                  </a:moveTo>
                  <a:lnTo>
                    <a:pt x="30" y="48"/>
                  </a:lnTo>
                  <a:lnTo>
                    <a:pt x="0" y="0"/>
                  </a:lnTo>
                  <a:lnTo>
                    <a:pt x="60" y="0"/>
                  </a:lnTo>
                  <a:close/>
                </a:path>
              </a:pathLst>
            </a:custGeom>
            <a:solidFill>
              <a:srgbClr val="000000"/>
            </a:solidFill>
            <a:ln w="9525">
              <a:noFill/>
              <a:round/>
              <a:headEnd/>
              <a:tailEnd/>
            </a:ln>
          </p:spPr>
          <p:txBody>
            <a:bodyPr/>
            <a:lstStyle/>
            <a:p>
              <a:endParaRPr lang="en-US"/>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idx="4294967295"/>
          </p:nvPr>
        </p:nvSpPr>
        <p:spPr/>
        <p:txBody>
          <a:bodyPr/>
          <a:lstStyle/>
          <a:p>
            <a:pPr marL="495300" indent="-495300" eaLnBrk="1" hangingPunct="1"/>
            <a:r>
              <a:rPr lang="en-US" sz="2400" smtClean="0">
                <a:latin typeface="Arial" charset="0"/>
              </a:rPr>
              <a:t>Drawing Numbering</a:t>
            </a:r>
          </a:p>
        </p:txBody>
      </p:sp>
      <p:sp>
        <p:nvSpPr>
          <p:cNvPr id="13314" name="Rectangle 4"/>
          <p:cNvSpPr>
            <a:spLocks noChangeArrowheads="1"/>
          </p:cNvSpPr>
          <p:nvPr/>
        </p:nvSpPr>
        <p:spPr bwMode="auto">
          <a:xfrm>
            <a:off x="6781800" y="1295400"/>
            <a:ext cx="2133600" cy="1177925"/>
          </a:xfrm>
          <a:prstGeom prst="rect">
            <a:avLst/>
          </a:prstGeom>
          <a:noFill/>
          <a:ln w="9525">
            <a:noFill/>
            <a:miter lim="800000"/>
            <a:headEnd/>
            <a:tailEnd/>
          </a:ln>
        </p:spPr>
        <p:txBody>
          <a:bodyPr lIns="82058" tIns="41029" rIns="82058" bIns="41029">
            <a:spAutoFit/>
          </a:bodyPr>
          <a:lstStyle/>
          <a:p>
            <a:r>
              <a:rPr lang="en-US" sz="1200"/>
              <a:t>The numbering scheme has been picked up from Project Coordination Procedure for J3-PCP-08-005-00 Drawing and Document Numbering System.</a:t>
            </a:r>
          </a:p>
        </p:txBody>
      </p:sp>
      <p:sp>
        <p:nvSpPr>
          <p:cNvPr id="13315" name="Rectangle 1"/>
          <p:cNvSpPr>
            <a:spLocks noChangeArrowheads="1"/>
          </p:cNvSpPr>
          <p:nvPr/>
        </p:nvSpPr>
        <p:spPr bwMode="auto">
          <a:xfrm>
            <a:off x="304800" y="3810000"/>
            <a:ext cx="8686800" cy="2090738"/>
          </a:xfrm>
          <a:prstGeom prst="rect">
            <a:avLst/>
          </a:prstGeom>
          <a:noFill/>
          <a:ln w="9525">
            <a:noFill/>
            <a:miter lim="800000"/>
            <a:headEnd/>
            <a:tailEnd/>
          </a:ln>
        </p:spPr>
        <p:txBody>
          <a:bodyPr lIns="82058" tIns="41029" rIns="82058" bIns="41029">
            <a:spAutoFit/>
          </a:bodyPr>
          <a:lstStyle/>
          <a:p>
            <a:pPr marL="800100" lvl="1" indent="-342900"/>
            <a:r>
              <a:rPr lang="en-US" sz="1200" b="1"/>
              <a:t>Example:</a:t>
            </a:r>
          </a:p>
          <a:p>
            <a:pPr marL="800100" lvl="1" indent="-342900"/>
            <a:r>
              <a:rPr lang="en-US" sz="1200" b="1"/>
              <a:t>Group 1: Document Category Code normally has three characters.  The three-character identifier is made up of the discipline code letter and two digits that define the drawing type. </a:t>
            </a:r>
          </a:p>
          <a:p>
            <a:pPr marL="800100" lvl="1" indent="-342900"/>
            <a:endParaRPr lang="en-US" sz="1200" b="1"/>
          </a:p>
          <a:p>
            <a:pPr marL="800100" lvl="1" indent="-342900"/>
            <a:r>
              <a:rPr lang="en-US" sz="1200" b="1"/>
              <a:t>Group 2: Project/Complex/Unit identifier and it is a six digit alphanumeric code.  (Refer to the Project WBS). E.g. AYZ261 (Paraxylene Unit in Aromatics Complex)</a:t>
            </a:r>
          </a:p>
          <a:p>
            <a:pPr marL="800100" lvl="1" indent="-342900"/>
            <a:endParaRPr lang="en-US" sz="1200" b="1"/>
          </a:p>
          <a:p>
            <a:pPr marL="800100" lvl="1" indent="-342900"/>
            <a:r>
              <a:rPr lang="en-US" sz="1200" b="1"/>
              <a:t>Group 3: Section Number, (This is an Optional field), Contractor to include an additional section number where the Work Breakdown Structure (WBS) does not provide sufficient granularity to fit their work processes. </a:t>
            </a:r>
          </a:p>
          <a:p>
            <a:pPr marL="800100" lvl="1" indent="-342900"/>
            <a:endParaRPr lang="en-US" sz="1200" b="1"/>
          </a:p>
          <a:p>
            <a:pPr marL="800100" lvl="1" indent="-342900"/>
            <a:r>
              <a:rPr lang="en-US" sz="1200" b="1"/>
              <a:t>Group 4: Drawing sequence number and it is numbered sequentially from 001. </a:t>
            </a:r>
          </a:p>
        </p:txBody>
      </p:sp>
      <p:pic>
        <p:nvPicPr>
          <p:cNvPr id="13316" name="Picture 6" descr="Dwg2"/>
          <p:cNvPicPr>
            <a:picLocks noChangeAspect="1" noChangeArrowheads="1"/>
          </p:cNvPicPr>
          <p:nvPr/>
        </p:nvPicPr>
        <p:blipFill>
          <a:blip r:embed="rId2"/>
          <a:srcRect/>
          <a:stretch>
            <a:fillRect/>
          </a:stretch>
        </p:blipFill>
        <p:spPr bwMode="auto">
          <a:xfrm>
            <a:off x="1219200" y="1143000"/>
            <a:ext cx="5378450" cy="2514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idx="4294967295"/>
          </p:nvPr>
        </p:nvSpPr>
        <p:spPr/>
        <p:txBody>
          <a:bodyPr/>
          <a:lstStyle/>
          <a:p>
            <a:pPr eaLnBrk="1" hangingPunct="1"/>
            <a:r>
              <a:rPr lang="en-US" sz="2400" smtClean="0">
                <a:latin typeface="Arial" charset="0"/>
              </a:rPr>
              <a:t>Drawings – Key Points</a:t>
            </a:r>
          </a:p>
        </p:txBody>
      </p:sp>
      <p:sp>
        <p:nvSpPr>
          <p:cNvPr id="14338" name="Rectangle 3"/>
          <p:cNvSpPr>
            <a:spLocks noGrp="1" noChangeArrowheads="1"/>
          </p:cNvSpPr>
          <p:nvPr>
            <p:ph idx="4294967295"/>
          </p:nvPr>
        </p:nvSpPr>
        <p:spPr>
          <a:xfrm>
            <a:off x="457200" y="1447800"/>
            <a:ext cx="8458200" cy="3048000"/>
          </a:xfrm>
        </p:spPr>
        <p:txBody>
          <a:bodyPr/>
          <a:lstStyle/>
          <a:p>
            <a:pPr marL="374650" indent="-374650" defTabSz="819150" eaLnBrk="1" hangingPunct="1">
              <a:buClr>
                <a:schemeClr val="tx1"/>
              </a:buClr>
              <a:buFont typeface="Wingdings" pitchFamily="2" charset="2"/>
              <a:buChar char="§"/>
            </a:pPr>
            <a:r>
              <a:rPr lang="en-US" sz="1800" smtClean="0">
                <a:latin typeface="Arial" charset="0"/>
              </a:rPr>
              <a:t>Detailed practices to control development</a:t>
            </a:r>
          </a:p>
          <a:p>
            <a:pPr marL="374650" indent="-374650" defTabSz="819150" eaLnBrk="1" hangingPunct="1">
              <a:buClr>
                <a:schemeClr val="tx1"/>
              </a:buClr>
              <a:buFont typeface="Wingdings" pitchFamily="2" charset="2"/>
              <a:buChar char="§"/>
            </a:pPr>
            <a:r>
              <a:rPr lang="en-US" sz="1800" smtClean="0">
                <a:latin typeface="Arial" charset="0"/>
              </a:rPr>
              <a:t>Numbering convention communicated to project team:</a:t>
            </a:r>
          </a:p>
          <a:p>
            <a:pPr marL="700088" lvl="1" indent="-341313" defTabSz="819150" eaLnBrk="1" hangingPunct="1">
              <a:buClr>
                <a:schemeClr val="tx1"/>
              </a:buClr>
              <a:buFontTx/>
              <a:buChar char="•"/>
            </a:pPr>
            <a:r>
              <a:rPr lang="en-US" sz="1800" smtClean="0">
                <a:latin typeface="Arial" charset="0"/>
              </a:rPr>
              <a:t>Engineering Contractor’s standard format or,</a:t>
            </a:r>
          </a:p>
          <a:p>
            <a:pPr marL="700088" lvl="1" indent="-341313" defTabSz="819150" eaLnBrk="1" hangingPunct="1">
              <a:buClr>
                <a:schemeClr val="tx1"/>
              </a:buClr>
              <a:buFontTx/>
              <a:buChar char="•"/>
            </a:pPr>
            <a:r>
              <a:rPr lang="en-US" sz="1800" smtClean="0">
                <a:latin typeface="Arial" charset="0"/>
              </a:rPr>
              <a:t>J3 -specific format </a:t>
            </a:r>
          </a:p>
          <a:p>
            <a:pPr marL="374650" indent="-374650" defTabSz="819150" eaLnBrk="1" hangingPunct="1">
              <a:buClr>
                <a:schemeClr val="tx1"/>
              </a:buClr>
              <a:buFont typeface="Wingdings" pitchFamily="2" charset="2"/>
              <a:buChar char="§"/>
            </a:pPr>
            <a:r>
              <a:rPr lang="en-US" sz="1800" smtClean="0">
                <a:latin typeface="Arial" charset="0"/>
              </a:rPr>
              <a:t>DEC Discipline Leads assign and coordinate numbering</a:t>
            </a:r>
          </a:p>
          <a:p>
            <a:pPr marL="374650" indent="-374650" defTabSz="819150" eaLnBrk="1" hangingPunct="1">
              <a:buClr>
                <a:schemeClr val="tx1"/>
              </a:buClr>
              <a:buFont typeface="Wingdings" pitchFamily="2" charset="2"/>
              <a:buChar char="§"/>
            </a:pPr>
            <a:r>
              <a:rPr lang="en-US" sz="1800" smtClean="0">
                <a:latin typeface="Arial" charset="0"/>
              </a:rPr>
              <a:t>Procedures define requirements for review and approval</a:t>
            </a:r>
            <a:endParaRPr lang="en-US" sz="1800" b="1" smtClean="0">
              <a:latin typeface="Arial"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p:txBody>
          <a:bodyPr/>
          <a:lstStyle/>
          <a:p>
            <a:r>
              <a:rPr lang="en-US" sz="2400" smtClean="0">
                <a:latin typeface="Arial" charset="0"/>
              </a:rPr>
              <a:t>Technical Review and Approval Matrix - TRAM</a:t>
            </a:r>
          </a:p>
        </p:txBody>
      </p:sp>
      <p:pic>
        <p:nvPicPr>
          <p:cNvPr id="43012" name="Picture 4"/>
          <p:cNvPicPr>
            <a:picLocks noChangeAspect="1" noChangeArrowheads="1"/>
          </p:cNvPicPr>
          <p:nvPr/>
        </p:nvPicPr>
        <p:blipFill>
          <a:blip r:embed="rId2"/>
          <a:srcRect/>
          <a:stretch>
            <a:fillRect/>
          </a:stretch>
        </p:blipFill>
        <p:spPr bwMode="auto">
          <a:xfrm>
            <a:off x="381000" y="1143000"/>
            <a:ext cx="8223250" cy="823913"/>
          </a:xfrm>
          <a:prstGeom prst="rect">
            <a:avLst/>
          </a:prstGeom>
          <a:noFill/>
          <a:ln w="9525">
            <a:noFill/>
            <a:miter lim="800000"/>
            <a:headEnd/>
            <a:tailEnd/>
          </a:ln>
          <a:effectLst/>
        </p:spPr>
      </p:pic>
      <p:pic>
        <p:nvPicPr>
          <p:cNvPr id="43014" name="Picture 6"/>
          <p:cNvPicPr>
            <a:picLocks noChangeAspect="1" noChangeArrowheads="1"/>
          </p:cNvPicPr>
          <p:nvPr/>
        </p:nvPicPr>
        <p:blipFill>
          <a:blip r:embed="rId3"/>
          <a:srcRect/>
          <a:stretch>
            <a:fillRect/>
          </a:stretch>
        </p:blipFill>
        <p:spPr bwMode="auto">
          <a:xfrm>
            <a:off x="304800" y="1905000"/>
            <a:ext cx="8153400" cy="30273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idx="4294967295"/>
          </p:nvPr>
        </p:nvSpPr>
        <p:spPr/>
        <p:txBody>
          <a:bodyPr/>
          <a:lstStyle/>
          <a:p>
            <a:r>
              <a:rPr lang="en-US" sz="2400" smtClean="0">
                <a:latin typeface="Arial" charset="0"/>
              </a:rPr>
              <a:t>DOR-Division of Responsibility Matrix</a:t>
            </a:r>
          </a:p>
        </p:txBody>
      </p:sp>
      <p:cxnSp>
        <p:nvCxnSpPr>
          <p:cNvPr id="40885" name="Straight Arrow Connector 2"/>
          <p:cNvCxnSpPr>
            <a:cxnSpLocks noChangeShapeType="1"/>
          </p:cNvCxnSpPr>
          <p:nvPr/>
        </p:nvCxnSpPr>
        <p:spPr bwMode="auto">
          <a:xfrm>
            <a:off x="4143375" y="-1427163"/>
            <a:ext cx="0" cy="9525"/>
          </a:xfrm>
          <a:prstGeom prst="straightConnector1">
            <a:avLst/>
          </a:prstGeom>
          <a:noFill/>
          <a:ln w="12700">
            <a:solidFill>
              <a:srgbClr val="000000"/>
            </a:solidFill>
            <a:round/>
            <a:headEnd/>
            <a:tailEnd type="stealth" w="med" len="lg"/>
          </a:ln>
        </p:spPr>
      </p:cxnSp>
      <p:sp>
        <p:nvSpPr>
          <p:cNvPr id="40883" name="Isosceles Triangle 9"/>
          <p:cNvSpPr>
            <a:spLocks noChangeArrowheads="1"/>
          </p:cNvSpPr>
          <p:nvPr/>
        </p:nvSpPr>
        <p:spPr bwMode="auto">
          <a:xfrm flipH="1">
            <a:off x="4130675" y="8096250"/>
            <a:ext cx="0" cy="142875"/>
          </a:xfrm>
          <a:prstGeom prst="triangle">
            <a:avLst>
              <a:gd name="adj" fmla="val 50000"/>
            </a:avLst>
          </a:prstGeom>
          <a:solidFill>
            <a:srgbClr val="4F81BD"/>
          </a:solidFill>
          <a:ln w="25400">
            <a:solidFill>
              <a:srgbClr val="385D8A"/>
            </a:solidFill>
            <a:miter lim="800000"/>
            <a:headEnd/>
            <a:tailEnd/>
          </a:ln>
        </p:spPr>
        <p:txBody>
          <a:bodyPr/>
          <a:lstStyle/>
          <a:p>
            <a:endParaRPr lang="en-US"/>
          </a:p>
        </p:txBody>
      </p:sp>
      <p:sp>
        <p:nvSpPr>
          <p:cNvPr id="40887" name="Rectangle 2999"/>
          <p:cNvSpPr>
            <a:spLocks noChangeArrowheads="1"/>
          </p:cNvSpPr>
          <p:nvPr/>
        </p:nvSpPr>
        <p:spPr bwMode="auto">
          <a:xfrm>
            <a:off x="-1314450" y="-1817688"/>
            <a:ext cx="4775200" cy="0"/>
          </a:xfrm>
          <a:prstGeom prst="rect">
            <a:avLst/>
          </a:prstGeom>
          <a:noFill/>
          <a:ln w="9525">
            <a:noFill/>
            <a:miter lim="800000"/>
            <a:headEnd/>
            <a:tailEnd/>
          </a:ln>
          <a:effectLst/>
        </p:spPr>
        <p:txBody>
          <a:bodyPr wrap="none">
            <a:spAutoFit/>
          </a:bodyPr>
          <a:lstStyle/>
          <a:p>
            <a:endParaRPr lang="en-US"/>
          </a:p>
        </p:txBody>
      </p:sp>
      <p:sp>
        <p:nvSpPr>
          <p:cNvPr id="41323" name="Line 3435"/>
          <p:cNvSpPr>
            <a:spLocks noChangeShapeType="1"/>
          </p:cNvSpPr>
          <p:nvPr/>
        </p:nvSpPr>
        <p:spPr bwMode="auto">
          <a:xfrm>
            <a:off x="5576888" y="-1360488"/>
            <a:ext cx="0" cy="0"/>
          </a:xfrm>
          <a:prstGeom prst="line">
            <a:avLst/>
          </a:prstGeom>
          <a:noFill/>
          <a:ln w="12700" cap="rnd">
            <a:solidFill>
              <a:srgbClr val="000000"/>
            </a:solidFill>
            <a:round/>
            <a:headEnd/>
            <a:tailEnd/>
          </a:ln>
          <a:effectLst/>
        </p:spPr>
        <p:txBody>
          <a:bodyPr/>
          <a:lstStyle/>
          <a:p>
            <a:endParaRPr lang="en-US"/>
          </a:p>
        </p:txBody>
      </p:sp>
      <p:sp>
        <p:nvSpPr>
          <p:cNvPr id="41324" name="Line 3436"/>
          <p:cNvSpPr>
            <a:spLocks noChangeShapeType="1"/>
          </p:cNvSpPr>
          <p:nvPr/>
        </p:nvSpPr>
        <p:spPr bwMode="auto">
          <a:xfrm>
            <a:off x="5576888" y="-1131888"/>
            <a:ext cx="0" cy="0"/>
          </a:xfrm>
          <a:prstGeom prst="line">
            <a:avLst/>
          </a:prstGeom>
          <a:noFill/>
          <a:ln w="12700" cap="rnd">
            <a:solidFill>
              <a:srgbClr val="000000"/>
            </a:solidFill>
            <a:round/>
            <a:headEnd/>
            <a:tailEnd/>
          </a:ln>
          <a:effectLst/>
        </p:spPr>
        <p:txBody>
          <a:bodyPr/>
          <a:lstStyle/>
          <a:p>
            <a:endParaRPr lang="en-US"/>
          </a:p>
        </p:txBody>
      </p:sp>
      <p:sp>
        <p:nvSpPr>
          <p:cNvPr id="41325" name="Line 3437"/>
          <p:cNvSpPr>
            <a:spLocks noChangeShapeType="1"/>
          </p:cNvSpPr>
          <p:nvPr/>
        </p:nvSpPr>
        <p:spPr bwMode="auto">
          <a:xfrm>
            <a:off x="6824663" y="-1131888"/>
            <a:ext cx="0" cy="0"/>
          </a:xfrm>
          <a:prstGeom prst="line">
            <a:avLst/>
          </a:prstGeom>
          <a:noFill/>
          <a:ln w="12700" cap="rnd">
            <a:solidFill>
              <a:srgbClr val="000000"/>
            </a:solidFill>
            <a:round/>
            <a:headEnd/>
            <a:tailEnd/>
          </a:ln>
          <a:effectLst/>
        </p:spPr>
        <p:txBody>
          <a:bodyPr/>
          <a:lstStyle/>
          <a:p>
            <a:endParaRPr lang="en-US"/>
          </a:p>
        </p:txBody>
      </p:sp>
      <p:sp>
        <p:nvSpPr>
          <p:cNvPr id="41326" name="Line 3438"/>
          <p:cNvSpPr>
            <a:spLocks noChangeShapeType="1"/>
          </p:cNvSpPr>
          <p:nvPr/>
        </p:nvSpPr>
        <p:spPr bwMode="auto">
          <a:xfrm>
            <a:off x="6824663" y="-903288"/>
            <a:ext cx="0" cy="0"/>
          </a:xfrm>
          <a:prstGeom prst="line">
            <a:avLst/>
          </a:prstGeom>
          <a:noFill/>
          <a:ln w="12700" cap="rnd">
            <a:solidFill>
              <a:srgbClr val="000000"/>
            </a:solidFill>
            <a:round/>
            <a:headEnd/>
            <a:tailEnd/>
          </a:ln>
          <a:effectLst/>
        </p:spPr>
        <p:txBody>
          <a:bodyPr/>
          <a:lstStyle/>
          <a:p>
            <a:endParaRPr lang="en-US"/>
          </a:p>
        </p:txBody>
      </p:sp>
      <p:graphicFrame>
        <p:nvGraphicFramePr>
          <p:cNvPr id="42201" name="Group 4313"/>
          <p:cNvGraphicFramePr>
            <a:graphicFrameLocks noGrp="1"/>
          </p:cNvGraphicFramePr>
          <p:nvPr/>
        </p:nvGraphicFramePr>
        <p:xfrm>
          <a:off x="304800" y="1143000"/>
          <a:ext cx="8305800" cy="4830763"/>
        </p:xfrm>
        <a:graphic>
          <a:graphicData uri="http://schemas.openxmlformats.org/drawingml/2006/table">
            <a:tbl>
              <a:tblPr/>
              <a:tblGrid>
                <a:gridCol w="474663"/>
                <a:gridCol w="3370262"/>
                <a:gridCol w="1016000"/>
                <a:gridCol w="879475"/>
                <a:gridCol w="882650"/>
                <a:gridCol w="849313"/>
                <a:gridCol w="833437"/>
              </a:tblGrid>
              <a:tr h="171450">
                <a:tc rowSpan="7">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Sr No</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rowSpan="7">
                  <a:txBody>
                    <a:bodyPr/>
                    <a:lstStyle/>
                    <a:p>
                      <a:pPr marL="0" marR="0" lvl="0" indent="0" algn="ctr" defTabSz="914400" rtl="0" eaLnBrk="0" fontAlgn="base" latinLnBrk="0" hangingPunct="0">
                        <a:lnSpc>
                          <a:spcPct val="95000"/>
                        </a:lnSpc>
                        <a:spcBef>
                          <a:spcPct val="50000"/>
                        </a:spcBef>
                        <a:spcAft>
                          <a:spcPct val="0"/>
                        </a:spcAft>
                        <a:buClr>
                          <a:srgbClr val="F0C33B"/>
                        </a:buClr>
                        <a:buSzTx/>
                        <a:buFont typeface="Monotype Sorts"/>
                        <a:buNone/>
                        <a:tabLst/>
                      </a:pPr>
                      <a:endParaRPr kumimoji="1" lang="en-US" sz="800" b="0" i="0" u="none" strike="noStrike" cap="none" normalizeH="0" baseline="0" smtClean="0">
                        <a:ln>
                          <a:noFill/>
                        </a:ln>
                        <a:solidFill>
                          <a:schemeClr val="tx1"/>
                        </a:solidFill>
                        <a:effectLst/>
                        <a:latin typeface="Arial" charset="0"/>
                      </a:endParaRPr>
                    </a:p>
                    <a:p>
                      <a:pPr marL="0" marR="0" lvl="0" indent="0" algn="ctr" defTabSz="914400" rtl="0" eaLnBrk="0" fontAlgn="base" latinLnBrk="0" hangingPunct="0">
                        <a:lnSpc>
                          <a:spcPct val="95000"/>
                        </a:lnSpc>
                        <a:spcBef>
                          <a:spcPct val="50000"/>
                        </a:spcBef>
                        <a:spcAft>
                          <a:spcPct val="0"/>
                        </a:spcAft>
                        <a:buClr>
                          <a:srgbClr val="F0C33B"/>
                        </a:buClr>
                        <a:buSzTx/>
                        <a:buFont typeface="Monotype Sorts"/>
                        <a:buNone/>
                        <a:tabLst/>
                      </a:pPr>
                      <a:endParaRPr kumimoji="1" lang="en-US" sz="800" b="0" i="0" u="none" strike="noStrike" cap="none" normalizeH="0" baseline="0" smtClean="0">
                        <a:ln>
                          <a:noFill/>
                        </a:ln>
                        <a:solidFill>
                          <a:schemeClr val="tx1"/>
                        </a:solidFill>
                        <a:effectLst/>
                        <a:latin typeface="Arial" charset="0"/>
                      </a:endParaRPr>
                    </a:p>
                    <a:p>
                      <a:pPr marL="0" marR="0" lvl="0" indent="0" algn="ctr" defTabSz="914400" rtl="0" eaLnBrk="0" fontAlgn="base" latinLnBrk="0" hangingPunct="0">
                        <a:lnSpc>
                          <a:spcPct val="95000"/>
                        </a:lnSpc>
                        <a:spcBef>
                          <a:spcPct val="50000"/>
                        </a:spcBef>
                        <a:spcAft>
                          <a:spcPct val="0"/>
                        </a:spcAft>
                        <a:buClr>
                          <a:srgbClr val="F0C33B"/>
                        </a:buClr>
                        <a:buSzTx/>
                        <a:buFont typeface="Monotype Sorts"/>
                        <a:buNone/>
                        <a:tabLst/>
                      </a:pPr>
                      <a:endParaRPr kumimoji="1" lang="en-US" sz="800" b="0" i="0" u="none" strike="noStrike" cap="none" normalizeH="0" baseline="0" smtClean="0">
                        <a:ln>
                          <a:noFill/>
                        </a:ln>
                        <a:solidFill>
                          <a:schemeClr val="tx1"/>
                        </a:solidFill>
                        <a:effectLst/>
                        <a:latin typeface="Arial" charset="0"/>
                      </a:endParaRPr>
                    </a:p>
                    <a:p>
                      <a:pPr marL="0" marR="0" lvl="0" indent="0" algn="ctr" defTabSz="914400" rtl="0" eaLnBrk="0" fontAlgn="base" latinLnBrk="0" hangingPunct="0">
                        <a:lnSpc>
                          <a:spcPct val="95000"/>
                        </a:lnSpc>
                        <a:spcBef>
                          <a:spcPct val="50000"/>
                        </a:spcBef>
                        <a:spcAft>
                          <a:spcPct val="0"/>
                        </a:spcAft>
                        <a:buClr>
                          <a:srgbClr val="F0C33B"/>
                        </a:buClr>
                        <a:buSzTx/>
                        <a:buFont typeface="Monotype Sorts"/>
                        <a:buNone/>
                        <a:tabLst/>
                      </a:pPr>
                      <a:r>
                        <a:rPr kumimoji="1" lang="en-US" sz="800" b="1" i="0" u="none" strike="noStrike" cap="none" normalizeH="0" baseline="0" smtClean="0">
                          <a:ln>
                            <a:noFill/>
                          </a:ln>
                          <a:solidFill>
                            <a:schemeClr val="tx1"/>
                          </a:solidFill>
                          <a:effectLst/>
                          <a:latin typeface="Arial" charset="0"/>
                        </a:rPr>
                        <a:t>Deliverable / Activity Description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X - Full Responsibility / Final Doc Release</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en-US"/>
                    </a:p>
                  </a:txBody>
                  <a:tcPr/>
                </a:tc>
                <a:tc hMerge="1">
                  <a:txBody>
                    <a:bodyPr/>
                    <a:lstStyle/>
                    <a:p>
                      <a:endParaRPr lang="en-US"/>
                    </a:p>
                  </a:txBody>
                  <a:tcPr/>
                </a:tc>
                <a:tc rowSpan="4" gridSpan="2">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Note : The activity shown under TPI/TCM/TICB is to be read in conjunction with commercial terms for execution for chargeable/lum-sum basis.</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rowSpan="4" hMerge="1">
                  <a:txBody>
                    <a:bodyPr/>
                    <a:lstStyle/>
                    <a:p>
                      <a:endParaRPr lang="en-US"/>
                    </a:p>
                  </a:txBody>
                  <a:tcPr/>
                </a:tc>
              </a:tr>
              <a:tr h="227013">
                <a:tc vMerge="1">
                  <a:txBody>
                    <a:bodyPr/>
                    <a:lstStyle/>
                    <a:p>
                      <a:endParaRPr lang="en-US"/>
                    </a:p>
                  </a:txBody>
                  <a:tcPr/>
                </a:tc>
                <a:tc vMerge="1">
                  <a:txBody>
                    <a:bodyPr/>
                    <a:lstStyle/>
                    <a:p>
                      <a:endParaRPr lang="en-US"/>
                    </a:p>
                  </a:txBody>
                  <a:tcPr/>
                </a:tc>
                <a:tc gridSpan="3">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X1 - Prelim Resp / Base doc / Input / Participate</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en-US"/>
                    </a:p>
                  </a:txBody>
                  <a:tcPr/>
                </a:tc>
                <a:tc hMerge="1">
                  <a:txBody>
                    <a:bodyPr/>
                    <a:lstStyle/>
                    <a:p>
                      <a:endParaRPr lang="en-US"/>
                    </a:p>
                  </a:txBody>
                  <a:tcPr/>
                </a:tc>
                <a:tc gridSpan="2" vMerge="1">
                  <a:txBody>
                    <a:bodyPr/>
                    <a:lstStyle/>
                    <a:p>
                      <a:endParaRPr lang="en-US"/>
                    </a:p>
                  </a:txBody>
                  <a:tcPr/>
                </a:tc>
                <a:tc hMerge="1" vMerge="1">
                  <a:txBody>
                    <a:bodyPr/>
                    <a:lstStyle/>
                    <a:p>
                      <a:endParaRPr lang="en-US"/>
                    </a:p>
                  </a:txBody>
                  <a:tcPr/>
                </a:tc>
              </a:tr>
              <a:tr h="171450">
                <a:tc vMerge="1">
                  <a:txBody>
                    <a:bodyPr/>
                    <a:lstStyle/>
                    <a:p>
                      <a:endParaRPr lang="en-US"/>
                    </a:p>
                  </a:txBody>
                  <a:tcPr/>
                </a:tc>
                <a:tc vMerge="1">
                  <a:txBody>
                    <a:bodyPr/>
                    <a:lstStyle/>
                    <a:p>
                      <a:endParaRPr lang="en-US"/>
                    </a:p>
                  </a:txBody>
                  <a:tcPr/>
                </a:tc>
                <a:tc gridSpan="3">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A - Review &amp; Approve</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en-US"/>
                    </a:p>
                  </a:txBody>
                  <a:tcPr/>
                </a:tc>
                <a:tc hMerge="1">
                  <a:txBody>
                    <a:bodyPr/>
                    <a:lstStyle/>
                    <a:p>
                      <a:endParaRPr lang="en-US"/>
                    </a:p>
                  </a:txBody>
                  <a:tcPr/>
                </a:tc>
                <a:tc gridSpan="2" vMerge="1">
                  <a:txBody>
                    <a:bodyPr/>
                    <a:lstStyle/>
                    <a:p>
                      <a:endParaRPr lang="en-US"/>
                    </a:p>
                  </a:txBody>
                  <a:tcPr/>
                </a:tc>
                <a:tc hMerge="1" vMerge="1">
                  <a:txBody>
                    <a:bodyPr/>
                    <a:lstStyle/>
                    <a:p>
                      <a:endParaRPr lang="en-US"/>
                    </a:p>
                  </a:txBody>
                  <a:tcPr/>
                </a:tc>
              </a:tr>
              <a:tr h="171450">
                <a:tc vMerge="1">
                  <a:txBody>
                    <a:bodyPr/>
                    <a:lstStyle/>
                    <a:p>
                      <a:endParaRPr lang="en-US"/>
                    </a:p>
                  </a:txBody>
                  <a:tcPr/>
                </a:tc>
                <a:tc vMerge="1">
                  <a:txBody>
                    <a:bodyPr/>
                    <a:lstStyle/>
                    <a:p>
                      <a:endParaRPr lang="en-US"/>
                    </a:p>
                  </a:txBody>
                  <a:tcPr/>
                </a:tc>
                <a:tc gridSpan="3">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R - Review &amp; Comment</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en-US"/>
                    </a:p>
                  </a:txBody>
                  <a:tcPr/>
                </a:tc>
                <a:tc hMerge="1">
                  <a:txBody>
                    <a:bodyPr/>
                    <a:lstStyle/>
                    <a:p>
                      <a:endParaRPr lang="en-US"/>
                    </a:p>
                  </a:txBody>
                  <a:tcPr/>
                </a:tc>
                <a:tc gridSpan="2" vMerge="1">
                  <a:txBody>
                    <a:bodyPr/>
                    <a:lstStyle/>
                    <a:p>
                      <a:endParaRPr lang="en-US"/>
                    </a:p>
                  </a:txBody>
                  <a:tcPr/>
                </a:tc>
                <a:tc hMerge="1" vMerge="1">
                  <a:txBody>
                    <a:bodyPr/>
                    <a:lstStyle/>
                    <a:p>
                      <a:endParaRPr lang="en-US"/>
                    </a:p>
                  </a:txBody>
                  <a:tcPr/>
                </a:tc>
              </a:tr>
              <a:tr h="171450">
                <a:tc vMerge="1">
                  <a:txBody>
                    <a:bodyPr/>
                    <a:lstStyle/>
                    <a:p>
                      <a:endParaRPr lang="en-US"/>
                    </a:p>
                  </a:txBody>
                  <a:tcPr/>
                </a:tc>
                <a:tc vMerge="1">
                  <a:txBody>
                    <a:bodyPr/>
                    <a:lstStyle/>
                    <a:p>
                      <a:endParaRPr lang="en-US"/>
                    </a:p>
                  </a:txBody>
                  <a:tcPr/>
                </a:tc>
                <a:tc row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LICENSOR</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EP CONTRACTOR</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en-US"/>
                    </a:p>
                  </a:txBody>
                  <a:tcPr/>
                </a:tc>
                <a:tc row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PMC</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row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RIL</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34925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Basic engg. scope</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Detail engg  scope</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vMerge="1">
                  <a:txBody>
                    <a:bodyPr/>
                    <a:lstStyle/>
                    <a:p>
                      <a:endParaRPr lang="en-US"/>
                    </a:p>
                  </a:txBody>
                  <a:tcPr/>
                </a:tc>
                <a:tc vMerge="1">
                  <a:txBody>
                    <a:bodyPr/>
                    <a:lstStyle/>
                    <a:p>
                      <a:endParaRPr lang="en-US"/>
                    </a:p>
                  </a:txBody>
                  <a:tcPr/>
                </a:tc>
              </a:tr>
              <a:tr h="1809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TPI</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TPI</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vMerge="1">
                  <a:txBody>
                    <a:bodyPr/>
                    <a:lstStyle/>
                    <a:p>
                      <a:endParaRPr lang="en-US"/>
                    </a:p>
                  </a:txBody>
                  <a:tcPr/>
                </a:tc>
                <a:tc vMerge="1">
                  <a:txBody>
                    <a:bodyPr/>
                    <a:lstStyle/>
                    <a:p>
                      <a:endParaRPr lang="en-US"/>
                    </a:p>
                  </a:txBody>
                  <a:tcPr/>
                </a:tc>
              </a:tr>
              <a:tr h="1714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1.5</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PIPING AND INSTRUMENTATION DIAGRAM (P&amp;ID)</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14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1.5.1</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PIDs shall contain following information</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30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All equipment including spare equipment</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14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All process piping lines with sizes</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30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Utility lead lines &amp; </a:t>
                      </a:r>
                      <a:r>
                        <a:rPr kumimoji="0" lang="en-US" sz="800" b="0" i="0" u="none" strike="noStrike" cap="none" normalizeH="0" baseline="0" smtClean="0">
                          <a:ln>
                            <a:noFill/>
                          </a:ln>
                          <a:solidFill>
                            <a:schemeClr val="tx1"/>
                          </a:solidFill>
                          <a:effectLst/>
                          <a:latin typeface="Arial" charset="0"/>
                        </a:rPr>
                        <a:t>Line specifications</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14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Service codes or symbols</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14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Valves, </a:t>
                      </a:r>
                      <a:r>
                        <a:rPr kumimoji="0" lang="en-US" sz="800" b="0" i="0" u="none" strike="noStrike" cap="none" normalizeH="0" baseline="0" smtClean="0">
                          <a:ln>
                            <a:noFill/>
                          </a:ln>
                          <a:solidFill>
                            <a:schemeClr val="tx1"/>
                          </a:solidFill>
                          <a:effectLst/>
                          <a:latin typeface="Arial" charset="0"/>
                        </a:rPr>
                        <a:t>Relief System requirements</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14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Major relief valves with set pressure</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30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Piping interconnections for drains</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14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1.5.2</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Issue PIDs for Approval</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30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PDP Section</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X</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R</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R</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A</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30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Non PDP Section</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R</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R</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A</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30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1.6</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PIPING LINE LIST (LINE DESIGNATED TABLES)</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1"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14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    PDP Section, </a:t>
                      </a:r>
                      <a:r>
                        <a:rPr kumimoji="0" lang="en-US" sz="800" b="0" i="0" u="none" strike="noStrike" cap="none" normalizeH="0" baseline="0" smtClean="0">
                          <a:ln>
                            <a:noFill/>
                          </a:ln>
                          <a:solidFill>
                            <a:schemeClr val="tx1"/>
                          </a:solidFill>
                          <a:effectLst/>
                          <a:latin typeface="Arial" charset="0"/>
                        </a:rPr>
                        <a:t>Non PDP Section</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X1</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R</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R</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7145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1.6.2</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cs typeface="Arial" charset="0"/>
                        </a:rPr>
                        <a:t>Periodically Issue LDT in agreeed format as editable copy</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 </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cs typeface="Arial" charset="0"/>
                        </a:rPr>
                        <a:t>R</a:t>
                      </a:r>
                      <a:endParaRPr kumimoji="0" lang="en-US" sz="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idx="4294967295"/>
          </p:nvPr>
        </p:nvSpPr>
        <p:spPr/>
        <p:txBody>
          <a:bodyPr/>
          <a:lstStyle/>
          <a:p>
            <a:pPr eaLnBrk="1" hangingPunct="1"/>
            <a:r>
              <a:rPr lang="en-US" sz="2400" smtClean="0">
                <a:latin typeface="Arial" charset="0"/>
              </a:rPr>
              <a:t>Specifications</a:t>
            </a:r>
          </a:p>
        </p:txBody>
      </p:sp>
      <p:sp>
        <p:nvSpPr>
          <p:cNvPr id="16386" name="Rectangle 3"/>
          <p:cNvSpPr>
            <a:spLocks noGrp="1" noChangeArrowheads="1"/>
          </p:cNvSpPr>
          <p:nvPr>
            <p:ph type="body" idx="4294967295"/>
          </p:nvPr>
        </p:nvSpPr>
        <p:spPr>
          <a:xfrm>
            <a:off x="381000" y="1162050"/>
            <a:ext cx="8534400" cy="4857750"/>
          </a:xfrm>
        </p:spPr>
        <p:txBody>
          <a:bodyPr/>
          <a:lstStyle/>
          <a:p>
            <a:pPr eaLnBrk="1" hangingPunct="1">
              <a:lnSpc>
                <a:spcPct val="85000"/>
              </a:lnSpc>
            </a:pPr>
            <a:endParaRPr lang="en-US" sz="1800" smtClean="0">
              <a:latin typeface="Arial" charset="0"/>
            </a:endParaRPr>
          </a:p>
          <a:p>
            <a:pPr eaLnBrk="1" hangingPunct="1">
              <a:lnSpc>
                <a:spcPct val="85000"/>
              </a:lnSpc>
              <a:buClr>
                <a:schemeClr val="tx1"/>
              </a:buClr>
              <a:buFont typeface="Wingdings" pitchFamily="2" charset="2"/>
              <a:buChar char="§"/>
            </a:pPr>
            <a:r>
              <a:rPr lang="en-US" sz="1800" smtClean="0">
                <a:latin typeface="Arial" charset="0"/>
              </a:rPr>
              <a:t>Specification for use on the J3 program will be developed and issued to all Licensors and DECs. These shall be maintained throughout the life of the project and update issued as required. </a:t>
            </a:r>
          </a:p>
          <a:p>
            <a:pPr eaLnBrk="1" hangingPunct="1">
              <a:lnSpc>
                <a:spcPct val="85000"/>
              </a:lnSpc>
              <a:buClr>
                <a:schemeClr val="tx1"/>
              </a:buClr>
              <a:buFont typeface="Wingdings" pitchFamily="2" charset="2"/>
              <a:buChar char="§"/>
            </a:pPr>
            <a:r>
              <a:rPr lang="en-US" sz="1800" smtClean="0">
                <a:latin typeface="Arial" charset="0"/>
              </a:rPr>
              <a:t>Where specifications are required by Licensors and/or DECs that do not exist within the standard specifications issued for the Program these shall be developed by the DEC and issued to the PMT/Reliance for Reviewed and Approved in line with the requirements set out in the TRAM.</a:t>
            </a:r>
          </a:p>
          <a:p>
            <a:pPr eaLnBrk="1" hangingPunct="1">
              <a:lnSpc>
                <a:spcPct val="85000"/>
              </a:lnSpc>
              <a:buClr>
                <a:schemeClr val="tx1"/>
              </a:buClr>
              <a:buFont typeface="Wingdings" pitchFamily="2" charset="2"/>
              <a:buChar char="§"/>
            </a:pPr>
            <a:r>
              <a:rPr lang="en-US" sz="1800" smtClean="0">
                <a:latin typeface="Arial" charset="0"/>
              </a:rPr>
              <a:t>In case of conflict between this document and other project specific standards / specifications, the matter shall be referred to PMT / Reliance. </a:t>
            </a:r>
          </a:p>
          <a:p>
            <a:pPr eaLnBrk="1" hangingPunct="1">
              <a:lnSpc>
                <a:spcPct val="85000"/>
              </a:lnSpc>
              <a:buClr>
                <a:schemeClr val="tx1"/>
              </a:buClr>
              <a:buFont typeface="Wingdings" pitchFamily="2" charset="2"/>
              <a:buChar char="§"/>
            </a:pPr>
            <a:r>
              <a:rPr lang="en-US" sz="1800" smtClean="0">
                <a:latin typeface="Arial" charset="0"/>
              </a:rPr>
              <a:t>The order of precedence of documents to be used on this project is a follows: </a:t>
            </a:r>
          </a:p>
          <a:p>
            <a:pPr lvl="1" eaLnBrk="1" hangingPunct="1">
              <a:lnSpc>
                <a:spcPct val="85000"/>
              </a:lnSpc>
              <a:buClr>
                <a:schemeClr val="tx1"/>
              </a:buClr>
              <a:buFontTx/>
              <a:buChar char="•"/>
            </a:pPr>
            <a:r>
              <a:rPr lang="en-US" sz="1800" smtClean="0">
                <a:latin typeface="Arial" charset="0"/>
              </a:rPr>
              <a:t>Indian Government Statutory Rules and Regulations </a:t>
            </a:r>
          </a:p>
          <a:p>
            <a:pPr lvl="1" eaLnBrk="1" hangingPunct="1">
              <a:lnSpc>
                <a:spcPct val="85000"/>
              </a:lnSpc>
              <a:buClr>
                <a:schemeClr val="tx1"/>
              </a:buClr>
              <a:buFontTx/>
              <a:buChar char="•"/>
            </a:pPr>
            <a:r>
              <a:rPr lang="en-US" sz="1800" smtClean="0">
                <a:latin typeface="Arial" charset="0"/>
              </a:rPr>
              <a:t>Requisition Data Sheets </a:t>
            </a:r>
          </a:p>
          <a:p>
            <a:pPr lvl="1" eaLnBrk="1" hangingPunct="1">
              <a:lnSpc>
                <a:spcPct val="85000"/>
              </a:lnSpc>
              <a:buClr>
                <a:schemeClr val="tx1"/>
              </a:buClr>
              <a:buFontTx/>
              <a:buChar char="•"/>
            </a:pPr>
            <a:r>
              <a:rPr lang="en-US" sz="1800" smtClean="0">
                <a:latin typeface="Arial" charset="0"/>
              </a:rPr>
              <a:t>Requisition and Specifications </a:t>
            </a:r>
          </a:p>
          <a:p>
            <a:pPr lvl="1" eaLnBrk="1" hangingPunct="1">
              <a:lnSpc>
                <a:spcPct val="85000"/>
              </a:lnSpc>
              <a:buClr>
                <a:schemeClr val="tx1"/>
              </a:buClr>
              <a:buFontTx/>
              <a:buChar char="•"/>
            </a:pPr>
            <a:r>
              <a:rPr lang="en-US" sz="1800" smtClean="0">
                <a:latin typeface="Arial" charset="0"/>
              </a:rPr>
              <a:t>Any mandatory requirements set out by RIL in Project Procedures </a:t>
            </a:r>
          </a:p>
          <a:p>
            <a:pPr lvl="1" eaLnBrk="1" hangingPunct="1">
              <a:lnSpc>
                <a:spcPct val="85000"/>
              </a:lnSpc>
              <a:buClr>
                <a:schemeClr val="tx1"/>
              </a:buClr>
              <a:buFontTx/>
              <a:buChar char="•"/>
            </a:pPr>
            <a:r>
              <a:rPr lang="en-US" sz="1800" smtClean="0">
                <a:latin typeface="Arial" charset="0"/>
              </a:rPr>
              <a:t>International Codes and Standards </a:t>
            </a:r>
            <a:endParaRPr lang="en-US" sz="1600" smtClean="0">
              <a:latin typeface="Arial"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idx="4294967295"/>
          </p:nvPr>
        </p:nvSpPr>
        <p:spPr/>
        <p:txBody>
          <a:bodyPr/>
          <a:lstStyle/>
          <a:p>
            <a:r>
              <a:rPr lang="en-US" sz="2400" smtClean="0">
                <a:latin typeface="Arial" charset="0"/>
              </a:rPr>
              <a:t>Specifications</a:t>
            </a:r>
          </a:p>
        </p:txBody>
      </p:sp>
      <p:sp>
        <p:nvSpPr>
          <p:cNvPr id="17410" name="Rectangle 3"/>
          <p:cNvSpPr>
            <a:spLocks noGrp="1" noChangeArrowheads="1"/>
          </p:cNvSpPr>
          <p:nvPr>
            <p:ph type="body" idx="4294967295"/>
          </p:nvPr>
        </p:nvSpPr>
        <p:spPr>
          <a:xfrm>
            <a:off x="612775" y="1162050"/>
            <a:ext cx="8302625" cy="4857750"/>
          </a:xfrm>
        </p:spPr>
        <p:txBody>
          <a:bodyPr/>
          <a:lstStyle/>
          <a:p>
            <a:pPr algn="just" eaLnBrk="1" hangingPunct="1">
              <a:buClr>
                <a:schemeClr val="tx1"/>
              </a:buClr>
              <a:buFont typeface="Wingdings" pitchFamily="2" charset="2"/>
              <a:buChar char="§"/>
            </a:pPr>
            <a:r>
              <a:rPr lang="en-US" sz="1800" smtClean="0">
                <a:latin typeface="Arial" charset="0"/>
              </a:rPr>
              <a:t>Specifications will be produced using appropriate industry codes and standards, local (e.g. OISD etc) and J3 standards and will use J3  format. The specifications will be customized in order to provide equipment and materials with the required level of quality for the function the equipment is performing.</a:t>
            </a:r>
          </a:p>
          <a:p>
            <a:pPr algn="just" eaLnBrk="1" hangingPunct="1">
              <a:buClr>
                <a:schemeClr val="tx1"/>
              </a:buClr>
              <a:buFont typeface="Wingdings" pitchFamily="2" charset="2"/>
              <a:buChar char="§"/>
            </a:pPr>
            <a:r>
              <a:rPr lang="en-US" sz="1800" smtClean="0">
                <a:latin typeface="Arial" charset="0"/>
              </a:rPr>
              <a:t>Specifications will be turned over to DCC for issue to Licensors and DECs and file retention.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idx="4294967295"/>
          </p:nvPr>
        </p:nvSpPr>
        <p:spPr/>
        <p:txBody>
          <a:bodyPr/>
          <a:lstStyle/>
          <a:p>
            <a:pPr marL="495300" indent="-495300"/>
            <a:r>
              <a:rPr lang="en-US" sz="2400" smtClean="0">
                <a:latin typeface="Arial" charset="0"/>
              </a:rPr>
              <a:t>Specification Numbering</a:t>
            </a:r>
          </a:p>
        </p:txBody>
      </p:sp>
      <p:pic>
        <p:nvPicPr>
          <p:cNvPr id="18434" name="Picture 4" descr="Spec 2"/>
          <p:cNvPicPr>
            <a:picLocks noChangeAspect="1" noChangeArrowheads="1"/>
          </p:cNvPicPr>
          <p:nvPr>
            <p:ph type="body" idx="4294967295"/>
          </p:nvPr>
        </p:nvPicPr>
        <p:blipFill>
          <a:blip r:embed="rId2"/>
          <a:srcRect/>
          <a:stretch>
            <a:fillRect/>
          </a:stretch>
        </p:blipFill>
        <p:spPr>
          <a:xfrm>
            <a:off x="1600200" y="1143000"/>
            <a:ext cx="4743450" cy="2581275"/>
          </a:xfrm>
        </p:spPr>
      </p:pic>
      <p:graphicFrame>
        <p:nvGraphicFramePr>
          <p:cNvPr id="38958" name="Group 46"/>
          <p:cNvGraphicFramePr>
            <a:graphicFrameLocks noGrp="1"/>
          </p:cNvGraphicFramePr>
          <p:nvPr>
            <p:ph idx="4294967295"/>
          </p:nvPr>
        </p:nvGraphicFramePr>
        <p:xfrm>
          <a:off x="685800" y="3722688"/>
          <a:ext cx="8077200" cy="2068512"/>
        </p:xfrm>
        <a:graphic>
          <a:graphicData uri="http://schemas.openxmlformats.org/drawingml/2006/table">
            <a:tbl>
              <a:tblPr/>
              <a:tblGrid>
                <a:gridCol w="1177925"/>
                <a:gridCol w="6899275"/>
              </a:tblGrid>
              <a:tr h="246063">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1</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The specification type will be one of the following designators.</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cap="flat">
                      <a:noFill/>
                    </a:lnT>
                    <a:lnB>
                      <a:noFill/>
                    </a:lnB>
                    <a:lnTlToBr>
                      <a:noFill/>
                    </a:lnTlToBr>
                    <a:lnBlToTr>
                      <a:noFill/>
                    </a:lnBlToTr>
                    <a:noFill/>
                  </a:tcPr>
                </a:tc>
              </a:tr>
              <a:tr h="246063">
                <a:tc>
                  <a:txBody>
                    <a:bodyPr/>
                    <a:lstStyle/>
                    <a:p>
                      <a:pPr marL="0" marR="0" lvl="0" indent="0" algn="l" defTabSz="914400" rtl="0" eaLnBrk="0" fontAlgn="base" latinLnBrk="0" hangingPunct="0">
                        <a:lnSpc>
                          <a:spcPct val="95000"/>
                        </a:lnSpc>
                        <a:spcBef>
                          <a:spcPct val="50000"/>
                        </a:spcBef>
                        <a:spcAft>
                          <a:spcPct val="0"/>
                        </a:spcAft>
                        <a:buClr>
                          <a:srgbClr val="F0C33B"/>
                        </a:buClr>
                        <a:buSzTx/>
                        <a:buFont typeface="Monotype Sorts"/>
                        <a:buNone/>
                        <a:tabLst/>
                      </a:pPr>
                      <a:endParaRPr kumimoji="1" lang="en-US" sz="1000" b="1" i="0" u="none" strike="noStrike" cap="none" normalizeH="0" baseline="0" smtClean="0">
                        <a:ln>
                          <a:noFill/>
                        </a:ln>
                        <a:solidFill>
                          <a:schemeClr val="tx1"/>
                        </a:solidFill>
                        <a:effectLst/>
                        <a:latin typeface="Arial" charset="0"/>
                      </a:endParaRPr>
                    </a:p>
                  </a:txBody>
                  <a:tcPr horzOverflow="overflow">
                    <a:lnL cap="flat">
                      <a:noFill/>
                    </a:lnL>
                    <a:lnR>
                      <a:noFill/>
                    </a:lnR>
                    <a:lnT>
                      <a:noFill/>
                    </a:lnT>
                    <a:lnB>
                      <a:noFill/>
                    </a:lnB>
                    <a:lnTlToBr>
                      <a:noFill/>
                    </a:lnTlToBr>
                    <a:lnBlToTr>
                      <a:noFill/>
                    </a:lnBlToTr>
                    <a:noFill/>
                  </a:tcPr>
                </a:tc>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GU - Guideline.</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a:noFill/>
                    </a:lnT>
                    <a:lnB>
                      <a:noFill/>
                    </a:lnB>
                    <a:lnTlToBr>
                      <a:noFill/>
                    </a:lnTlToBr>
                    <a:lnBlToTr>
                      <a:noFill/>
                    </a:lnBlToTr>
                    <a:noFill/>
                  </a:tcPr>
                </a:tc>
              </a:tr>
              <a:tr h="246063">
                <a:tc>
                  <a:txBody>
                    <a:bodyPr/>
                    <a:lstStyle/>
                    <a:p>
                      <a:pPr marL="0" marR="0" lvl="0" indent="0" algn="l" defTabSz="914400" rtl="0" eaLnBrk="0" fontAlgn="base" latinLnBrk="0" hangingPunct="0">
                        <a:lnSpc>
                          <a:spcPct val="95000"/>
                        </a:lnSpc>
                        <a:spcBef>
                          <a:spcPct val="50000"/>
                        </a:spcBef>
                        <a:spcAft>
                          <a:spcPct val="0"/>
                        </a:spcAft>
                        <a:buClr>
                          <a:srgbClr val="F0C33B"/>
                        </a:buClr>
                        <a:buSzTx/>
                        <a:buFont typeface="Monotype Sorts"/>
                        <a:buNone/>
                        <a:tabLst/>
                      </a:pPr>
                      <a:endParaRPr kumimoji="1" lang="en-US" sz="1000" b="1" i="0" u="none" strike="noStrike" cap="none" normalizeH="0" baseline="0" smtClean="0">
                        <a:ln>
                          <a:noFill/>
                        </a:ln>
                        <a:solidFill>
                          <a:schemeClr val="tx1"/>
                        </a:solidFill>
                        <a:effectLst/>
                        <a:latin typeface="Arial" charset="0"/>
                      </a:endParaRPr>
                    </a:p>
                  </a:txBody>
                  <a:tcPr horzOverflow="overflow">
                    <a:lnL cap="flat">
                      <a:noFill/>
                    </a:lnL>
                    <a:lnR>
                      <a:noFill/>
                    </a:lnR>
                    <a:lnT>
                      <a:noFill/>
                    </a:lnT>
                    <a:lnB>
                      <a:noFill/>
                    </a:lnB>
                    <a:lnTlToBr>
                      <a:noFill/>
                    </a:lnTlToBr>
                    <a:lnBlToTr>
                      <a:noFill/>
                    </a:lnBlToTr>
                    <a:noFill/>
                  </a:tcPr>
                </a:tc>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SS - Standard Specifications.</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a:noFill/>
                    </a:lnT>
                    <a:lnB>
                      <a:noFill/>
                    </a:lnB>
                    <a:lnTlToBr>
                      <a:noFill/>
                    </a:lnTlToBr>
                    <a:lnBlToTr>
                      <a:noFill/>
                    </a:lnBlToTr>
                    <a:noFill/>
                  </a:tcPr>
                </a:tc>
              </a:tr>
              <a:tr h="247650">
                <a:tc>
                  <a:txBody>
                    <a:bodyPr/>
                    <a:lstStyle/>
                    <a:p>
                      <a:pPr marL="0" marR="0" lvl="0" indent="0" algn="l" defTabSz="914400" rtl="0" eaLnBrk="0" fontAlgn="base" latinLnBrk="0" hangingPunct="0">
                        <a:lnSpc>
                          <a:spcPct val="95000"/>
                        </a:lnSpc>
                        <a:spcBef>
                          <a:spcPct val="50000"/>
                        </a:spcBef>
                        <a:spcAft>
                          <a:spcPct val="0"/>
                        </a:spcAft>
                        <a:buClr>
                          <a:srgbClr val="F0C33B"/>
                        </a:buClr>
                        <a:buSzTx/>
                        <a:buFont typeface="Monotype Sorts"/>
                        <a:buNone/>
                        <a:tabLst/>
                      </a:pPr>
                      <a:endParaRPr kumimoji="1" lang="en-US" sz="1000" b="1" i="0" u="none" strike="noStrike" cap="none" normalizeH="0" baseline="0" smtClean="0">
                        <a:ln>
                          <a:noFill/>
                        </a:ln>
                        <a:solidFill>
                          <a:schemeClr val="tx1"/>
                        </a:solidFill>
                        <a:effectLst/>
                        <a:latin typeface="Arial" charset="0"/>
                      </a:endParaRPr>
                    </a:p>
                  </a:txBody>
                  <a:tcPr horzOverflow="overflow">
                    <a:lnL cap="flat">
                      <a:noFill/>
                    </a:lnL>
                    <a:lnR>
                      <a:noFill/>
                    </a:lnR>
                    <a:lnT>
                      <a:noFill/>
                    </a:lnT>
                    <a:lnB>
                      <a:noFill/>
                    </a:lnB>
                    <a:lnTlToBr>
                      <a:noFill/>
                    </a:lnTlToBr>
                    <a:lnBlToTr>
                      <a:noFill/>
                    </a:lnBlToTr>
                    <a:noFill/>
                  </a:tcPr>
                </a:tc>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PS - Project Specifications.</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a:noFill/>
                    </a:lnT>
                    <a:lnB>
                      <a:noFill/>
                    </a:lnB>
                    <a:lnTlToBr>
                      <a:noFill/>
                    </a:lnTlToBr>
                    <a:lnBlToTr>
                      <a:noFill/>
                    </a:lnBlToTr>
                    <a:noFill/>
                  </a:tcPr>
                </a:tc>
              </a:tr>
              <a:tr h="400050">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2</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cap="flat">
                      <a:noFill/>
                    </a:lnL>
                    <a:lnR>
                      <a:noFill/>
                    </a:lnR>
                    <a:lnT>
                      <a:noFill/>
                    </a:lnT>
                    <a:lnB>
                      <a:noFill/>
                    </a:lnB>
                    <a:lnTlToBr>
                      <a:noFill/>
                    </a:lnTlToBr>
                    <a:lnBlToTr>
                      <a:noFill/>
                    </a:lnBlToTr>
                    <a:noFill/>
                  </a:tcPr>
                </a:tc>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Commodity Identification code comprises of a Commodity Group code and Sequence Prefix if applicable and may be up to six characters (EC denotes Electrical)</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a:noFill/>
                    </a:lnT>
                    <a:lnB>
                      <a:noFill/>
                    </a:lnB>
                    <a:lnTlToBr>
                      <a:noFill/>
                    </a:lnTlToBr>
                    <a:lnBlToTr>
                      <a:noFill/>
                    </a:lnBlToTr>
                    <a:noFill/>
                  </a:tcPr>
                </a:tc>
              </a:tr>
              <a:tr h="401638">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3.</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cap="flat">
                      <a:noFill/>
                    </a:lnL>
                    <a:lnR>
                      <a:noFill/>
                    </a:lnR>
                    <a:lnT>
                      <a:noFill/>
                    </a:lnT>
                    <a:lnB>
                      <a:noFill/>
                    </a:lnB>
                    <a:lnTlToBr>
                      <a:noFill/>
                    </a:lnTlToBr>
                    <a:lnBlToTr>
                      <a:noFill/>
                    </a:lnBlToTr>
                    <a:noFill/>
                  </a:tcPr>
                </a:tc>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Section Number, (This is an Optional field), Contractor to include an additional section number where the Work Breakdown Structure (WBS) does not provide sufficient granularity to fit their work processes.</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a:noFill/>
                    </a:lnT>
                    <a:lnB>
                      <a:noFill/>
                    </a:lnB>
                    <a:lnTlToBr>
                      <a:noFill/>
                    </a:lnTlToBr>
                    <a:lnBlToTr>
                      <a:noFill/>
                    </a:lnBlToTr>
                    <a:noFill/>
                  </a:tcPr>
                </a:tc>
              </a:tr>
              <a:tr h="280988">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4</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cap="flat">
                      <a:noFill/>
                    </a:lnL>
                    <a:lnR>
                      <a:noFill/>
                    </a:lnR>
                    <a:lnT>
                      <a:noFill/>
                    </a:lnT>
                    <a:lnB cap="flat">
                      <a:noFill/>
                    </a:lnB>
                    <a:lnTlToBr>
                      <a:noFill/>
                    </a:lnTlToBr>
                    <a:lnBlToTr>
                      <a:noFill/>
                    </a:lnBlToTr>
                    <a:noFill/>
                  </a:tcPr>
                </a:tc>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This is the specification sequence number which begins at 001 for each commodity type.</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a:noFill/>
                    </a:lnT>
                    <a:lnB cap="flat">
                      <a:noFill/>
                    </a:lnB>
                    <a:lnTlToBr>
                      <a:noFill/>
                    </a:lnTlToBr>
                    <a:lnBlToTr>
                      <a:noFill/>
                    </a:lnBlToTr>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idx="4294967295"/>
          </p:nvPr>
        </p:nvSpPr>
        <p:spPr/>
        <p:txBody>
          <a:bodyPr/>
          <a:lstStyle/>
          <a:p>
            <a:pPr marL="495300" indent="-495300" eaLnBrk="1" hangingPunct="1"/>
            <a:r>
              <a:rPr lang="en-US" sz="2400" smtClean="0">
                <a:latin typeface="Arial" charset="0"/>
              </a:rPr>
              <a:t>Specifications</a:t>
            </a:r>
          </a:p>
        </p:txBody>
      </p:sp>
      <p:sp>
        <p:nvSpPr>
          <p:cNvPr id="19458" name="Rectangle 3"/>
          <p:cNvSpPr>
            <a:spLocks noGrp="1" noChangeArrowheads="1"/>
          </p:cNvSpPr>
          <p:nvPr>
            <p:ph idx="4294967295"/>
          </p:nvPr>
        </p:nvSpPr>
        <p:spPr>
          <a:xfrm>
            <a:off x="612775" y="1162050"/>
            <a:ext cx="7807325" cy="2009775"/>
          </a:xfrm>
        </p:spPr>
        <p:txBody>
          <a:bodyPr/>
          <a:lstStyle/>
          <a:p>
            <a:pPr marL="700088" lvl="1" indent="-341313" defTabSz="819150" eaLnBrk="1" hangingPunct="1">
              <a:lnSpc>
                <a:spcPct val="85000"/>
              </a:lnSpc>
              <a:buClr>
                <a:schemeClr val="tx1"/>
              </a:buClr>
              <a:buFont typeface="Wingdings" pitchFamily="2" charset="2"/>
              <a:buChar char="§"/>
            </a:pPr>
            <a:r>
              <a:rPr lang="en-US" sz="1800" smtClean="0">
                <a:latin typeface="Arial" charset="0"/>
              </a:rPr>
              <a:t>Describe equipment, materials, and construction methods for the project</a:t>
            </a:r>
          </a:p>
          <a:p>
            <a:pPr marL="700088" lvl="1" indent="-341313" defTabSz="819150" eaLnBrk="1" hangingPunct="1">
              <a:buClr>
                <a:schemeClr val="tx1"/>
              </a:buClr>
              <a:buFont typeface="Wingdings" pitchFamily="2" charset="2"/>
              <a:buChar char="§"/>
            </a:pPr>
            <a:r>
              <a:rPr lang="en-US" sz="1800" smtClean="0">
                <a:latin typeface="Arial" charset="0"/>
              </a:rPr>
              <a:t>Typically included in purchase orders / subcontracts</a:t>
            </a:r>
          </a:p>
          <a:p>
            <a:pPr marL="700088" lvl="1" indent="-341313" defTabSz="819150" eaLnBrk="1" hangingPunct="1">
              <a:buClr>
                <a:schemeClr val="tx1"/>
              </a:buClr>
              <a:buFont typeface="Wingdings" pitchFamily="2" charset="2"/>
              <a:buChar char="§"/>
            </a:pPr>
            <a:r>
              <a:rPr lang="en-GB" sz="1800" smtClean="0">
                <a:latin typeface="Arial" charset="0"/>
              </a:rPr>
              <a:t>Key Steps:</a:t>
            </a:r>
            <a:endParaRPr lang="en-US" sz="1800" smtClean="0">
              <a:latin typeface="Arial" charset="0"/>
            </a:endParaRPr>
          </a:p>
        </p:txBody>
      </p:sp>
      <p:grpSp>
        <p:nvGrpSpPr>
          <p:cNvPr id="19459" name="Group 4"/>
          <p:cNvGrpSpPr>
            <a:grpSpLocks noChangeAspect="1"/>
          </p:cNvGrpSpPr>
          <p:nvPr/>
        </p:nvGrpSpPr>
        <p:grpSpPr bwMode="auto">
          <a:xfrm>
            <a:off x="762000" y="3581400"/>
            <a:ext cx="7620000" cy="2286000"/>
            <a:chOff x="480" y="2256"/>
            <a:chExt cx="4800" cy="1440"/>
          </a:xfrm>
        </p:grpSpPr>
        <p:sp>
          <p:nvSpPr>
            <p:cNvPr id="19460" name="AutoShape 5"/>
            <p:cNvSpPr>
              <a:spLocks noChangeAspect="1" noChangeArrowheads="1" noTextEdit="1"/>
            </p:cNvSpPr>
            <p:nvPr/>
          </p:nvSpPr>
          <p:spPr bwMode="auto">
            <a:xfrm>
              <a:off x="480" y="2256"/>
              <a:ext cx="4800" cy="1440"/>
            </a:xfrm>
            <a:prstGeom prst="rect">
              <a:avLst/>
            </a:prstGeom>
            <a:noFill/>
            <a:ln w="9525">
              <a:noFill/>
              <a:miter lim="800000"/>
              <a:headEnd/>
              <a:tailEnd/>
            </a:ln>
          </p:spPr>
          <p:txBody>
            <a:bodyPr/>
            <a:lstStyle/>
            <a:p>
              <a:endParaRPr lang="en-US"/>
            </a:p>
          </p:txBody>
        </p:sp>
        <p:sp>
          <p:nvSpPr>
            <p:cNvPr id="19461" name="Rectangle 6"/>
            <p:cNvSpPr>
              <a:spLocks noChangeArrowheads="1"/>
            </p:cNvSpPr>
            <p:nvPr/>
          </p:nvSpPr>
          <p:spPr bwMode="auto">
            <a:xfrm>
              <a:off x="567" y="2306"/>
              <a:ext cx="4700" cy="1383"/>
            </a:xfrm>
            <a:prstGeom prst="rect">
              <a:avLst/>
            </a:prstGeom>
            <a:solidFill>
              <a:srgbClr val="99CCFF"/>
            </a:solidFill>
            <a:ln w="9525">
              <a:noFill/>
              <a:miter lim="800000"/>
              <a:headEnd/>
              <a:tailEnd/>
            </a:ln>
          </p:spPr>
          <p:txBody>
            <a:bodyPr/>
            <a:lstStyle/>
            <a:p>
              <a:endParaRPr lang="en-US"/>
            </a:p>
          </p:txBody>
        </p:sp>
        <p:sp>
          <p:nvSpPr>
            <p:cNvPr id="19462" name="Rectangle 7"/>
            <p:cNvSpPr>
              <a:spLocks noChangeArrowheads="1"/>
            </p:cNvSpPr>
            <p:nvPr/>
          </p:nvSpPr>
          <p:spPr bwMode="auto">
            <a:xfrm>
              <a:off x="492" y="2266"/>
              <a:ext cx="4699" cy="1372"/>
            </a:xfrm>
            <a:prstGeom prst="rect">
              <a:avLst/>
            </a:prstGeom>
            <a:solidFill>
              <a:srgbClr val="D2E9FF"/>
            </a:solidFill>
            <a:ln w="9525">
              <a:noFill/>
              <a:miter lim="800000"/>
              <a:headEnd/>
              <a:tailEnd/>
            </a:ln>
          </p:spPr>
          <p:txBody>
            <a:bodyPr/>
            <a:lstStyle/>
            <a:p>
              <a:endParaRPr lang="en-US"/>
            </a:p>
          </p:txBody>
        </p:sp>
        <p:sp>
          <p:nvSpPr>
            <p:cNvPr id="19463" name="Freeform 8"/>
            <p:cNvSpPr>
              <a:spLocks/>
            </p:cNvSpPr>
            <p:nvPr/>
          </p:nvSpPr>
          <p:spPr bwMode="auto">
            <a:xfrm>
              <a:off x="1490" y="2830"/>
              <a:ext cx="2721" cy="211"/>
            </a:xfrm>
            <a:custGeom>
              <a:avLst/>
              <a:gdLst>
                <a:gd name="T0" fmla="*/ 2721 w 2721"/>
                <a:gd name="T1" fmla="*/ 0 h 211"/>
                <a:gd name="T2" fmla="*/ 2721 w 2721"/>
                <a:gd name="T3" fmla="*/ 113 h 211"/>
                <a:gd name="T4" fmla="*/ 0 w 2721"/>
                <a:gd name="T5" fmla="*/ 113 h 211"/>
                <a:gd name="T6" fmla="*/ 0 w 2721"/>
                <a:gd name="T7" fmla="*/ 211 h 211"/>
                <a:gd name="T8" fmla="*/ 0 60000 65536"/>
                <a:gd name="T9" fmla="*/ 0 60000 65536"/>
                <a:gd name="T10" fmla="*/ 0 60000 65536"/>
                <a:gd name="T11" fmla="*/ 0 60000 65536"/>
                <a:gd name="T12" fmla="*/ 0 w 2721"/>
                <a:gd name="T13" fmla="*/ 0 h 211"/>
                <a:gd name="T14" fmla="*/ 2721 w 2721"/>
                <a:gd name="T15" fmla="*/ 211 h 211"/>
              </a:gdLst>
              <a:ahLst/>
              <a:cxnLst>
                <a:cxn ang="T8">
                  <a:pos x="T0" y="T1"/>
                </a:cxn>
                <a:cxn ang="T9">
                  <a:pos x="T2" y="T3"/>
                </a:cxn>
                <a:cxn ang="T10">
                  <a:pos x="T4" y="T5"/>
                </a:cxn>
                <a:cxn ang="T11">
                  <a:pos x="T6" y="T7"/>
                </a:cxn>
              </a:cxnLst>
              <a:rect l="T12" t="T13" r="T14" b="T15"/>
              <a:pathLst>
                <a:path w="2721" h="211">
                  <a:moveTo>
                    <a:pt x="2721" y="0"/>
                  </a:moveTo>
                  <a:lnTo>
                    <a:pt x="2721" y="113"/>
                  </a:lnTo>
                  <a:lnTo>
                    <a:pt x="0" y="113"/>
                  </a:lnTo>
                  <a:lnTo>
                    <a:pt x="0" y="211"/>
                  </a:lnTo>
                </a:path>
              </a:pathLst>
            </a:custGeom>
            <a:noFill/>
            <a:ln w="4763">
              <a:solidFill>
                <a:srgbClr val="000000"/>
              </a:solidFill>
              <a:prstDash val="solid"/>
              <a:round/>
              <a:headEnd/>
              <a:tailEnd/>
            </a:ln>
          </p:spPr>
          <p:txBody>
            <a:bodyPr/>
            <a:lstStyle/>
            <a:p>
              <a:endParaRPr lang="en-US"/>
            </a:p>
          </p:txBody>
        </p:sp>
        <p:sp>
          <p:nvSpPr>
            <p:cNvPr id="19464" name="Freeform 9"/>
            <p:cNvSpPr>
              <a:spLocks/>
            </p:cNvSpPr>
            <p:nvPr/>
          </p:nvSpPr>
          <p:spPr bwMode="auto">
            <a:xfrm>
              <a:off x="1460" y="3035"/>
              <a:ext cx="61" cy="49"/>
            </a:xfrm>
            <a:custGeom>
              <a:avLst/>
              <a:gdLst>
                <a:gd name="T0" fmla="*/ 61 w 61"/>
                <a:gd name="T1" fmla="*/ 0 h 49"/>
                <a:gd name="T2" fmla="*/ 30 w 61"/>
                <a:gd name="T3" fmla="*/ 49 h 49"/>
                <a:gd name="T4" fmla="*/ 0 w 61"/>
                <a:gd name="T5" fmla="*/ 0 h 49"/>
                <a:gd name="T6" fmla="*/ 61 w 61"/>
                <a:gd name="T7" fmla="*/ 0 h 49"/>
                <a:gd name="T8" fmla="*/ 0 60000 65536"/>
                <a:gd name="T9" fmla="*/ 0 60000 65536"/>
                <a:gd name="T10" fmla="*/ 0 60000 65536"/>
                <a:gd name="T11" fmla="*/ 0 60000 65536"/>
                <a:gd name="T12" fmla="*/ 0 w 61"/>
                <a:gd name="T13" fmla="*/ 0 h 49"/>
                <a:gd name="T14" fmla="*/ 61 w 61"/>
                <a:gd name="T15" fmla="*/ 49 h 49"/>
              </a:gdLst>
              <a:ahLst/>
              <a:cxnLst>
                <a:cxn ang="T8">
                  <a:pos x="T0" y="T1"/>
                </a:cxn>
                <a:cxn ang="T9">
                  <a:pos x="T2" y="T3"/>
                </a:cxn>
                <a:cxn ang="T10">
                  <a:pos x="T4" y="T5"/>
                </a:cxn>
                <a:cxn ang="T11">
                  <a:pos x="T6" y="T7"/>
                </a:cxn>
              </a:cxnLst>
              <a:rect l="T12" t="T13" r="T14" b="T15"/>
              <a:pathLst>
                <a:path w="61" h="49">
                  <a:moveTo>
                    <a:pt x="61" y="0"/>
                  </a:moveTo>
                  <a:lnTo>
                    <a:pt x="30" y="49"/>
                  </a:lnTo>
                  <a:lnTo>
                    <a:pt x="0" y="0"/>
                  </a:lnTo>
                  <a:lnTo>
                    <a:pt x="61" y="0"/>
                  </a:lnTo>
                  <a:close/>
                </a:path>
              </a:pathLst>
            </a:custGeom>
            <a:solidFill>
              <a:srgbClr val="000000"/>
            </a:solidFill>
            <a:ln w="9525">
              <a:noFill/>
              <a:round/>
              <a:headEnd/>
              <a:tailEnd/>
            </a:ln>
          </p:spPr>
          <p:txBody>
            <a:bodyPr/>
            <a:lstStyle/>
            <a:p>
              <a:endParaRPr lang="en-US"/>
            </a:p>
          </p:txBody>
        </p:sp>
        <p:sp>
          <p:nvSpPr>
            <p:cNvPr id="19465" name="Rectangle 10"/>
            <p:cNvSpPr>
              <a:spLocks noChangeArrowheads="1"/>
            </p:cNvSpPr>
            <p:nvPr/>
          </p:nvSpPr>
          <p:spPr bwMode="auto">
            <a:xfrm>
              <a:off x="2106" y="3085"/>
              <a:ext cx="842" cy="121"/>
            </a:xfrm>
            <a:prstGeom prst="rect">
              <a:avLst/>
            </a:prstGeom>
            <a:solidFill>
              <a:srgbClr val="FFFFFF"/>
            </a:solidFill>
            <a:ln w="4763">
              <a:solidFill>
                <a:srgbClr val="0000FF"/>
              </a:solidFill>
              <a:miter lim="800000"/>
              <a:headEnd/>
              <a:tailEnd/>
            </a:ln>
          </p:spPr>
          <p:txBody>
            <a:bodyPr/>
            <a:lstStyle/>
            <a:p>
              <a:endParaRPr lang="en-US"/>
            </a:p>
          </p:txBody>
        </p:sp>
        <p:sp>
          <p:nvSpPr>
            <p:cNvPr id="19466" name="Rectangle 11"/>
            <p:cNvSpPr>
              <a:spLocks noChangeArrowheads="1"/>
            </p:cNvSpPr>
            <p:nvPr/>
          </p:nvSpPr>
          <p:spPr bwMode="auto">
            <a:xfrm>
              <a:off x="2357" y="3108"/>
              <a:ext cx="589" cy="77"/>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Discipline Lead</a:t>
              </a:r>
              <a:endParaRPr lang="en-US">
                <a:cs typeface="Arial" charset="0"/>
              </a:endParaRPr>
            </a:p>
          </p:txBody>
        </p:sp>
        <p:sp>
          <p:nvSpPr>
            <p:cNvPr id="19467" name="Rectangle 12"/>
            <p:cNvSpPr>
              <a:spLocks noChangeArrowheads="1"/>
            </p:cNvSpPr>
            <p:nvPr/>
          </p:nvSpPr>
          <p:spPr bwMode="auto">
            <a:xfrm>
              <a:off x="2106" y="3206"/>
              <a:ext cx="842" cy="360"/>
            </a:xfrm>
            <a:prstGeom prst="rect">
              <a:avLst/>
            </a:prstGeom>
            <a:solidFill>
              <a:srgbClr val="FFFFFF"/>
            </a:solidFill>
            <a:ln w="4763">
              <a:solidFill>
                <a:srgbClr val="0000FF"/>
              </a:solidFill>
              <a:miter lim="800000"/>
              <a:headEnd/>
              <a:tailEnd/>
            </a:ln>
          </p:spPr>
          <p:txBody>
            <a:bodyPr/>
            <a:lstStyle/>
            <a:p>
              <a:endParaRPr lang="en-US"/>
            </a:p>
          </p:txBody>
        </p:sp>
        <p:sp>
          <p:nvSpPr>
            <p:cNvPr id="19468" name="Rectangle 13"/>
            <p:cNvSpPr>
              <a:spLocks noChangeArrowheads="1"/>
            </p:cNvSpPr>
            <p:nvPr/>
          </p:nvSpPr>
          <p:spPr bwMode="auto">
            <a:xfrm>
              <a:off x="2224" y="3299"/>
              <a:ext cx="473"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Obtain required</a:t>
              </a:r>
              <a:endParaRPr lang="en-US">
                <a:cs typeface="Arial" charset="0"/>
              </a:endParaRPr>
            </a:p>
          </p:txBody>
        </p:sp>
        <p:sp>
          <p:nvSpPr>
            <p:cNvPr id="19469" name="Rectangle 14"/>
            <p:cNvSpPr>
              <a:spLocks noChangeArrowheads="1"/>
            </p:cNvSpPr>
            <p:nvPr/>
          </p:nvSpPr>
          <p:spPr bwMode="auto">
            <a:xfrm>
              <a:off x="2336" y="3384"/>
              <a:ext cx="321" cy="174"/>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approvals</a:t>
              </a:r>
            </a:p>
            <a:p>
              <a:r>
                <a:rPr lang="en-US" sz="900">
                  <a:solidFill>
                    <a:srgbClr val="000000"/>
                  </a:solidFill>
                  <a:cs typeface="Arial" charset="0"/>
                </a:rPr>
                <a:t>and record</a:t>
              </a:r>
              <a:endParaRPr lang="en-US">
                <a:cs typeface="Arial" charset="0"/>
              </a:endParaRPr>
            </a:p>
          </p:txBody>
        </p:sp>
        <p:sp>
          <p:nvSpPr>
            <p:cNvPr id="19470" name="Rectangle 15"/>
            <p:cNvSpPr>
              <a:spLocks noChangeArrowheads="1"/>
            </p:cNvSpPr>
            <p:nvPr/>
          </p:nvSpPr>
          <p:spPr bwMode="auto">
            <a:xfrm>
              <a:off x="3171" y="3085"/>
              <a:ext cx="843" cy="121"/>
            </a:xfrm>
            <a:prstGeom prst="rect">
              <a:avLst/>
            </a:prstGeom>
            <a:solidFill>
              <a:srgbClr val="FFFFFF"/>
            </a:solidFill>
            <a:ln w="4763">
              <a:solidFill>
                <a:srgbClr val="0000FF"/>
              </a:solidFill>
              <a:miter lim="800000"/>
              <a:headEnd/>
              <a:tailEnd/>
            </a:ln>
          </p:spPr>
          <p:txBody>
            <a:bodyPr/>
            <a:lstStyle/>
            <a:p>
              <a:endParaRPr lang="en-US"/>
            </a:p>
          </p:txBody>
        </p:sp>
        <p:sp>
          <p:nvSpPr>
            <p:cNvPr id="19471" name="Rectangle 16"/>
            <p:cNvSpPr>
              <a:spLocks noChangeArrowheads="1"/>
            </p:cNvSpPr>
            <p:nvPr/>
          </p:nvSpPr>
          <p:spPr bwMode="auto">
            <a:xfrm>
              <a:off x="3429" y="3108"/>
              <a:ext cx="724" cy="77"/>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Disc Lead / Doc Ctrl</a:t>
              </a:r>
              <a:endParaRPr lang="en-US">
                <a:cs typeface="Arial" charset="0"/>
              </a:endParaRPr>
            </a:p>
          </p:txBody>
        </p:sp>
        <p:sp>
          <p:nvSpPr>
            <p:cNvPr id="19472" name="Rectangle 17"/>
            <p:cNvSpPr>
              <a:spLocks noChangeArrowheads="1"/>
            </p:cNvSpPr>
            <p:nvPr/>
          </p:nvSpPr>
          <p:spPr bwMode="auto">
            <a:xfrm>
              <a:off x="3171" y="3206"/>
              <a:ext cx="843" cy="360"/>
            </a:xfrm>
            <a:prstGeom prst="rect">
              <a:avLst/>
            </a:prstGeom>
            <a:solidFill>
              <a:srgbClr val="FFFFFF"/>
            </a:solidFill>
            <a:ln w="4763">
              <a:solidFill>
                <a:srgbClr val="0000FF"/>
              </a:solidFill>
              <a:miter lim="800000"/>
              <a:headEnd/>
              <a:tailEnd/>
            </a:ln>
          </p:spPr>
          <p:txBody>
            <a:bodyPr/>
            <a:lstStyle/>
            <a:p>
              <a:endParaRPr lang="en-US"/>
            </a:p>
          </p:txBody>
        </p:sp>
        <p:sp>
          <p:nvSpPr>
            <p:cNvPr id="19473" name="Rectangle 18"/>
            <p:cNvSpPr>
              <a:spLocks noChangeArrowheads="1"/>
            </p:cNvSpPr>
            <p:nvPr/>
          </p:nvSpPr>
          <p:spPr bwMode="auto">
            <a:xfrm>
              <a:off x="3271" y="3256"/>
              <a:ext cx="454"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Issue specs and</a:t>
              </a:r>
              <a:endParaRPr lang="en-US">
                <a:cs typeface="Arial" charset="0"/>
              </a:endParaRPr>
            </a:p>
          </p:txBody>
        </p:sp>
        <p:sp>
          <p:nvSpPr>
            <p:cNvPr id="19474" name="Rectangle 19"/>
            <p:cNvSpPr>
              <a:spLocks noChangeArrowheads="1"/>
            </p:cNvSpPr>
            <p:nvPr/>
          </p:nvSpPr>
          <p:spPr bwMode="auto">
            <a:xfrm>
              <a:off x="3200" y="3342"/>
              <a:ext cx="601"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maintain originals in</a:t>
              </a:r>
              <a:endParaRPr lang="en-US">
                <a:cs typeface="Arial" charset="0"/>
              </a:endParaRPr>
            </a:p>
          </p:txBody>
        </p:sp>
        <p:sp>
          <p:nvSpPr>
            <p:cNvPr id="19475" name="Rectangle 20"/>
            <p:cNvSpPr>
              <a:spLocks noChangeArrowheads="1"/>
            </p:cNvSpPr>
            <p:nvPr/>
          </p:nvSpPr>
          <p:spPr bwMode="auto">
            <a:xfrm>
              <a:off x="3367" y="3427"/>
              <a:ext cx="347"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project files</a:t>
              </a:r>
              <a:endParaRPr lang="en-US">
                <a:cs typeface="Arial" charset="0"/>
              </a:endParaRPr>
            </a:p>
          </p:txBody>
        </p:sp>
        <p:sp>
          <p:nvSpPr>
            <p:cNvPr id="19476" name="Line 21"/>
            <p:cNvSpPr>
              <a:spLocks noChangeShapeType="1"/>
            </p:cNvSpPr>
            <p:nvPr/>
          </p:nvSpPr>
          <p:spPr bwMode="auto">
            <a:xfrm>
              <a:off x="2948" y="3325"/>
              <a:ext cx="177" cy="1"/>
            </a:xfrm>
            <a:prstGeom prst="line">
              <a:avLst/>
            </a:prstGeom>
            <a:noFill/>
            <a:ln w="4763">
              <a:solidFill>
                <a:srgbClr val="000000"/>
              </a:solidFill>
              <a:round/>
              <a:headEnd/>
              <a:tailEnd/>
            </a:ln>
          </p:spPr>
          <p:txBody>
            <a:bodyPr/>
            <a:lstStyle/>
            <a:p>
              <a:endParaRPr lang="en-US"/>
            </a:p>
          </p:txBody>
        </p:sp>
        <p:sp>
          <p:nvSpPr>
            <p:cNvPr id="19477" name="Freeform 22"/>
            <p:cNvSpPr>
              <a:spLocks/>
            </p:cNvSpPr>
            <p:nvPr/>
          </p:nvSpPr>
          <p:spPr bwMode="auto">
            <a:xfrm>
              <a:off x="3110" y="3301"/>
              <a:ext cx="61" cy="49"/>
            </a:xfrm>
            <a:custGeom>
              <a:avLst/>
              <a:gdLst>
                <a:gd name="T0" fmla="*/ 61 w 61"/>
                <a:gd name="T1" fmla="*/ 24 h 49"/>
                <a:gd name="T2" fmla="*/ 0 w 61"/>
                <a:gd name="T3" fmla="*/ 49 h 49"/>
                <a:gd name="T4" fmla="*/ 1 w 61"/>
                <a:gd name="T5" fmla="*/ 46 h 49"/>
                <a:gd name="T6" fmla="*/ 3 w 61"/>
                <a:gd name="T7" fmla="*/ 44 h 49"/>
                <a:gd name="T8" fmla="*/ 4 w 61"/>
                <a:gd name="T9" fmla="*/ 40 h 49"/>
                <a:gd name="T10" fmla="*/ 5 w 61"/>
                <a:gd name="T11" fmla="*/ 38 h 49"/>
                <a:gd name="T12" fmla="*/ 5 w 61"/>
                <a:gd name="T13" fmla="*/ 35 h 49"/>
                <a:gd name="T14" fmla="*/ 7 w 61"/>
                <a:gd name="T15" fmla="*/ 32 h 49"/>
                <a:gd name="T16" fmla="*/ 7 w 61"/>
                <a:gd name="T17" fmla="*/ 17 h 49"/>
                <a:gd name="T18" fmla="*/ 5 w 61"/>
                <a:gd name="T19" fmla="*/ 14 h 49"/>
                <a:gd name="T20" fmla="*/ 5 w 61"/>
                <a:gd name="T21" fmla="*/ 12 h 49"/>
                <a:gd name="T22" fmla="*/ 3 w 61"/>
                <a:gd name="T23" fmla="*/ 5 h 49"/>
                <a:gd name="T24" fmla="*/ 1 w 61"/>
                <a:gd name="T25" fmla="*/ 3 h 49"/>
                <a:gd name="T26" fmla="*/ 0 w 61"/>
                <a:gd name="T27" fmla="*/ 0 h 49"/>
                <a:gd name="T28" fmla="*/ 61 w 61"/>
                <a:gd name="T29" fmla="*/ 24 h 4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
                <a:gd name="T46" fmla="*/ 0 h 49"/>
                <a:gd name="T47" fmla="*/ 61 w 61"/>
                <a:gd name="T48" fmla="*/ 49 h 4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 h="49">
                  <a:moveTo>
                    <a:pt x="61" y="24"/>
                  </a:moveTo>
                  <a:lnTo>
                    <a:pt x="0" y="49"/>
                  </a:lnTo>
                  <a:lnTo>
                    <a:pt x="1" y="46"/>
                  </a:lnTo>
                  <a:lnTo>
                    <a:pt x="3" y="44"/>
                  </a:lnTo>
                  <a:lnTo>
                    <a:pt x="4" y="40"/>
                  </a:lnTo>
                  <a:lnTo>
                    <a:pt x="5" y="38"/>
                  </a:lnTo>
                  <a:lnTo>
                    <a:pt x="5" y="35"/>
                  </a:lnTo>
                  <a:lnTo>
                    <a:pt x="7" y="32"/>
                  </a:lnTo>
                  <a:lnTo>
                    <a:pt x="7" y="17"/>
                  </a:lnTo>
                  <a:lnTo>
                    <a:pt x="5" y="14"/>
                  </a:lnTo>
                  <a:lnTo>
                    <a:pt x="5" y="12"/>
                  </a:lnTo>
                  <a:lnTo>
                    <a:pt x="3" y="5"/>
                  </a:lnTo>
                  <a:lnTo>
                    <a:pt x="1" y="3"/>
                  </a:lnTo>
                  <a:lnTo>
                    <a:pt x="0" y="0"/>
                  </a:lnTo>
                  <a:lnTo>
                    <a:pt x="61" y="24"/>
                  </a:lnTo>
                  <a:close/>
                </a:path>
              </a:pathLst>
            </a:custGeom>
            <a:solidFill>
              <a:srgbClr val="000000"/>
            </a:solidFill>
            <a:ln w="9525">
              <a:noFill/>
              <a:round/>
              <a:headEnd/>
              <a:tailEnd/>
            </a:ln>
          </p:spPr>
          <p:txBody>
            <a:bodyPr/>
            <a:lstStyle/>
            <a:p>
              <a:endParaRPr lang="en-US"/>
            </a:p>
          </p:txBody>
        </p:sp>
        <p:sp>
          <p:nvSpPr>
            <p:cNvPr id="19478" name="Freeform 23"/>
            <p:cNvSpPr>
              <a:spLocks/>
            </p:cNvSpPr>
            <p:nvPr/>
          </p:nvSpPr>
          <p:spPr bwMode="auto">
            <a:xfrm>
              <a:off x="3219" y="3096"/>
              <a:ext cx="124" cy="99"/>
            </a:xfrm>
            <a:custGeom>
              <a:avLst/>
              <a:gdLst>
                <a:gd name="T0" fmla="*/ 0 w 124"/>
                <a:gd name="T1" fmla="*/ 49 h 99"/>
                <a:gd name="T2" fmla="*/ 3 w 124"/>
                <a:gd name="T3" fmla="*/ 35 h 99"/>
                <a:gd name="T4" fmla="*/ 11 w 124"/>
                <a:gd name="T5" fmla="*/ 22 h 99"/>
                <a:gd name="T6" fmla="*/ 23 w 124"/>
                <a:gd name="T7" fmla="*/ 11 h 99"/>
                <a:gd name="T8" fmla="*/ 37 w 124"/>
                <a:gd name="T9" fmla="*/ 4 h 99"/>
                <a:gd name="T10" fmla="*/ 55 w 124"/>
                <a:gd name="T11" fmla="*/ 0 h 99"/>
                <a:gd name="T12" fmla="*/ 72 w 124"/>
                <a:gd name="T13" fmla="*/ 0 h 99"/>
                <a:gd name="T14" fmla="*/ 89 w 124"/>
                <a:gd name="T15" fmla="*/ 4 h 99"/>
                <a:gd name="T16" fmla="*/ 103 w 124"/>
                <a:gd name="T17" fmla="*/ 11 h 99"/>
                <a:gd name="T18" fmla="*/ 115 w 124"/>
                <a:gd name="T19" fmla="*/ 22 h 99"/>
                <a:gd name="T20" fmla="*/ 122 w 124"/>
                <a:gd name="T21" fmla="*/ 35 h 99"/>
                <a:gd name="T22" fmla="*/ 124 w 124"/>
                <a:gd name="T23" fmla="*/ 49 h 99"/>
                <a:gd name="T24" fmla="*/ 122 w 124"/>
                <a:gd name="T25" fmla="*/ 63 h 99"/>
                <a:gd name="T26" fmla="*/ 115 w 124"/>
                <a:gd name="T27" fmla="*/ 77 h 99"/>
                <a:gd name="T28" fmla="*/ 103 w 124"/>
                <a:gd name="T29" fmla="*/ 87 h 99"/>
                <a:gd name="T30" fmla="*/ 89 w 124"/>
                <a:gd name="T31" fmla="*/ 95 h 99"/>
                <a:gd name="T32" fmla="*/ 72 w 124"/>
                <a:gd name="T33" fmla="*/ 99 h 99"/>
                <a:gd name="T34" fmla="*/ 55 w 124"/>
                <a:gd name="T35" fmla="*/ 99 h 99"/>
                <a:gd name="T36" fmla="*/ 37 w 124"/>
                <a:gd name="T37" fmla="*/ 95 h 99"/>
                <a:gd name="T38" fmla="*/ 23 w 124"/>
                <a:gd name="T39" fmla="*/ 87 h 99"/>
                <a:gd name="T40" fmla="*/ 11 w 124"/>
                <a:gd name="T41" fmla="*/ 77 h 99"/>
                <a:gd name="T42" fmla="*/ 3 w 124"/>
                <a:gd name="T43" fmla="*/ 63 h 99"/>
                <a:gd name="T44" fmla="*/ 0 w 124"/>
                <a:gd name="T45" fmla="*/ 49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99"/>
                <a:gd name="T71" fmla="*/ 124 w 124"/>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99">
                  <a:moveTo>
                    <a:pt x="0" y="49"/>
                  </a:moveTo>
                  <a:lnTo>
                    <a:pt x="3" y="35"/>
                  </a:lnTo>
                  <a:lnTo>
                    <a:pt x="11" y="22"/>
                  </a:lnTo>
                  <a:lnTo>
                    <a:pt x="23" y="11"/>
                  </a:lnTo>
                  <a:lnTo>
                    <a:pt x="37" y="4"/>
                  </a:lnTo>
                  <a:lnTo>
                    <a:pt x="55" y="0"/>
                  </a:lnTo>
                  <a:lnTo>
                    <a:pt x="72" y="0"/>
                  </a:lnTo>
                  <a:lnTo>
                    <a:pt x="89" y="4"/>
                  </a:lnTo>
                  <a:lnTo>
                    <a:pt x="103" y="11"/>
                  </a:lnTo>
                  <a:lnTo>
                    <a:pt x="115" y="22"/>
                  </a:lnTo>
                  <a:lnTo>
                    <a:pt x="122" y="35"/>
                  </a:lnTo>
                  <a:lnTo>
                    <a:pt x="124" y="49"/>
                  </a:lnTo>
                  <a:lnTo>
                    <a:pt x="122" y="63"/>
                  </a:lnTo>
                  <a:lnTo>
                    <a:pt x="115" y="77"/>
                  </a:lnTo>
                  <a:lnTo>
                    <a:pt x="103" y="87"/>
                  </a:lnTo>
                  <a:lnTo>
                    <a:pt x="89" y="95"/>
                  </a:lnTo>
                  <a:lnTo>
                    <a:pt x="72" y="99"/>
                  </a:lnTo>
                  <a:lnTo>
                    <a:pt x="55" y="99"/>
                  </a:lnTo>
                  <a:lnTo>
                    <a:pt x="37" y="95"/>
                  </a:lnTo>
                  <a:lnTo>
                    <a:pt x="23" y="87"/>
                  </a:lnTo>
                  <a:lnTo>
                    <a:pt x="11" y="77"/>
                  </a:lnTo>
                  <a:lnTo>
                    <a:pt x="3" y="63"/>
                  </a:lnTo>
                  <a:lnTo>
                    <a:pt x="0" y="49"/>
                  </a:lnTo>
                  <a:close/>
                </a:path>
              </a:pathLst>
            </a:custGeom>
            <a:solidFill>
              <a:srgbClr val="00FFFF"/>
            </a:solidFill>
            <a:ln w="9525">
              <a:noFill/>
              <a:round/>
              <a:headEnd/>
              <a:tailEnd/>
            </a:ln>
          </p:spPr>
          <p:txBody>
            <a:bodyPr/>
            <a:lstStyle/>
            <a:p>
              <a:endParaRPr lang="en-US"/>
            </a:p>
          </p:txBody>
        </p:sp>
        <p:sp>
          <p:nvSpPr>
            <p:cNvPr id="19479" name="Rectangle 24"/>
            <p:cNvSpPr>
              <a:spLocks noChangeArrowheads="1"/>
            </p:cNvSpPr>
            <p:nvPr/>
          </p:nvSpPr>
          <p:spPr bwMode="auto">
            <a:xfrm>
              <a:off x="3263" y="3113"/>
              <a:ext cx="28" cy="68"/>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7</a:t>
              </a:r>
              <a:endParaRPr lang="en-US">
                <a:cs typeface="Arial" charset="0"/>
              </a:endParaRPr>
            </a:p>
          </p:txBody>
        </p:sp>
        <p:sp>
          <p:nvSpPr>
            <p:cNvPr id="19480" name="Freeform 25"/>
            <p:cNvSpPr>
              <a:spLocks/>
            </p:cNvSpPr>
            <p:nvPr/>
          </p:nvSpPr>
          <p:spPr bwMode="auto">
            <a:xfrm>
              <a:off x="2168" y="3096"/>
              <a:ext cx="123" cy="99"/>
            </a:xfrm>
            <a:custGeom>
              <a:avLst/>
              <a:gdLst>
                <a:gd name="T0" fmla="*/ 0 w 123"/>
                <a:gd name="T1" fmla="*/ 49 h 99"/>
                <a:gd name="T2" fmla="*/ 2 w 123"/>
                <a:gd name="T3" fmla="*/ 35 h 99"/>
                <a:gd name="T4" fmla="*/ 10 w 123"/>
                <a:gd name="T5" fmla="*/ 22 h 99"/>
                <a:gd name="T6" fmla="*/ 21 w 123"/>
                <a:gd name="T7" fmla="*/ 11 h 99"/>
                <a:gd name="T8" fmla="*/ 36 w 123"/>
                <a:gd name="T9" fmla="*/ 4 h 99"/>
                <a:gd name="T10" fmla="*/ 53 w 123"/>
                <a:gd name="T11" fmla="*/ 0 h 99"/>
                <a:gd name="T12" fmla="*/ 70 w 123"/>
                <a:gd name="T13" fmla="*/ 0 h 99"/>
                <a:gd name="T14" fmla="*/ 87 w 123"/>
                <a:gd name="T15" fmla="*/ 4 h 99"/>
                <a:gd name="T16" fmla="*/ 102 w 123"/>
                <a:gd name="T17" fmla="*/ 11 h 99"/>
                <a:gd name="T18" fmla="*/ 114 w 123"/>
                <a:gd name="T19" fmla="*/ 22 h 99"/>
                <a:gd name="T20" fmla="*/ 120 w 123"/>
                <a:gd name="T21" fmla="*/ 35 h 99"/>
                <a:gd name="T22" fmla="*/ 123 w 123"/>
                <a:gd name="T23" fmla="*/ 49 h 99"/>
                <a:gd name="T24" fmla="*/ 120 w 123"/>
                <a:gd name="T25" fmla="*/ 63 h 99"/>
                <a:gd name="T26" fmla="*/ 114 w 123"/>
                <a:gd name="T27" fmla="*/ 77 h 99"/>
                <a:gd name="T28" fmla="*/ 102 w 123"/>
                <a:gd name="T29" fmla="*/ 87 h 99"/>
                <a:gd name="T30" fmla="*/ 87 w 123"/>
                <a:gd name="T31" fmla="*/ 95 h 99"/>
                <a:gd name="T32" fmla="*/ 70 w 123"/>
                <a:gd name="T33" fmla="*/ 99 h 99"/>
                <a:gd name="T34" fmla="*/ 53 w 123"/>
                <a:gd name="T35" fmla="*/ 99 h 99"/>
                <a:gd name="T36" fmla="*/ 36 w 123"/>
                <a:gd name="T37" fmla="*/ 95 h 99"/>
                <a:gd name="T38" fmla="*/ 21 w 123"/>
                <a:gd name="T39" fmla="*/ 87 h 99"/>
                <a:gd name="T40" fmla="*/ 10 w 123"/>
                <a:gd name="T41" fmla="*/ 77 h 99"/>
                <a:gd name="T42" fmla="*/ 2 w 123"/>
                <a:gd name="T43" fmla="*/ 63 h 99"/>
                <a:gd name="T44" fmla="*/ 0 w 123"/>
                <a:gd name="T45" fmla="*/ 49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3"/>
                <a:gd name="T70" fmla="*/ 0 h 99"/>
                <a:gd name="T71" fmla="*/ 123 w 123"/>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3" h="99">
                  <a:moveTo>
                    <a:pt x="0" y="49"/>
                  </a:moveTo>
                  <a:lnTo>
                    <a:pt x="2" y="35"/>
                  </a:lnTo>
                  <a:lnTo>
                    <a:pt x="10" y="22"/>
                  </a:lnTo>
                  <a:lnTo>
                    <a:pt x="21" y="11"/>
                  </a:lnTo>
                  <a:lnTo>
                    <a:pt x="36" y="4"/>
                  </a:lnTo>
                  <a:lnTo>
                    <a:pt x="53" y="0"/>
                  </a:lnTo>
                  <a:lnTo>
                    <a:pt x="70" y="0"/>
                  </a:lnTo>
                  <a:lnTo>
                    <a:pt x="87" y="4"/>
                  </a:lnTo>
                  <a:lnTo>
                    <a:pt x="102" y="11"/>
                  </a:lnTo>
                  <a:lnTo>
                    <a:pt x="114" y="22"/>
                  </a:lnTo>
                  <a:lnTo>
                    <a:pt x="120" y="35"/>
                  </a:lnTo>
                  <a:lnTo>
                    <a:pt x="123" y="49"/>
                  </a:lnTo>
                  <a:lnTo>
                    <a:pt x="120" y="63"/>
                  </a:lnTo>
                  <a:lnTo>
                    <a:pt x="114" y="77"/>
                  </a:lnTo>
                  <a:lnTo>
                    <a:pt x="102" y="87"/>
                  </a:lnTo>
                  <a:lnTo>
                    <a:pt x="87" y="95"/>
                  </a:lnTo>
                  <a:lnTo>
                    <a:pt x="70" y="99"/>
                  </a:lnTo>
                  <a:lnTo>
                    <a:pt x="53" y="99"/>
                  </a:lnTo>
                  <a:lnTo>
                    <a:pt x="36" y="95"/>
                  </a:lnTo>
                  <a:lnTo>
                    <a:pt x="21" y="87"/>
                  </a:lnTo>
                  <a:lnTo>
                    <a:pt x="10" y="77"/>
                  </a:lnTo>
                  <a:lnTo>
                    <a:pt x="2" y="63"/>
                  </a:lnTo>
                  <a:lnTo>
                    <a:pt x="0" y="49"/>
                  </a:lnTo>
                  <a:close/>
                </a:path>
              </a:pathLst>
            </a:custGeom>
            <a:solidFill>
              <a:srgbClr val="00FFFF"/>
            </a:solidFill>
            <a:ln w="9525">
              <a:noFill/>
              <a:round/>
              <a:headEnd/>
              <a:tailEnd/>
            </a:ln>
          </p:spPr>
          <p:txBody>
            <a:bodyPr/>
            <a:lstStyle/>
            <a:p>
              <a:endParaRPr lang="en-US"/>
            </a:p>
          </p:txBody>
        </p:sp>
        <p:sp>
          <p:nvSpPr>
            <p:cNvPr id="19481" name="Rectangle 26"/>
            <p:cNvSpPr>
              <a:spLocks noChangeArrowheads="1"/>
            </p:cNvSpPr>
            <p:nvPr/>
          </p:nvSpPr>
          <p:spPr bwMode="auto">
            <a:xfrm>
              <a:off x="2210" y="3113"/>
              <a:ext cx="28" cy="68"/>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6</a:t>
              </a:r>
              <a:endParaRPr lang="en-US">
                <a:cs typeface="Arial" charset="0"/>
              </a:endParaRPr>
            </a:p>
          </p:txBody>
        </p:sp>
        <p:sp>
          <p:nvSpPr>
            <p:cNvPr id="19482" name="Rectangle 27"/>
            <p:cNvSpPr>
              <a:spLocks noChangeArrowheads="1"/>
            </p:cNvSpPr>
            <p:nvPr/>
          </p:nvSpPr>
          <p:spPr bwMode="auto">
            <a:xfrm>
              <a:off x="691" y="2344"/>
              <a:ext cx="795" cy="119"/>
            </a:xfrm>
            <a:prstGeom prst="rect">
              <a:avLst/>
            </a:prstGeom>
            <a:solidFill>
              <a:srgbClr val="FFFFFF"/>
            </a:solidFill>
            <a:ln w="4763">
              <a:solidFill>
                <a:srgbClr val="0000FF"/>
              </a:solidFill>
              <a:miter lim="800000"/>
              <a:headEnd/>
              <a:tailEnd/>
            </a:ln>
          </p:spPr>
          <p:txBody>
            <a:bodyPr/>
            <a:lstStyle/>
            <a:p>
              <a:endParaRPr lang="en-US"/>
            </a:p>
          </p:txBody>
        </p:sp>
        <p:sp>
          <p:nvSpPr>
            <p:cNvPr id="19483" name="Rectangle 28"/>
            <p:cNvSpPr>
              <a:spLocks noChangeArrowheads="1"/>
            </p:cNvSpPr>
            <p:nvPr/>
          </p:nvSpPr>
          <p:spPr bwMode="auto">
            <a:xfrm>
              <a:off x="899" y="2367"/>
              <a:ext cx="329" cy="77"/>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PMT Leads</a:t>
              </a:r>
              <a:endParaRPr lang="en-US">
                <a:cs typeface="Arial" charset="0"/>
              </a:endParaRPr>
            </a:p>
          </p:txBody>
        </p:sp>
        <p:sp>
          <p:nvSpPr>
            <p:cNvPr id="19484" name="Rectangle 29"/>
            <p:cNvSpPr>
              <a:spLocks noChangeArrowheads="1"/>
            </p:cNvSpPr>
            <p:nvPr/>
          </p:nvSpPr>
          <p:spPr bwMode="auto">
            <a:xfrm>
              <a:off x="691" y="2463"/>
              <a:ext cx="795" cy="361"/>
            </a:xfrm>
            <a:prstGeom prst="rect">
              <a:avLst/>
            </a:prstGeom>
            <a:solidFill>
              <a:srgbClr val="FFFFFF"/>
            </a:solidFill>
            <a:ln w="4763">
              <a:solidFill>
                <a:srgbClr val="0000FF"/>
              </a:solidFill>
              <a:miter lim="800000"/>
              <a:headEnd/>
              <a:tailEnd/>
            </a:ln>
          </p:spPr>
          <p:txBody>
            <a:bodyPr/>
            <a:lstStyle/>
            <a:p>
              <a:endParaRPr lang="en-US"/>
            </a:p>
          </p:txBody>
        </p:sp>
        <p:sp>
          <p:nvSpPr>
            <p:cNvPr id="19485" name="Rectangle 30"/>
            <p:cNvSpPr>
              <a:spLocks noChangeArrowheads="1"/>
            </p:cNvSpPr>
            <p:nvPr/>
          </p:nvSpPr>
          <p:spPr bwMode="auto">
            <a:xfrm>
              <a:off x="909" y="2515"/>
              <a:ext cx="262"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Establish</a:t>
              </a:r>
              <a:endParaRPr lang="en-US">
                <a:cs typeface="Arial" charset="0"/>
              </a:endParaRPr>
            </a:p>
          </p:txBody>
        </p:sp>
        <p:sp>
          <p:nvSpPr>
            <p:cNvPr id="19486" name="Rectangle 31"/>
            <p:cNvSpPr>
              <a:spLocks noChangeArrowheads="1"/>
            </p:cNvSpPr>
            <p:nvPr/>
          </p:nvSpPr>
          <p:spPr bwMode="auto">
            <a:xfrm>
              <a:off x="844" y="2600"/>
              <a:ext cx="373"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specification</a:t>
              </a:r>
              <a:endParaRPr lang="en-US">
                <a:cs typeface="Arial" charset="0"/>
              </a:endParaRPr>
            </a:p>
          </p:txBody>
        </p:sp>
        <p:sp>
          <p:nvSpPr>
            <p:cNvPr id="19487" name="Rectangle 32"/>
            <p:cNvSpPr>
              <a:spLocks noChangeArrowheads="1"/>
            </p:cNvSpPr>
            <p:nvPr/>
          </p:nvSpPr>
          <p:spPr bwMode="auto">
            <a:xfrm>
              <a:off x="732" y="2686"/>
              <a:ext cx="543"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source and format</a:t>
              </a:r>
              <a:endParaRPr lang="en-US">
                <a:cs typeface="Arial" charset="0"/>
              </a:endParaRPr>
            </a:p>
          </p:txBody>
        </p:sp>
        <p:sp>
          <p:nvSpPr>
            <p:cNvPr id="19488" name="Rectangle 33"/>
            <p:cNvSpPr>
              <a:spLocks noChangeArrowheads="1"/>
            </p:cNvSpPr>
            <p:nvPr/>
          </p:nvSpPr>
          <p:spPr bwMode="auto">
            <a:xfrm>
              <a:off x="1684" y="2344"/>
              <a:ext cx="892" cy="119"/>
            </a:xfrm>
            <a:prstGeom prst="rect">
              <a:avLst/>
            </a:prstGeom>
            <a:solidFill>
              <a:srgbClr val="FFFFFF"/>
            </a:solidFill>
            <a:ln w="4763">
              <a:solidFill>
                <a:srgbClr val="0000FF"/>
              </a:solidFill>
              <a:miter lim="800000"/>
              <a:headEnd/>
              <a:tailEnd/>
            </a:ln>
          </p:spPr>
          <p:txBody>
            <a:bodyPr/>
            <a:lstStyle/>
            <a:p>
              <a:endParaRPr lang="en-US"/>
            </a:p>
          </p:txBody>
        </p:sp>
        <p:sp>
          <p:nvSpPr>
            <p:cNvPr id="19489" name="Rectangle 34"/>
            <p:cNvSpPr>
              <a:spLocks noChangeArrowheads="1"/>
            </p:cNvSpPr>
            <p:nvPr/>
          </p:nvSpPr>
          <p:spPr bwMode="auto">
            <a:xfrm>
              <a:off x="1961" y="2367"/>
              <a:ext cx="589" cy="77"/>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Discipline Lead</a:t>
              </a:r>
              <a:endParaRPr lang="en-US">
                <a:cs typeface="Arial" charset="0"/>
              </a:endParaRPr>
            </a:p>
          </p:txBody>
        </p:sp>
        <p:sp>
          <p:nvSpPr>
            <p:cNvPr id="19490" name="Rectangle 35"/>
            <p:cNvSpPr>
              <a:spLocks noChangeArrowheads="1"/>
            </p:cNvSpPr>
            <p:nvPr/>
          </p:nvSpPr>
          <p:spPr bwMode="auto">
            <a:xfrm>
              <a:off x="1684" y="2463"/>
              <a:ext cx="892" cy="361"/>
            </a:xfrm>
            <a:prstGeom prst="rect">
              <a:avLst/>
            </a:prstGeom>
            <a:solidFill>
              <a:srgbClr val="FFFFFF"/>
            </a:solidFill>
            <a:ln w="4763">
              <a:solidFill>
                <a:srgbClr val="0000FF"/>
              </a:solidFill>
              <a:miter lim="800000"/>
              <a:headEnd/>
              <a:tailEnd/>
            </a:ln>
          </p:spPr>
          <p:txBody>
            <a:bodyPr/>
            <a:lstStyle/>
            <a:p>
              <a:endParaRPr lang="en-US"/>
            </a:p>
          </p:txBody>
        </p:sp>
        <p:sp>
          <p:nvSpPr>
            <p:cNvPr id="19491" name="Rectangle 36"/>
            <p:cNvSpPr>
              <a:spLocks noChangeArrowheads="1"/>
            </p:cNvSpPr>
            <p:nvPr/>
          </p:nvSpPr>
          <p:spPr bwMode="auto">
            <a:xfrm>
              <a:off x="1853" y="2515"/>
              <a:ext cx="412"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Assign unique</a:t>
              </a:r>
              <a:endParaRPr lang="en-US">
                <a:cs typeface="Arial" charset="0"/>
              </a:endParaRPr>
            </a:p>
          </p:txBody>
        </p:sp>
        <p:sp>
          <p:nvSpPr>
            <p:cNvPr id="19492" name="Rectangle 37"/>
            <p:cNvSpPr>
              <a:spLocks noChangeArrowheads="1"/>
            </p:cNvSpPr>
            <p:nvPr/>
          </p:nvSpPr>
          <p:spPr bwMode="auto">
            <a:xfrm>
              <a:off x="1716" y="2600"/>
              <a:ext cx="635"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number to each spec </a:t>
              </a:r>
              <a:endParaRPr lang="en-US">
                <a:cs typeface="Arial" charset="0"/>
              </a:endParaRPr>
            </a:p>
          </p:txBody>
        </p:sp>
        <p:sp>
          <p:nvSpPr>
            <p:cNvPr id="19493" name="Rectangle 38"/>
            <p:cNvSpPr>
              <a:spLocks noChangeArrowheads="1"/>
            </p:cNvSpPr>
            <p:nvPr/>
          </p:nvSpPr>
          <p:spPr bwMode="auto">
            <a:xfrm>
              <a:off x="1883" y="2686"/>
              <a:ext cx="378"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per standard</a:t>
              </a:r>
              <a:endParaRPr lang="en-US">
                <a:cs typeface="Arial" charset="0"/>
              </a:endParaRPr>
            </a:p>
          </p:txBody>
        </p:sp>
        <p:sp>
          <p:nvSpPr>
            <p:cNvPr id="19494" name="Rectangle 39"/>
            <p:cNvSpPr>
              <a:spLocks noChangeArrowheads="1"/>
            </p:cNvSpPr>
            <p:nvPr/>
          </p:nvSpPr>
          <p:spPr bwMode="auto">
            <a:xfrm>
              <a:off x="2800" y="2344"/>
              <a:ext cx="793" cy="119"/>
            </a:xfrm>
            <a:prstGeom prst="rect">
              <a:avLst/>
            </a:prstGeom>
            <a:solidFill>
              <a:srgbClr val="FFFFFF"/>
            </a:solidFill>
            <a:ln w="4763">
              <a:solidFill>
                <a:srgbClr val="0000FF"/>
              </a:solidFill>
              <a:miter lim="800000"/>
              <a:headEnd/>
              <a:tailEnd/>
            </a:ln>
          </p:spPr>
          <p:txBody>
            <a:bodyPr/>
            <a:lstStyle/>
            <a:p>
              <a:endParaRPr lang="en-US"/>
            </a:p>
          </p:txBody>
        </p:sp>
        <p:sp>
          <p:nvSpPr>
            <p:cNvPr id="19495" name="Rectangle 40"/>
            <p:cNvSpPr>
              <a:spLocks noChangeArrowheads="1"/>
            </p:cNvSpPr>
            <p:nvPr/>
          </p:nvSpPr>
          <p:spPr bwMode="auto">
            <a:xfrm>
              <a:off x="3024" y="2367"/>
              <a:ext cx="443" cy="77"/>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Engineers</a:t>
              </a:r>
              <a:endParaRPr lang="en-US">
                <a:cs typeface="Arial" charset="0"/>
              </a:endParaRPr>
            </a:p>
          </p:txBody>
        </p:sp>
        <p:sp>
          <p:nvSpPr>
            <p:cNvPr id="19496" name="Rectangle 41"/>
            <p:cNvSpPr>
              <a:spLocks noChangeArrowheads="1"/>
            </p:cNvSpPr>
            <p:nvPr/>
          </p:nvSpPr>
          <p:spPr bwMode="auto">
            <a:xfrm>
              <a:off x="2800" y="2463"/>
              <a:ext cx="793" cy="361"/>
            </a:xfrm>
            <a:prstGeom prst="rect">
              <a:avLst/>
            </a:prstGeom>
            <a:solidFill>
              <a:srgbClr val="FFFFFF"/>
            </a:solidFill>
            <a:ln w="4763">
              <a:solidFill>
                <a:srgbClr val="0000FF"/>
              </a:solidFill>
              <a:miter lim="800000"/>
              <a:headEnd/>
              <a:tailEnd/>
            </a:ln>
          </p:spPr>
          <p:txBody>
            <a:bodyPr/>
            <a:lstStyle/>
            <a:p>
              <a:endParaRPr lang="en-US"/>
            </a:p>
          </p:txBody>
        </p:sp>
        <p:sp>
          <p:nvSpPr>
            <p:cNvPr id="19497" name="Rectangle 42"/>
            <p:cNvSpPr>
              <a:spLocks noChangeArrowheads="1"/>
            </p:cNvSpPr>
            <p:nvPr/>
          </p:nvSpPr>
          <p:spPr bwMode="auto">
            <a:xfrm>
              <a:off x="2875" y="2515"/>
              <a:ext cx="624" cy="262"/>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Prepare Spec and</a:t>
              </a:r>
            </a:p>
            <a:p>
              <a:r>
                <a:rPr lang="en-US" sz="900">
                  <a:solidFill>
                    <a:srgbClr val="000000"/>
                  </a:solidFill>
                  <a:cs typeface="Arial" charset="0"/>
                </a:rPr>
                <a:t>Name electronic files</a:t>
              </a:r>
            </a:p>
            <a:p>
              <a:r>
                <a:rPr lang="en-US" sz="900">
                  <a:solidFill>
                    <a:srgbClr val="000000"/>
                  </a:solidFill>
                  <a:cs typeface="Arial" charset="0"/>
                </a:rPr>
                <a:t>In consistent manner</a:t>
              </a:r>
              <a:endParaRPr lang="en-US">
                <a:cs typeface="Arial" charset="0"/>
              </a:endParaRPr>
            </a:p>
          </p:txBody>
        </p:sp>
        <p:sp>
          <p:nvSpPr>
            <p:cNvPr id="19498" name="Rectangle 43"/>
            <p:cNvSpPr>
              <a:spLocks noChangeArrowheads="1"/>
            </p:cNvSpPr>
            <p:nvPr/>
          </p:nvSpPr>
          <p:spPr bwMode="auto">
            <a:xfrm>
              <a:off x="2857" y="2600"/>
              <a:ext cx="0" cy="174"/>
            </a:xfrm>
            <a:prstGeom prst="rect">
              <a:avLst/>
            </a:prstGeom>
            <a:noFill/>
            <a:ln w="9525">
              <a:noFill/>
              <a:miter lim="800000"/>
              <a:headEnd/>
              <a:tailEnd/>
            </a:ln>
          </p:spPr>
          <p:txBody>
            <a:bodyPr wrap="none" lIns="0" tIns="0" rIns="0" bIns="0">
              <a:spAutoFit/>
            </a:bodyPr>
            <a:lstStyle/>
            <a:p>
              <a:endParaRPr lang="en-US">
                <a:cs typeface="Arial" charset="0"/>
              </a:endParaRPr>
            </a:p>
          </p:txBody>
        </p:sp>
        <p:sp>
          <p:nvSpPr>
            <p:cNvPr id="19499" name="Rectangle 44"/>
            <p:cNvSpPr>
              <a:spLocks noChangeArrowheads="1"/>
            </p:cNvSpPr>
            <p:nvPr/>
          </p:nvSpPr>
          <p:spPr bwMode="auto">
            <a:xfrm>
              <a:off x="3045" y="2686"/>
              <a:ext cx="0" cy="174"/>
            </a:xfrm>
            <a:prstGeom prst="rect">
              <a:avLst/>
            </a:prstGeom>
            <a:noFill/>
            <a:ln w="9525">
              <a:noFill/>
              <a:miter lim="800000"/>
              <a:headEnd/>
              <a:tailEnd/>
            </a:ln>
          </p:spPr>
          <p:txBody>
            <a:bodyPr wrap="none" lIns="0" tIns="0" rIns="0" bIns="0">
              <a:spAutoFit/>
            </a:bodyPr>
            <a:lstStyle/>
            <a:p>
              <a:endParaRPr lang="en-US">
                <a:cs typeface="Arial" charset="0"/>
              </a:endParaRPr>
            </a:p>
          </p:txBody>
        </p:sp>
        <p:sp>
          <p:nvSpPr>
            <p:cNvPr id="19500" name="Line 45"/>
            <p:cNvSpPr>
              <a:spLocks noChangeShapeType="1"/>
            </p:cNvSpPr>
            <p:nvPr/>
          </p:nvSpPr>
          <p:spPr bwMode="auto">
            <a:xfrm>
              <a:off x="1486" y="2584"/>
              <a:ext cx="152" cy="1"/>
            </a:xfrm>
            <a:prstGeom prst="line">
              <a:avLst/>
            </a:prstGeom>
            <a:noFill/>
            <a:ln w="4763">
              <a:solidFill>
                <a:srgbClr val="000000"/>
              </a:solidFill>
              <a:round/>
              <a:headEnd/>
              <a:tailEnd/>
            </a:ln>
          </p:spPr>
          <p:txBody>
            <a:bodyPr/>
            <a:lstStyle/>
            <a:p>
              <a:endParaRPr lang="en-US"/>
            </a:p>
          </p:txBody>
        </p:sp>
        <p:sp>
          <p:nvSpPr>
            <p:cNvPr id="19501" name="Freeform 46"/>
            <p:cNvSpPr>
              <a:spLocks/>
            </p:cNvSpPr>
            <p:nvPr/>
          </p:nvSpPr>
          <p:spPr bwMode="auto">
            <a:xfrm>
              <a:off x="1624" y="2559"/>
              <a:ext cx="60" cy="50"/>
            </a:xfrm>
            <a:custGeom>
              <a:avLst/>
              <a:gdLst>
                <a:gd name="T0" fmla="*/ 60 w 60"/>
                <a:gd name="T1" fmla="*/ 25 h 50"/>
                <a:gd name="T2" fmla="*/ 0 w 60"/>
                <a:gd name="T3" fmla="*/ 50 h 50"/>
                <a:gd name="T4" fmla="*/ 1 w 60"/>
                <a:gd name="T5" fmla="*/ 46 h 50"/>
                <a:gd name="T6" fmla="*/ 2 w 60"/>
                <a:gd name="T7" fmla="*/ 44 h 50"/>
                <a:gd name="T8" fmla="*/ 5 w 60"/>
                <a:gd name="T9" fmla="*/ 38 h 50"/>
                <a:gd name="T10" fmla="*/ 5 w 60"/>
                <a:gd name="T11" fmla="*/ 36 h 50"/>
                <a:gd name="T12" fmla="*/ 6 w 60"/>
                <a:gd name="T13" fmla="*/ 32 h 50"/>
                <a:gd name="T14" fmla="*/ 6 w 60"/>
                <a:gd name="T15" fmla="*/ 17 h 50"/>
                <a:gd name="T16" fmla="*/ 5 w 60"/>
                <a:gd name="T17" fmla="*/ 14 h 50"/>
                <a:gd name="T18" fmla="*/ 5 w 60"/>
                <a:gd name="T19" fmla="*/ 11 h 50"/>
                <a:gd name="T20" fmla="*/ 3 w 60"/>
                <a:gd name="T21" fmla="*/ 9 h 50"/>
                <a:gd name="T22" fmla="*/ 2 w 60"/>
                <a:gd name="T23" fmla="*/ 6 h 50"/>
                <a:gd name="T24" fmla="*/ 1 w 60"/>
                <a:gd name="T25" fmla="*/ 4 h 50"/>
                <a:gd name="T26" fmla="*/ 0 w 60"/>
                <a:gd name="T27" fmla="*/ 0 h 50"/>
                <a:gd name="T28" fmla="*/ 60 w 60"/>
                <a:gd name="T29" fmla="*/ 25 h 5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0"/>
                <a:gd name="T46" fmla="*/ 0 h 50"/>
                <a:gd name="T47" fmla="*/ 60 w 60"/>
                <a:gd name="T48" fmla="*/ 50 h 5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0" h="50">
                  <a:moveTo>
                    <a:pt x="60" y="25"/>
                  </a:moveTo>
                  <a:lnTo>
                    <a:pt x="0" y="50"/>
                  </a:lnTo>
                  <a:lnTo>
                    <a:pt x="1" y="46"/>
                  </a:lnTo>
                  <a:lnTo>
                    <a:pt x="2" y="44"/>
                  </a:lnTo>
                  <a:lnTo>
                    <a:pt x="5" y="38"/>
                  </a:lnTo>
                  <a:lnTo>
                    <a:pt x="5" y="36"/>
                  </a:lnTo>
                  <a:lnTo>
                    <a:pt x="6" y="32"/>
                  </a:lnTo>
                  <a:lnTo>
                    <a:pt x="6" y="17"/>
                  </a:lnTo>
                  <a:lnTo>
                    <a:pt x="5" y="14"/>
                  </a:lnTo>
                  <a:lnTo>
                    <a:pt x="5" y="11"/>
                  </a:lnTo>
                  <a:lnTo>
                    <a:pt x="3" y="9"/>
                  </a:lnTo>
                  <a:lnTo>
                    <a:pt x="2" y="6"/>
                  </a:lnTo>
                  <a:lnTo>
                    <a:pt x="1" y="4"/>
                  </a:lnTo>
                  <a:lnTo>
                    <a:pt x="0" y="0"/>
                  </a:lnTo>
                  <a:lnTo>
                    <a:pt x="60" y="25"/>
                  </a:lnTo>
                  <a:close/>
                </a:path>
              </a:pathLst>
            </a:custGeom>
            <a:solidFill>
              <a:srgbClr val="000000"/>
            </a:solidFill>
            <a:ln w="9525">
              <a:noFill/>
              <a:round/>
              <a:headEnd/>
              <a:tailEnd/>
            </a:ln>
          </p:spPr>
          <p:txBody>
            <a:bodyPr/>
            <a:lstStyle/>
            <a:p>
              <a:endParaRPr lang="en-US"/>
            </a:p>
          </p:txBody>
        </p:sp>
        <p:sp>
          <p:nvSpPr>
            <p:cNvPr id="19502" name="Line 47"/>
            <p:cNvSpPr>
              <a:spLocks noChangeShapeType="1"/>
            </p:cNvSpPr>
            <p:nvPr/>
          </p:nvSpPr>
          <p:spPr bwMode="auto">
            <a:xfrm>
              <a:off x="2576" y="2584"/>
              <a:ext cx="178" cy="1"/>
            </a:xfrm>
            <a:prstGeom prst="line">
              <a:avLst/>
            </a:prstGeom>
            <a:noFill/>
            <a:ln w="4763">
              <a:solidFill>
                <a:srgbClr val="000000"/>
              </a:solidFill>
              <a:round/>
              <a:headEnd/>
              <a:tailEnd/>
            </a:ln>
          </p:spPr>
          <p:txBody>
            <a:bodyPr/>
            <a:lstStyle/>
            <a:p>
              <a:endParaRPr lang="en-US"/>
            </a:p>
          </p:txBody>
        </p:sp>
        <p:sp>
          <p:nvSpPr>
            <p:cNvPr id="19503" name="Freeform 48"/>
            <p:cNvSpPr>
              <a:spLocks/>
            </p:cNvSpPr>
            <p:nvPr/>
          </p:nvSpPr>
          <p:spPr bwMode="auto">
            <a:xfrm>
              <a:off x="2739" y="2559"/>
              <a:ext cx="61" cy="50"/>
            </a:xfrm>
            <a:custGeom>
              <a:avLst/>
              <a:gdLst>
                <a:gd name="T0" fmla="*/ 61 w 61"/>
                <a:gd name="T1" fmla="*/ 25 h 50"/>
                <a:gd name="T2" fmla="*/ 0 w 61"/>
                <a:gd name="T3" fmla="*/ 50 h 50"/>
                <a:gd name="T4" fmla="*/ 2 w 61"/>
                <a:gd name="T5" fmla="*/ 46 h 50"/>
                <a:gd name="T6" fmla="*/ 3 w 61"/>
                <a:gd name="T7" fmla="*/ 44 h 50"/>
                <a:gd name="T8" fmla="*/ 6 w 61"/>
                <a:gd name="T9" fmla="*/ 38 h 50"/>
                <a:gd name="T10" fmla="*/ 6 w 61"/>
                <a:gd name="T11" fmla="*/ 36 h 50"/>
                <a:gd name="T12" fmla="*/ 7 w 61"/>
                <a:gd name="T13" fmla="*/ 32 h 50"/>
                <a:gd name="T14" fmla="*/ 7 w 61"/>
                <a:gd name="T15" fmla="*/ 17 h 50"/>
                <a:gd name="T16" fmla="*/ 6 w 61"/>
                <a:gd name="T17" fmla="*/ 14 h 50"/>
                <a:gd name="T18" fmla="*/ 6 w 61"/>
                <a:gd name="T19" fmla="*/ 11 h 50"/>
                <a:gd name="T20" fmla="*/ 4 w 61"/>
                <a:gd name="T21" fmla="*/ 9 h 50"/>
                <a:gd name="T22" fmla="*/ 3 w 61"/>
                <a:gd name="T23" fmla="*/ 6 h 50"/>
                <a:gd name="T24" fmla="*/ 2 w 61"/>
                <a:gd name="T25" fmla="*/ 4 h 50"/>
                <a:gd name="T26" fmla="*/ 0 w 61"/>
                <a:gd name="T27" fmla="*/ 0 h 50"/>
                <a:gd name="T28" fmla="*/ 61 w 61"/>
                <a:gd name="T29" fmla="*/ 25 h 5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
                <a:gd name="T46" fmla="*/ 0 h 50"/>
                <a:gd name="T47" fmla="*/ 61 w 61"/>
                <a:gd name="T48" fmla="*/ 50 h 5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 h="50">
                  <a:moveTo>
                    <a:pt x="61" y="25"/>
                  </a:moveTo>
                  <a:lnTo>
                    <a:pt x="0" y="50"/>
                  </a:lnTo>
                  <a:lnTo>
                    <a:pt x="2" y="46"/>
                  </a:lnTo>
                  <a:lnTo>
                    <a:pt x="3" y="44"/>
                  </a:lnTo>
                  <a:lnTo>
                    <a:pt x="6" y="38"/>
                  </a:lnTo>
                  <a:lnTo>
                    <a:pt x="6" y="36"/>
                  </a:lnTo>
                  <a:lnTo>
                    <a:pt x="7" y="32"/>
                  </a:lnTo>
                  <a:lnTo>
                    <a:pt x="7" y="17"/>
                  </a:lnTo>
                  <a:lnTo>
                    <a:pt x="6" y="14"/>
                  </a:lnTo>
                  <a:lnTo>
                    <a:pt x="6" y="11"/>
                  </a:lnTo>
                  <a:lnTo>
                    <a:pt x="4" y="9"/>
                  </a:lnTo>
                  <a:lnTo>
                    <a:pt x="3" y="6"/>
                  </a:lnTo>
                  <a:lnTo>
                    <a:pt x="2" y="4"/>
                  </a:lnTo>
                  <a:lnTo>
                    <a:pt x="0" y="0"/>
                  </a:lnTo>
                  <a:lnTo>
                    <a:pt x="61" y="25"/>
                  </a:lnTo>
                  <a:close/>
                </a:path>
              </a:pathLst>
            </a:custGeom>
            <a:solidFill>
              <a:srgbClr val="000000"/>
            </a:solidFill>
            <a:ln w="9525">
              <a:noFill/>
              <a:round/>
              <a:headEnd/>
              <a:tailEnd/>
            </a:ln>
          </p:spPr>
          <p:txBody>
            <a:bodyPr/>
            <a:lstStyle/>
            <a:p>
              <a:endParaRPr lang="en-US"/>
            </a:p>
          </p:txBody>
        </p:sp>
        <p:sp>
          <p:nvSpPr>
            <p:cNvPr id="19504" name="Rectangle 49"/>
            <p:cNvSpPr>
              <a:spLocks noChangeArrowheads="1"/>
            </p:cNvSpPr>
            <p:nvPr/>
          </p:nvSpPr>
          <p:spPr bwMode="auto">
            <a:xfrm>
              <a:off x="3791" y="2344"/>
              <a:ext cx="792" cy="119"/>
            </a:xfrm>
            <a:prstGeom prst="rect">
              <a:avLst/>
            </a:prstGeom>
            <a:solidFill>
              <a:srgbClr val="FFFFFF"/>
            </a:solidFill>
            <a:ln w="4763">
              <a:solidFill>
                <a:srgbClr val="0000FF"/>
              </a:solidFill>
              <a:miter lim="800000"/>
              <a:headEnd/>
              <a:tailEnd/>
            </a:ln>
          </p:spPr>
          <p:txBody>
            <a:bodyPr/>
            <a:lstStyle/>
            <a:p>
              <a:endParaRPr lang="en-US"/>
            </a:p>
          </p:txBody>
        </p:sp>
        <p:sp>
          <p:nvSpPr>
            <p:cNvPr id="19505" name="Rectangle 50"/>
            <p:cNvSpPr>
              <a:spLocks noChangeArrowheads="1"/>
            </p:cNvSpPr>
            <p:nvPr/>
          </p:nvSpPr>
          <p:spPr bwMode="auto">
            <a:xfrm>
              <a:off x="4015" y="2367"/>
              <a:ext cx="443" cy="77"/>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Engineers</a:t>
              </a:r>
              <a:endParaRPr lang="en-US">
                <a:cs typeface="Arial" charset="0"/>
              </a:endParaRPr>
            </a:p>
          </p:txBody>
        </p:sp>
        <p:sp>
          <p:nvSpPr>
            <p:cNvPr id="19506" name="Rectangle 51"/>
            <p:cNvSpPr>
              <a:spLocks noChangeArrowheads="1"/>
            </p:cNvSpPr>
            <p:nvPr/>
          </p:nvSpPr>
          <p:spPr bwMode="auto">
            <a:xfrm>
              <a:off x="3791" y="2463"/>
              <a:ext cx="792" cy="361"/>
            </a:xfrm>
            <a:prstGeom prst="rect">
              <a:avLst/>
            </a:prstGeom>
            <a:solidFill>
              <a:srgbClr val="FFFFFF"/>
            </a:solidFill>
            <a:ln w="4763">
              <a:solidFill>
                <a:srgbClr val="0000FF"/>
              </a:solidFill>
              <a:miter lim="800000"/>
              <a:headEnd/>
              <a:tailEnd/>
            </a:ln>
          </p:spPr>
          <p:txBody>
            <a:bodyPr/>
            <a:lstStyle/>
            <a:p>
              <a:endParaRPr lang="en-US"/>
            </a:p>
          </p:txBody>
        </p:sp>
        <p:sp>
          <p:nvSpPr>
            <p:cNvPr id="19507" name="Rectangle 52"/>
            <p:cNvSpPr>
              <a:spLocks noChangeArrowheads="1"/>
            </p:cNvSpPr>
            <p:nvPr/>
          </p:nvSpPr>
          <p:spPr bwMode="auto">
            <a:xfrm>
              <a:off x="3917" y="2515"/>
              <a:ext cx="380"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Ensure specs</a:t>
              </a:r>
              <a:endParaRPr lang="en-US">
                <a:cs typeface="Arial" charset="0"/>
              </a:endParaRPr>
            </a:p>
          </p:txBody>
        </p:sp>
        <p:sp>
          <p:nvSpPr>
            <p:cNvPr id="19508" name="Rectangle 53"/>
            <p:cNvSpPr>
              <a:spLocks noChangeArrowheads="1"/>
            </p:cNvSpPr>
            <p:nvPr/>
          </p:nvSpPr>
          <p:spPr bwMode="auto">
            <a:xfrm>
              <a:off x="3862" y="2600"/>
              <a:ext cx="495"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contain a unique</a:t>
              </a:r>
              <a:endParaRPr lang="en-US">
                <a:cs typeface="Arial" charset="0"/>
              </a:endParaRPr>
            </a:p>
          </p:txBody>
        </p:sp>
        <p:sp>
          <p:nvSpPr>
            <p:cNvPr id="19509" name="Rectangle 54"/>
            <p:cNvSpPr>
              <a:spLocks noChangeArrowheads="1"/>
            </p:cNvSpPr>
            <p:nvPr/>
          </p:nvSpPr>
          <p:spPr bwMode="auto">
            <a:xfrm>
              <a:off x="3872" y="2686"/>
              <a:ext cx="486"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revision number</a:t>
              </a:r>
              <a:endParaRPr lang="en-US">
                <a:cs typeface="Arial" charset="0"/>
              </a:endParaRPr>
            </a:p>
          </p:txBody>
        </p:sp>
        <p:sp>
          <p:nvSpPr>
            <p:cNvPr id="19510" name="Line 55"/>
            <p:cNvSpPr>
              <a:spLocks noChangeShapeType="1"/>
            </p:cNvSpPr>
            <p:nvPr/>
          </p:nvSpPr>
          <p:spPr bwMode="auto">
            <a:xfrm>
              <a:off x="3593" y="2584"/>
              <a:ext cx="151" cy="1"/>
            </a:xfrm>
            <a:prstGeom prst="line">
              <a:avLst/>
            </a:prstGeom>
            <a:noFill/>
            <a:ln w="4763">
              <a:solidFill>
                <a:srgbClr val="000000"/>
              </a:solidFill>
              <a:round/>
              <a:headEnd/>
              <a:tailEnd/>
            </a:ln>
          </p:spPr>
          <p:txBody>
            <a:bodyPr/>
            <a:lstStyle/>
            <a:p>
              <a:endParaRPr lang="en-US"/>
            </a:p>
          </p:txBody>
        </p:sp>
        <p:sp>
          <p:nvSpPr>
            <p:cNvPr id="19511" name="Freeform 56"/>
            <p:cNvSpPr>
              <a:spLocks/>
            </p:cNvSpPr>
            <p:nvPr/>
          </p:nvSpPr>
          <p:spPr bwMode="auto">
            <a:xfrm>
              <a:off x="3730" y="2559"/>
              <a:ext cx="61" cy="50"/>
            </a:xfrm>
            <a:custGeom>
              <a:avLst/>
              <a:gdLst>
                <a:gd name="T0" fmla="*/ 61 w 61"/>
                <a:gd name="T1" fmla="*/ 25 h 50"/>
                <a:gd name="T2" fmla="*/ 0 w 61"/>
                <a:gd name="T3" fmla="*/ 50 h 50"/>
                <a:gd name="T4" fmla="*/ 1 w 61"/>
                <a:gd name="T5" fmla="*/ 46 h 50"/>
                <a:gd name="T6" fmla="*/ 3 w 61"/>
                <a:gd name="T7" fmla="*/ 44 h 50"/>
                <a:gd name="T8" fmla="*/ 5 w 61"/>
                <a:gd name="T9" fmla="*/ 38 h 50"/>
                <a:gd name="T10" fmla="*/ 5 w 61"/>
                <a:gd name="T11" fmla="*/ 36 h 50"/>
                <a:gd name="T12" fmla="*/ 7 w 61"/>
                <a:gd name="T13" fmla="*/ 32 h 50"/>
                <a:gd name="T14" fmla="*/ 7 w 61"/>
                <a:gd name="T15" fmla="*/ 17 h 50"/>
                <a:gd name="T16" fmla="*/ 5 w 61"/>
                <a:gd name="T17" fmla="*/ 14 h 50"/>
                <a:gd name="T18" fmla="*/ 5 w 61"/>
                <a:gd name="T19" fmla="*/ 11 h 50"/>
                <a:gd name="T20" fmla="*/ 4 w 61"/>
                <a:gd name="T21" fmla="*/ 9 h 50"/>
                <a:gd name="T22" fmla="*/ 3 w 61"/>
                <a:gd name="T23" fmla="*/ 6 h 50"/>
                <a:gd name="T24" fmla="*/ 1 w 61"/>
                <a:gd name="T25" fmla="*/ 4 h 50"/>
                <a:gd name="T26" fmla="*/ 0 w 61"/>
                <a:gd name="T27" fmla="*/ 0 h 50"/>
                <a:gd name="T28" fmla="*/ 61 w 61"/>
                <a:gd name="T29" fmla="*/ 25 h 5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
                <a:gd name="T46" fmla="*/ 0 h 50"/>
                <a:gd name="T47" fmla="*/ 61 w 61"/>
                <a:gd name="T48" fmla="*/ 50 h 5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 h="50">
                  <a:moveTo>
                    <a:pt x="61" y="25"/>
                  </a:moveTo>
                  <a:lnTo>
                    <a:pt x="0" y="50"/>
                  </a:lnTo>
                  <a:lnTo>
                    <a:pt x="1" y="46"/>
                  </a:lnTo>
                  <a:lnTo>
                    <a:pt x="3" y="44"/>
                  </a:lnTo>
                  <a:lnTo>
                    <a:pt x="5" y="38"/>
                  </a:lnTo>
                  <a:lnTo>
                    <a:pt x="5" y="36"/>
                  </a:lnTo>
                  <a:lnTo>
                    <a:pt x="7" y="32"/>
                  </a:lnTo>
                  <a:lnTo>
                    <a:pt x="7" y="17"/>
                  </a:lnTo>
                  <a:lnTo>
                    <a:pt x="5" y="14"/>
                  </a:lnTo>
                  <a:lnTo>
                    <a:pt x="5" y="11"/>
                  </a:lnTo>
                  <a:lnTo>
                    <a:pt x="4" y="9"/>
                  </a:lnTo>
                  <a:lnTo>
                    <a:pt x="3" y="6"/>
                  </a:lnTo>
                  <a:lnTo>
                    <a:pt x="1" y="4"/>
                  </a:lnTo>
                  <a:lnTo>
                    <a:pt x="0" y="0"/>
                  </a:lnTo>
                  <a:lnTo>
                    <a:pt x="61" y="25"/>
                  </a:lnTo>
                  <a:close/>
                </a:path>
              </a:pathLst>
            </a:custGeom>
            <a:solidFill>
              <a:srgbClr val="000000"/>
            </a:solidFill>
            <a:ln w="9525">
              <a:noFill/>
              <a:round/>
              <a:headEnd/>
              <a:tailEnd/>
            </a:ln>
          </p:spPr>
          <p:txBody>
            <a:bodyPr/>
            <a:lstStyle/>
            <a:p>
              <a:endParaRPr lang="en-US"/>
            </a:p>
          </p:txBody>
        </p:sp>
        <p:sp>
          <p:nvSpPr>
            <p:cNvPr id="19512" name="Freeform 57"/>
            <p:cNvSpPr>
              <a:spLocks/>
            </p:cNvSpPr>
            <p:nvPr/>
          </p:nvSpPr>
          <p:spPr bwMode="auto">
            <a:xfrm>
              <a:off x="731" y="2354"/>
              <a:ext cx="124" cy="100"/>
            </a:xfrm>
            <a:custGeom>
              <a:avLst/>
              <a:gdLst>
                <a:gd name="T0" fmla="*/ 0 w 124"/>
                <a:gd name="T1" fmla="*/ 49 h 100"/>
                <a:gd name="T2" fmla="*/ 2 w 124"/>
                <a:gd name="T3" fmla="*/ 36 h 100"/>
                <a:gd name="T4" fmla="*/ 9 w 124"/>
                <a:gd name="T5" fmla="*/ 23 h 100"/>
                <a:gd name="T6" fmla="*/ 21 w 124"/>
                <a:gd name="T7" fmla="*/ 12 h 100"/>
                <a:gd name="T8" fmla="*/ 35 w 124"/>
                <a:gd name="T9" fmla="*/ 5 h 100"/>
                <a:gd name="T10" fmla="*/ 52 w 124"/>
                <a:gd name="T11" fmla="*/ 0 h 100"/>
                <a:gd name="T12" fmla="*/ 71 w 124"/>
                <a:gd name="T13" fmla="*/ 0 h 100"/>
                <a:gd name="T14" fmla="*/ 87 w 124"/>
                <a:gd name="T15" fmla="*/ 5 h 100"/>
                <a:gd name="T16" fmla="*/ 102 w 124"/>
                <a:gd name="T17" fmla="*/ 12 h 100"/>
                <a:gd name="T18" fmla="*/ 113 w 124"/>
                <a:gd name="T19" fmla="*/ 23 h 100"/>
                <a:gd name="T20" fmla="*/ 121 w 124"/>
                <a:gd name="T21" fmla="*/ 36 h 100"/>
                <a:gd name="T22" fmla="*/ 124 w 124"/>
                <a:gd name="T23" fmla="*/ 49 h 100"/>
                <a:gd name="T24" fmla="*/ 121 w 124"/>
                <a:gd name="T25" fmla="*/ 63 h 100"/>
                <a:gd name="T26" fmla="*/ 113 w 124"/>
                <a:gd name="T27" fmla="*/ 77 h 100"/>
                <a:gd name="T28" fmla="*/ 102 w 124"/>
                <a:gd name="T29" fmla="*/ 88 h 100"/>
                <a:gd name="T30" fmla="*/ 87 w 124"/>
                <a:gd name="T31" fmla="*/ 95 h 100"/>
                <a:gd name="T32" fmla="*/ 71 w 124"/>
                <a:gd name="T33" fmla="*/ 100 h 100"/>
                <a:gd name="T34" fmla="*/ 52 w 124"/>
                <a:gd name="T35" fmla="*/ 100 h 100"/>
                <a:gd name="T36" fmla="*/ 35 w 124"/>
                <a:gd name="T37" fmla="*/ 95 h 100"/>
                <a:gd name="T38" fmla="*/ 21 w 124"/>
                <a:gd name="T39" fmla="*/ 88 h 100"/>
                <a:gd name="T40" fmla="*/ 9 w 124"/>
                <a:gd name="T41" fmla="*/ 77 h 100"/>
                <a:gd name="T42" fmla="*/ 2 w 124"/>
                <a:gd name="T43" fmla="*/ 63 h 100"/>
                <a:gd name="T44" fmla="*/ 0 w 124"/>
                <a:gd name="T45" fmla="*/ 49 h 1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100"/>
                <a:gd name="T71" fmla="*/ 124 w 124"/>
                <a:gd name="T72" fmla="*/ 100 h 10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100">
                  <a:moveTo>
                    <a:pt x="0" y="49"/>
                  </a:moveTo>
                  <a:lnTo>
                    <a:pt x="2" y="36"/>
                  </a:lnTo>
                  <a:lnTo>
                    <a:pt x="9" y="23"/>
                  </a:lnTo>
                  <a:lnTo>
                    <a:pt x="21" y="12"/>
                  </a:lnTo>
                  <a:lnTo>
                    <a:pt x="35" y="5"/>
                  </a:lnTo>
                  <a:lnTo>
                    <a:pt x="52" y="0"/>
                  </a:lnTo>
                  <a:lnTo>
                    <a:pt x="71" y="0"/>
                  </a:lnTo>
                  <a:lnTo>
                    <a:pt x="87" y="5"/>
                  </a:lnTo>
                  <a:lnTo>
                    <a:pt x="102" y="12"/>
                  </a:lnTo>
                  <a:lnTo>
                    <a:pt x="113" y="23"/>
                  </a:lnTo>
                  <a:lnTo>
                    <a:pt x="121" y="36"/>
                  </a:lnTo>
                  <a:lnTo>
                    <a:pt x="124" y="49"/>
                  </a:lnTo>
                  <a:lnTo>
                    <a:pt x="121" y="63"/>
                  </a:lnTo>
                  <a:lnTo>
                    <a:pt x="113" y="77"/>
                  </a:lnTo>
                  <a:lnTo>
                    <a:pt x="102" y="88"/>
                  </a:lnTo>
                  <a:lnTo>
                    <a:pt x="87" y="95"/>
                  </a:lnTo>
                  <a:lnTo>
                    <a:pt x="71" y="100"/>
                  </a:lnTo>
                  <a:lnTo>
                    <a:pt x="52" y="100"/>
                  </a:lnTo>
                  <a:lnTo>
                    <a:pt x="35" y="95"/>
                  </a:lnTo>
                  <a:lnTo>
                    <a:pt x="21" y="88"/>
                  </a:lnTo>
                  <a:lnTo>
                    <a:pt x="9" y="77"/>
                  </a:lnTo>
                  <a:lnTo>
                    <a:pt x="2" y="63"/>
                  </a:lnTo>
                  <a:lnTo>
                    <a:pt x="0" y="49"/>
                  </a:lnTo>
                  <a:close/>
                </a:path>
              </a:pathLst>
            </a:custGeom>
            <a:solidFill>
              <a:srgbClr val="00FFFF"/>
            </a:solidFill>
            <a:ln w="9525">
              <a:noFill/>
              <a:round/>
              <a:headEnd/>
              <a:tailEnd/>
            </a:ln>
          </p:spPr>
          <p:txBody>
            <a:bodyPr/>
            <a:lstStyle/>
            <a:p>
              <a:endParaRPr lang="en-US"/>
            </a:p>
          </p:txBody>
        </p:sp>
        <p:sp>
          <p:nvSpPr>
            <p:cNvPr id="19513" name="Rectangle 58"/>
            <p:cNvSpPr>
              <a:spLocks noChangeArrowheads="1"/>
            </p:cNvSpPr>
            <p:nvPr/>
          </p:nvSpPr>
          <p:spPr bwMode="auto">
            <a:xfrm>
              <a:off x="774" y="2371"/>
              <a:ext cx="28" cy="68"/>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1</a:t>
              </a:r>
              <a:endParaRPr lang="en-US">
                <a:cs typeface="Arial" charset="0"/>
              </a:endParaRPr>
            </a:p>
          </p:txBody>
        </p:sp>
        <p:sp>
          <p:nvSpPr>
            <p:cNvPr id="19514" name="Freeform 59"/>
            <p:cNvSpPr>
              <a:spLocks/>
            </p:cNvSpPr>
            <p:nvPr/>
          </p:nvSpPr>
          <p:spPr bwMode="auto">
            <a:xfrm>
              <a:off x="2812" y="2354"/>
              <a:ext cx="124" cy="100"/>
            </a:xfrm>
            <a:custGeom>
              <a:avLst/>
              <a:gdLst>
                <a:gd name="T0" fmla="*/ 0 w 124"/>
                <a:gd name="T1" fmla="*/ 49 h 100"/>
                <a:gd name="T2" fmla="*/ 3 w 124"/>
                <a:gd name="T3" fmla="*/ 36 h 100"/>
                <a:gd name="T4" fmla="*/ 10 w 124"/>
                <a:gd name="T5" fmla="*/ 23 h 100"/>
                <a:gd name="T6" fmla="*/ 21 w 124"/>
                <a:gd name="T7" fmla="*/ 12 h 100"/>
                <a:gd name="T8" fmla="*/ 36 w 124"/>
                <a:gd name="T9" fmla="*/ 5 h 100"/>
                <a:gd name="T10" fmla="*/ 53 w 124"/>
                <a:gd name="T11" fmla="*/ 0 h 100"/>
                <a:gd name="T12" fmla="*/ 71 w 124"/>
                <a:gd name="T13" fmla="*/ 0 h 100"/>
                <a:gd name="T14" fmla="*/ 87 w 124"/>
                <a:gd name="T15" fmla="*/ 5 h 100"/>
                <a:gd name="T16" fmla="*/ 103 w 124"/>
                <a:gd name="T17" fmla="*/ 12 h 100"/>
                <a:gd name="T18" fmla="*/ 113 w 124"/>
                <a:gd name="T19" fmla="*/ 23 h 100"/>
                <a:gd name="T20" fmla="*/ 121 w 124"/>
                <a:gd name="T21" fmla="*/ 36 h 100"/>
                <a:gd name="T22" fmla="*/ 124 w 124"/>
                <a:gd name="T23" fmla="*/ 49 h 100"/>
                <a:gd name="T24" fmla="*/ 121 w 124"/>
                <a:gd name="T25" fmla="*/ 63 h 100"/>
                <a:gd name="T26" fmla="*/ 113 w 124"/>
                <a:gd name="T27" fmla="*/ 77 h 100"/>
                <a:gd name="T28" fmla="*/ 103 w 124"/>
                <a:gd name="T29" fmla="*/ 88 h 100"/>
                <a:gd name="T30" fmla="*/ 87 w 124"/>
                <a:gd name="T31" fmla="*/ 95 h 100"/>
                <a:gd name="T32" fmla="*/ 71 w 124"/>
                <a:gd name="T33" fmla="*/ 100 h 100"/>
                <a:gd name="T34" fmla="*/ 53 w 124"/>
                <a:gd name="T35" fmla="*/ 100 h 100"/>
                <a:gd name="T36" fmla="*/ 36 w 124"/>
                <a:gd name="T37" fmla="*/ 95 h 100"/>
                <a:gd name="T38" fmla="*/ 21 w 124"/>
                <a:gd name="T39" fmla="*/ 88 h 100"/>
                <a:gd name="T40" fmla="*/ 10 w 124"/>
                <a:gd name="T41" fmla="*/ 77 h 100"/>
                <a:gd name="T42" fmla="*/ 3 w 124"/>
                <a:gd name="T43" fmla="*/ 63 h 100"/>
                <a:gd name="T44" fmla="*/ 0 w 124"/>
                <a:gd name="T45" fmla="*/ 49 h 1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100"/>
                <a:gd name="T71" fmla="*/ 124 w 124"/>
                <a:gd name="T72" fmla="*/ 100 h 10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100">
                  <a:moveTo>
                    <a:pt x="0" y="49"/>
                  </a:moveTo>
                  <a:lnTo>
                    <a:pt x="3" y="36"/>
                  </a:lnTo>
                  <a:lnTo>
                    <a:pt x="10" y="23"/>
                  </a:lnTo>
                  <a:lnTo>
                    <a:pt x="21" y="12"/>
                  </a:lnTo>
                  <a:lnTo>
                    <a:pt x="36" y="5"/>
                  </a:lnTo>
                  <a:lnTo>
                    <a:pt x="53" y="0"/>
                  </a:lnTo>
                  <a:lnTo>
                    <a:pt x="71" y="0"/>
                  </a:lnTo>
                  <a:lnTo>
                    <a:pt x="87" y="5"/>
                  </a:lnTo>
                  <a:lnTo>
                    <a:pt x="103" y="12"/>
                  </a:lnTo>
                  <a:lnTo>
                    <a:pt x="113" y="23"/>
                  </a:lnTo>
                  <a:lnTo>
                    <a:pt x="121" y="36"/>
                  </a:lnTo>
                  <a:lnTo>
                    <a:pt x="124" y="49"/>
                  </a:lnTo>
                  <a:lnTo>
                    <a:pt x="121" y="63"/>
                  </a:lnTo>
                  <a:lnTo>
                    <a:pt x="113" y="77"/>
                  </a:lnTo>
                  <a:lnTo>
                    <a:pt x="103" y="88"/>
                  </a:lnTo>
                  <a:lnTo>
                    <a:pt x="87" y="95"/>
                  </a:lnTo>
                  <a:lnTo>
                    <a:pt x="71" y="100"/>
                  </a:lnTo>
                  <a:lnTo>
                    <a:pt x="53" y="100"/>
                  </a:lnTo>
                  <a:lnTo>
                    <a:pt x="36" y="95"/>
                  </a:lnTo>
                  <a:lnTo>
                    <a:pt x="21" y="88"/>
                  </a:lnTo>
                  <a:lnTo>
                    <a:pt x="10" y="77"/>
                  </a:lnTo>
                  <a:lnTo>
                    <a:pt x="3" y="63"/>
                  </a:lnTo>
                  <a:lnTo>
                    <a:pt x="0" y="49"/>
                  </a:lnTo>
                  <a:close/>
                </a:path>
              </a:pathLst>
            </a:custGeom>
            <a:solidFill>
              <a:srgbClr val="00FFFF"/>
            </a:solidFill>
            <a:ln w="9525">
              <a:noFill/>
              <a:round/>
              <a:headEnd/>
              <a:tailEnd/>
            </a:ln>
          </p:spPr>
          <p:txBody>
            <a:bodyPr/>
            <a:lstStyle/>
            <a:p>
              <a:endParaRPr lang="en-US"/>
            </a:p>
          </p:txBody>
        </p:sp>
        <p:sp>
          <p:nvSpPr>
            <p:cNvPr id="19515" name="Rectangle 60"/>
            <p:cNvSpPr>
              <a:spLocks noChangeArrowheads="1"/>
            </p:cNvSpPr>
            <p:nvPr/>
          </p:nvSpPr>
          <p:spPr bwMode="auto">
            <a:xfrm>
              <a:off x="2855" y="2371"/>
              <a:ext cx="28" cy="68"/>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3</a:t>
              </a:r>
              <a:endParaRPr lang="en-US">
                <a:cs typeface="Arial" charset="0"/>
              </a:endParaRPr>
            </a:p>
          </p:txBody>
        </p:sp>
        <p:sp>
          <p:nvSpPr>
            <p:cNvPr id="19516" name="Freeform 61"/>
            <p:cNvSpPr>
              <a:spLocks/>
            </p:cNvSpPr>
            <p:nvPr/>
          </p:nvSpPr>
          <p:spPr bwMode="auto">
            <a:xfrm>
              <a:off x="3802" y="2354"/>
              <a:ext cx="124" cy="100"/>
            </a:xfrm>
            <a:custGeom>
              <a:avLst/>
              <a:gdLst>
                <a:gd name="T0" fmla="*/ 0 w 124"/>
                <a:gd name="T1" fmla="*/ 49 h 100"/>
                <a:gd name="T2" fmla="*/ 3 w 124"/>
                <a:gd name="T3" fmla="*/ 36 h 100"/>
                <a:gd name="T4" fmla="*/ 11 w 124"/>
                <a:gd name="T5" fmla="*/ 23 h 100"/>
                <a:gd name="T6" fmla="*/ 22 w 124"/>
                <a:gd name="T7" fmla="*/ 12 h 100"/>
                <a:gd name="T8" fmla="*/ 37 w 124"/>
                <a:gd name="T9" fmla="*/ 5 h 100"/>
                <a:gd name="T10" fmla="*/ 53 w 124"/>
                <a:gd name="T11" fmla="*/ 0 h 100"/>
                <a:gd name="T12" fmla="*/ 72 w 124"/>
                <a:gd name="T13" fmla="*/ 0 h 100"/>
                <a:gd name="T14" fmla="*/ 88 w 124"/>
                <a:gd name="T15" fmla="*/ 5 h 100"/>
                <a:gd name="T16" fmla="*/ 103 w 124"/>
                <a:gd name="T17" fmla="*/ 12 h 100"/>
                <a:gd name="T18" fmla="*/ 114 w 124"/>
                <a:gd name="T19" fmla="*/ 23 h 100"/>
                <a:gd name="T20" fmla="*/ 122 w 124"/>
                <a:gd name="T21" fmla="*/ 36 h 100"/>
                <a:gd name="T22" fmla="*/ 124 w 124"/>
                <a:gd name="T23" fmla="*/ 49 h 100"/>
                <a:gd name="T24" fmla="*/ 122 w 124"/>
                <a:gd name="T25" fmla="*/ 63 h 100"/>
                <a:gd name="T26" fmla="*/ 114 w 124"/>
                <a:gd name="T27" fmla="*/ 77 h 100"/>
                <a:gd name="T28" fmla="*/ 103 w 124"/>
                <a:gd name="T29" fmla="*/ 88 h 100"/>
                <a:gd name="T30" fmla="*/ 88 w 124"/>
                <a:gd name="T31" fmla="*/ 95 h 100"/>
                <a:gd name="T32" fmla="*/ 72 w 124"/>
                <a:gd name="T33" fmla="*/ 100 h 100"/>
                <a:gd name="T34" fmla="*/ 53 w 124"/>
                <a:gd name="T35" fmla="*/ 100 h 100"/>
                <a:gd name="T36" fmla="*/ 37 w 124"/>
                <a:gd name="T37" fmla="*/ 95 h 100"/>
                <a:gd name="T38" fmla="*/ 22 w 124"/>
                <a:gd name="T39" fmla="*/ 88 h 100"/>
                <a:gd name="T40" fmla="*/ 11 w 124"/>
                <a:gd name="T41" fmla="*/ 77 h 100"/>
                <a:gd name="T42" fmla="*/ 3 w 124"/>
                <a:gd name="T43" fmla="*/ 63 h 100"/>
                <a:gd name="T44" fmla="*/ 0 w 124"/>
                <a:gd name="T45" fmla="*/ 49 h 1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100"/>
                <a:gd name="T71" fmla="*/ 124 w 124"/>
                <a:gd name="T72" fmla="*/ 100 h 10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100">
                  <a:moveTo>
                    <a:pt x="0" y="49"/>
                  </a:moveTo>
                  <a:lnTo>
                    <a:pt x="3" y="36"/>
                  </a:lnTo>
                  <a:lnTo>
                    <a:pt x="11" y="23"/>
                  </a:lnTo>
                  <a:lnTo>
                    <a:pt x="22" y="12"/>
                  </a:lnTo>
                  <a:lnTo>
                    <a:pt x="37" y="5"/>
                  </a:lnTo>
                  <a:lnTo>
                    <a:pt x="53" y="0"/>
                  </a:lnTo>
                  <a:lnTo>
                    <a:pt x="72" y="0"/>
                  </a:lnTo>
                  <a:lnTo>
                    <a:pt x="88" y="5"/>
                  </a:lnTo>
                  <a:lnTo>
                    <a:pt x="103" y="12"/>
                  </a:lnTo>
                  <a:lnTo>
                    <a:pt x="114" y="23"/>
                  </a:lnTo>
                  <a:lnTo>
                    <a:pt x="122" y="36"/>
                  </a:lnTo>
                  <a:lnTo>
                    <a:pt x="124" y="49"/>
                  </a:lnTo>
                  <a:lnTo>
                    <a:pt x="122" y="63"/>
                  </a:lnTo>
                  <a:lnTo>
                    <a:pt x="114" y="77"/>
                  </a:lnTo>
                  <a:lnTo>
                    <a:pt x="103" y="88"/>
                  </a:lnTo>
                  <a:lnTo>
                    <a:pt x="88" y="95"/>
                  </a:lnTo>
                  <a:lnTo>
                    <a:pt x="72" y="100"/>
                  </a:lnTo>
                  <a:lnTo>
                    <a:pt x="53" y="100"/>
                  </a:lnTo>
                  <a:lnTo>
                    <a:pt x="37" y="95"/>
                  </a:lnTo>
                  <a:lnTo>
                    <a:pt x="22" y="88"/>
                  </a:lnTo>
                  <a:lnTo>
                    <a:pt x="11" y="77"/>
                  </a:lnTo>
                  <a:lnTo>
                    <a:pt x="3" y="63"/>
                  </a:lnTo>
                  <a:lnTo>
                    <a:pt x="0" y="49"/>
                  </a:lnTo>
                  <a:close/>
                </a:path>
              </a:pathLst>
            </a:custGeom>
            <a:solidFill>
              <a:srgbClr val="00FFFF"/>
            </a:solidFill>
            <a:ln w="9525">
              <a:noFill/>
              <a:round/>
              <a:headEnd/>
              <a:tailEnd/>
            </a:ln>
          </p:spPr>
          <p:txBody>
            <a:bodyPr/>
            <a:lstStyle/>
            <a:p>
              <a:endParaRPr lang="en-US"/>
            </a:p>
          </p:txBody>
        </p:sp>
        <p:sp>
          <p:nvSpPr>
            <p:cNvPr id="19517" name="Rectangle 62"/>
            <p:cNvSpPr>
              <a:spLocks noChangeArrowheads="1"/>
            </p:cNvSpPr>
            <p:nvPr/>
          </p:nvSpPr>
          <p:spPr bwMode="auto">
            <a:xfrm>
              <a:off x="3846" y="2371"/>
              <a:ext cx="28" cy="68"/>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4</a:t>
              </a:r>
              <a:endParaRPr lang="en-US">
                <a:cs typeface="Arial" charset="0"/>
              </a:endParaRPr>
            </a:p>
          </p:txBody>
        </p:sp>
        <p:sp>
          <p:nvSpPr>
            <p:cNvPr id="19518" name="Freeform 63"/>
            <p:cNvSpPr>
              <a:spLocks/>
            </p:cNvSpPr>
            <p:nvPr/>
          </p:nvSpPr>
          <p:spPr bwMode="auto">
            <a:xfrm>
              <a:off x="1746" y="2354"/>
              <a:ext cx="126" cy="100"/>
            </a:xfrm>
            <a:custGeom>
              <a:avLst/>
              <a:gdLst>
                <a:gd name="T0" fmla="*/ 0 w 126"/>
                <a:gd name="T1" fmla="*/ 49 h 100"/>
                <a:gd name="T2" fmla="*/ 3 w 126"/>
                <a:gd name="T3" fmla="*/ 36 h 100"/>
                <a:gd name="T4" fmla="*/ 9 w 126"/>
                <a:gd name="T5" fmla="*/ 23 h 100"/>
                <a:gd name="T6" fmla="*/ 21 w 126"/>
                <a:gd name="T7" fmla="*/ 12 h 100"/>
                <a:gd name="T8" fmla="*/ 36 w 126"/>
                <a:gd name="T9" fmla="*/ 5 h 100"/>
                <a:gd name="T10" fmla="*/ 53 w 126"/>
                <a:gd name="T11" fmla="*/ 0 h 100"/>
                <a:gd name="T12" fmla="*/ 71 w 126"/>
                <a:gd name="T13" fmla="*/ 0 h 100"/>
                <a:gd name="T14" fmla="*/ 89 w 126"/>
                <a:gd name="T15" fmla="*/ 5 h 100"/>
                <a:gd name="T16" fmla="*/ 103 w 126"/>
                <a:gd name="T17" fmla="*/ 12 h 100"/>
                <a:gd name="T18" fmla="*/ 115 w 126"/>
                <a:gd name="T19" fmla="*/ 23 h 100"/>
                <a:gd name="T20" fmla="*/ 123 w 126"/>
                <a:gd name="T21" fmla="*/ 36 h 100"/>
                <a:gd name="T22" fmla="*/ 126 w 126"/>
                <a:gd name="T23" fmla="*/ 49 h 100"/>
                <a:gd name="T24" fmla="*/ 123 w 126"/>
                <a:gd name="T25" fmla="*/ 63 h 100"/>
                <a:gd name="T26" fmla="*/ 115 w 126"/>
                <a:gd name="T27" fmla="*/ 77 h 100"/>
                <a:gd name="T28" fmla="*/ 103 w 126"/>
                <a:gd name="T29" fmla="*/ 88 h 100"/>
                <a:gd name="T30" fmla="*/ 89 w 126"/>
                <a:gd name="T31" fmla="*/ 95 h 100"/>
                <a:gd name="T32" fmla="*/ 71 w 126"/>
                <a:gd name="T33" fmla="*/ 100 h 100"/>
                <a:gd name="T34" fmla="*/ 53 w 126"/>
                <a:gd name="T35" fmla="*/ 100 h 100"/>
                <a:gd name="T36" fmla="*/ 36 w 126"/>
                <a:gd name="T37" fmla="*/ 95 h 100"/>
                <a:gd name="T38" fmla="*/ 21 w 126"/>
                <a:gd name="T39" fmla="*/ 88 h 100"/>
                <a:gd name="T40" fmla="*/ 9 w 126"/>
                <a:gd name="T41" fmla="*/ 77 h 100"/>
                <a:gd name="T42" fmla="*/ 3 w 126"/>
                <a:gd name="T43" fmla="*/ 63 h 100"/>
                <a:gd name="T44" fmla="*/ 0 w 126"/>
                <a:gd name="T45" fmla="*/ 49 h 1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6"/>
                <a:gd name="T70" fmla="*/ 0 h 100"/>
                <a:gd name="T71" fmla="*/ 126 w 126"/>
                <a:gd name="T72" fmla="*/ 100 h 10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6" h="100">
                  <a:moveTo>
                    <a:pt x="0" y="49"/>
                  </a:moveTo>
                  <a:lnTo>
                    <a:pt x="3" y="36"/>
                  </a:lnTo>
                  <a:lnTo>
                    <a:pt x="9" y="23"/>
                  </a:lnTo>
                  <a:lnTo>
                    <a:pt x="21" y="12"/>
                  </a:lnTo>
                  <a:lnTo>
                    <a:pt x="36" y="5"/>
                  </a:lnTo>
                  <a:lnTo>
                    <a:pt x="53" y="0"/>
                  </a:lnTo>
                  <a:lnTo>
                    <a:pt x="71" y="0"/>
                  </a:lnTo>
                  <a:lnTo>
                    <a:pt x="89" y="5"/>
                  </a:lnTo>
                  <a:lnTo>
                    <a:pt x="103" y="12"/>
                  </a:lnTo>
                  <a:lnTo>
                    <a:pt x="115" y="23"/>
                  </a:lnTo>
                  <a:lnTo>
                    <a:pt x="123" y="36"/>
                  </a:lnTo>
                  <a:lnTo>
                    <a:pt x="126" y="49"/>
                  </a:lnTo>
                  <a:lnTo>
                    <a:pt x="123" y="63"/>
                  </a:lnTo>
                  <a:lnTo>
                    <a:pt x="115" y="77"/>
                  </a:lnTo>
                  <a:lnTo>
                    <a:pt x="103" y="88"/>
                  </a:lnTo>
                  <a:lnTo>
                    <a:pt x="89" y="95"/>
                  </a:lnTo>
                  <a:lnTo>
                    <a:pt x="71" y="100"/>
                  </a:lnTo>
                  <a:lnTo>
                    <a:pt x="53" y="100"/>
                  </a:lnTo>
                  <a:lnTo>
                    <a:pt x="36" y="95"/>
                  </a:lnTo>
                  <a:lnTo>
                    <a:pt x="21" y="88"/>
                  </a:lnTo>
                  <a:lnTo>
                    <a:pt x="9" y="77"/>
                  </a:lnTo>
                  <a:lnTo>
                    <a:pt x="3" y="63"/>
                  </a:lnTo>
                  <a:lnTo>
                    <a:pt x="0" y="49"/>
                  </a:lnTo>
                  <a:close/>
                </a:path>
              </a:pathLst>
            </a:custGeom>
            <a:solidFill>
              <a:srgbClr val="00FFFF"/>
            </a:solidFill>
            <a:ln w="9525">
              <a:noFill/>
              <a:round/>
              <a:headEnd/>
              <a:tailEnd/>
            </a:ln>
          </p:spPr>
          <p:txBody>
            <a:bodyPr/>
            <a:lstStyle/>
            <a:p>
              <a:endParaRPr lang="en-US"/>
            </a:p>
          </p:txBody>
        </p:sp>
        <p:sp>
          <p:nvSpPr>
            <p:cNvPr id="19519" name="Rectangle 64"/>
            <p:cNvSpPr>
              <a:spLocks noChangeArrowheads="1"/>
            </p:cNvSpPr>
            <p:nvPr/>
          </p:nvSpPr>
          <p:spPr bwMode="auto">
            <a:xfrm>
              <a:off x="1790" y="2371"/>
              <a:ext cx="28" cy="68"/>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2</a:t>
              </a:r>
              <a:endParaRPr lang="en-US">
                <a:cs typeface="Arial" charset="0"/>
              </a:endParaRPr>
            </a:p>
          </p:txBody>
        </p:sp>
        <p:sp>
          <p:nvSpPr>
            <p:cNvPr id="19520" name="Rectangle 65"/>
            <p:cNvSpPr>
              <a:spLocks noChangeArrowheads="1"/>
            </p:cNvSpPr>
            <p:nvPr/>
          </p:nvSpPr>
          <p:spPr bwMode="auto">
            <a:xfrm>
              <a:off x="1116" y="3087"/>
              <a:ext cx="792" cy="121"/>
            </a:xfrm>
            <a:prstGeom prst="rect">
              <a:avLst/>
            </a:prstGeom>
            <a:solidFill>
              <a:srgbClr val="FFFFFF"/>
            </a:solidFill>
            <a:ln w="4763">
              <a:solidFill>
                <a:srgbClr val="0000FF"/>
              </a:solidFill>
              <a:miter lim="800000"/>
              <a:headEnd/>
              <a:tailEnd/>
            </a:ln>
          </p:spPr>
          <p:txBody>
            <a:bodyPr/>
            <a:lstStyle/>
            <a:p>
              <a:endParaRPr lang="en-US"/>
            </a:p>
          </p:txBody>
        </p:sp>
        <p:sp>
          <p:nvSpPr>
            <p:cNvPr id="19521" name="Rectangle 66"/>
            <p:cNvSpPr>
              <a:spLocks noChangeArrowheads="1"/>
            </p:cNvSpPr>
            <p:nvPr/>
          </p:nvSpPr>
          <p:spPr bwMode="auto">
            <a:xfrm>
              <a:off x="1340" y="3110"/>
              <a:ext cx="443" cy="77"/>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Engineers</a:t>
              </a:r>
              <a:endParaRPr lang="en-US">
                <a:cs typeface="Arial" charset="0"/>
              </a:endParaRPr>
            </a:p>
          </p:txBody>
        </p:sp>
        <p:sp>
          <p:nvSpPr>
            <p:cNvPr id="19522" name="Rectangle 67"/>
            <p:cNvSpPr>
              <a:spLocks noChangeArrowheads="1"/>
            </p:cNvSpPr>
            <p:nvPr/>
          </p:nvSpPr>
          <p:spPr bwMode="auto">
            <a:xfrm>
              <a:off x="1116" y="3208"/>
              <a:ext cx="792" cy="360"/>
            </a:xfrm>
            <a:prstGeom prst="rect">
              <a:avLst/>
            </a:prstGeom>
            <a:solidFill>
              <a:srgbClr val="FFFFFF"/>
            </a:solidFill>
            <a:ln w="4763">
              <a:solidFill>
                <a:srgbClr val="0000FF"/>
              </a:solidFill>
              <a:miter lim="800000"/>
              <a:headEnd/>
              <a:tailEnd/>
            </a:ln>
          </p:spPr>
          <p:txBody>
            <a:bodyPr/>
            <a:lstStyle/>
            <a:p>
              <a:endParaRPr lang="en-US"/>
            </a:p>
          </p:txBody>
        </p:sp>
        <p:sp>
          <p:nvSpPr>
            <p:cNvPr id="19523" name="Rectangle 68"/>
            <p:cNvSpPr>
              <a:spLocks noChangeArrowheads="1"/>
            </p:cNvSpPr>
            <p:nvPr/>
          </p:nvSpPr>
          <p:spPr bwMode="auto">
            <a:xfrm>
              <a:off x="1180" y="3258"/>
              <a:ext cx="515"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Perform required</a:t>
              </a:r>
              <a:endParaRPr lang="en-US">
                <a:cs typeface="Arial" charset="0"/>
              </a:endParaRPr>
            </a:p>
          </p:txBody>
        </p:sp>
        <p:sp>
          <p:nvSpPr>
            <p:cNvPr id="19524" name="Rectangle 69"/>
            <p:cNvSpPr>
              <a:spLocks noChangeArrowheads="1"/>
            </p:cNvSpPr>
            <p:nvPr/>
          </p:nvSpPr>
          <p:spPr bwMode="auto">
            <a:xfrm>
              <a:off x="1287" y="3344"/>
              <a:ext cx="324"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checks and</a:t>
              </a:r>
              <a:endParaRPr lang="en-US">
                <a:cs typeface="Arial" charset="0"/>
              </a:endParaRPr>
            </a:p>
          </p:txBody>
        </p:sp>
        <p:sp>
          <p:nvSpPr>
            <p:cNvPr id="19525" name="Rectangle 70"/>
            <p:cNvSpPr>
              <a:spLocks noChangeArrowheads="1"/>
            </p:cNvSpPr>
            <p:nvPr/>
          </p:nvSpPr>
          <p:spPr bwMode="auto">
            <a:xfrm>
              <a:off x="1362" y="3429"/>
              <a:ext cx="228"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reviews</a:t>
              </a:r>
              <a:endParaRPr lang="en-US">
                <a:cs typeface="Arial" charset="0"/>
              </a:endParaRPr>
            </a:p>
          </p:txBody>
        </p:sp>
        <p:sp>
          <p:nvSpPr>
            <p:cNvPr id="19526" name="Freeform 71"/>
            <p:cNvSpPr>
              <a:spLocks/>
            </p:cNvSpPr>
            <p:nvPr/>
          </p:nvSpPr>
          <p:spPr bwMode="auto">
            <a:xfrm>
              <a:off x="1128" y="3098"/>
              <a:ext cx="124" cy="99"/>
            </a:xfrm>
            <a:custGeom>
              <a:avLst/>
              <a:gdLst>
                <a:gd name="T0" fmla="*/ 0 w 124"/>
                <a:gd name="T1" fmla="*/ 49 h 99"/>
                <a:gd name="T2" fmla="*/ 2 w 124"/>
                <a:gd name="T3" fmla="*/ 35 h 99"/>
                <a:gd name="T4" fmla="*/ 9 w 124"/>
                <a:gd name="T5" fmla="*/ 22 h 99"/>
                <a:gd name="T6" fmla="*/ 21 w 124"/>
                <a:gd name="T7" fmla="*/ 12 h 99"/>
                <a:gd name="T8" fmla="*/ 35 w 124"/>
                <a:gd name="T9" fmla="*/ 4 h 99"/>
                <a:gd name="T10" fmla="*/ 52 w 124"/>
                <a:gd name="T11" fmla="*/ 0 h 99"/>
                <a:gd name="T12" fmla="*/ 71 w 124"/>
                <a:gd name="T13" fmla="*/ 0 h 99"/>
                <a:gd name="T14" fmla="*/ 87 w 124"/>
                <a:gd name="T15" fmla="*/ 4 h 99"/>
                <a:gd name="T16" fmla="*/ 102 w 124"/>
                <a:gd name="T17" fmla="*/ 12 h 99"/>
                <a:gd name="T18" fmla="*/ 113 w 124"/>
                <a:gd name="T19" fmla="*/ 22 h 99"/>
                <a:gd name="T20" fmla="*/ 121 w 124"/>
                <a:gd name="T21" fmla="*/ 35 h 99"/>
                <a:gd name="T22" fmla="*/ 124 w 124"/>
                <a:gd name="T23" fmla="*/ 49 h 99"/>
                <a:gd name="T24" fmla="*/ 121 w 124"/>
                <a:gd name="T25" fmla="*/ 63 h 99"/>
                <a:gd name="T26" fmla="*/ 113 w 124"/>
                <a:gd name="T27" fmla="*/ 77 h 99"/>
                <a:gd name="T28" fmla="*/ 102 w 124"/>
                <a:gd name="T29" fmla="*/ 87 h 99"/>
                <a:gd name="T30" fmla="*/ 87 w 124"/>
                <a:gd name="T31" fmla="*/ 95 h 99"/>
                <a:gd name="T32" fmla="*/ 71 w 124"/>
                <a:gd name="T33" fmla="*/ 99 h 99"/>
                <a:gd name="T34" fmla="*/ 52 w 124"/>
                <a:gd name="T35" fmla="*/ 99 h 99"/>
                <a:gd name="T36" fmla="*/ 35 w 124"/>
                <a:gd name="T37" fmla="*/ 95 h 99"/>
                <a:gd name="T38" fmla="*/ 21 w 124"/>
                <a:gd name="T39" fmla="*/ 87 h 99"/>
                <a:gd name="T40" fmla="*/ 9 w 124"/>
                <a:gd name="T41" fmla="*/ 77 h 99"/>
                <a:gd name="T42" fmla="*/ 2 w 124"/>
                <a:gd name="T43" fmla="*/ 63 h 99"/>
                <a:gd name="T44" fmla="*/ 0 w 124"/>
                <a:gd name="T45" fmla="*/ 49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99"/>
                <a:gd name="T71" fmla="*/ 124 w 124"/>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99">
                  <a:moveTo>
                    <a:pt x="0" y="49"/>
                  </a:moveTo>
                  <a:lnTo>
                    <a:pt x="2" y="35"/>
                  </a:lnTo>
                  <a:lnTo>
                    <a:pt x="9" y="22"/>
                  </a:lnTo>
                  <a:lnTo>
                    <a:pt x="21" y="12"/>
                  </a:lnTo>
                  <a:lnTo>
                    <a:pt x="35" y="4"/>
                  </a:lnTo>
                  <a:lnTo>
                    <a:pt x="52" y="0"/>
                  </a:lnTo>
                  <a:lnTo>
                    <a:pt x="71" y="0"/>
                  </a:lnTo>
                  <a:lnTo>
                    <a:pt x="87" y="4"/>
                  </a:lnTo>
                  <a:lnTo>
                    <a:pt x="102" y="12"/>
                  </a:lnTo>
                  <a:lnTo>
                    <a:pt x="113" y="22"/>
                  </a:lnTo>
                  <a:lnTo>
                    <a:pt x="121" y="35"/>
                  </a:lnTo>
                  <a:lnTo>
                    <a:pt x="124" y="49"/>
                  </a:lnTo>
                  <a:lnTo>
                    <a:pt x="121" y="63"/>
                  </a:lnTo>
                  <a:lnTo>
                    <a:pt x="113" y="77"/>
                  </a:lnTo>
                  <a:lnTo>
                    <a:pt x="102" y="87"/>
                  </a:lnTo>
                  <a:lnTo>
                    <a:pt x="87" y="95"/>
                  </a:lnTo>
                  <a:lnTo>
                    <a:pt x="71" y="99"/>
                  </a:lnTo>
                  <a:lnTo>
                    <a:pt x="52" y="99"/>
                  </a:lnTo>
                  <a:lnTo>
                    <a:pt x="35" y="95"/>
                  </a:lnTo>
                  <a:lnTo>
                    <a:pt x="21" y="87"/>
                  </a:lnTo>
                  <a:lnTo>
                    <a:pt x="9" y="77"/>
                  </a:lnTo>
                  <a:lnTo>
                    <a:pt x="2" y="63"/>
                  </a:lnTo>
                  <a:lnTo>
                    <a:pt x="0" y="49"/>
                  </a:lnTo>
                  <a:close/>
                </a:path>
              </a:pathLst>
            </a:custGeom>
            <a:solidFill>
              <a:srgbClr val="00FFFF"/>
            </a:solidFill>
            <a:ln w="9525">
              <a:noFill/>
              <a:round/>
              <a:headEnd/>
              <a:tailEnd/>
            </a:ln>
          </p:spPr>
          <p:txBody>
            <a:bodyPr/>
            <a:lstStyle/>
            <a:p>
              <a:endParaRPr lang="en-US"/>
            </a:p>
          </p:txBody>
        </p:sp>
        <p:sp>
          <p:nvSpPr>
            <p:cNvPr id="19527" name="Rectangle 72"/>
            <p:cNvSpPr>
              <a:spLocks noChangeArrowheads="1"/>
            </p:cNvSpPr>
            <p:nvPr/>
          </p:nvSpPr>
          <p:spPr bwMode="auto">
            <a:xfrm>
              <a:off x="1171" y="3115"/>
              <a:ext cx="28" cy="68"/>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5</a:t>
              </a:r>
              <a:endParaRPr lang="en-US">
                <a:cs typeface="Arial" charset="0"/>
              </a:endParaRPr>
            </a:p>
          </p:txBody>
        </p:sp>
        <p:sp>
          <p:nvSpPr>
            <p:cNvPr id="19528" name="Line 73"/>
            <p:cNvSpPr>
              <a:spLocks noChangeShapeType="1"/>
            </p:cNvSpPr>
            <p:nvPr/>
          </p:nvSpPr>
          <p:spPr bwMode="auto">
            <a:xfrm>
              <a:off x="1908" y="3327"/>
              <a:ext cx="152" cy="1"/>
            </a:xfrm>
            <a:prstGeom prst="line">
              <a:avLst/>
            </a:prstGeom>
            <a:noFill/>
            <a:ln w="4763">
              <a:solidFill>
                <a:srgbClr val="000000"/>
              </a:solidFill>
              <a:round/>
              <a:headEnd/>
              <a:tailEnd/>
            </a:ln>
          </p:spPr>
          <p:txBody>
            <a:bodyPr/>
            <a:lstStyle/>
            <a:p>
              <a:endParaRPr lang="en-US"/>
            </a:p>
          </p:txBody>
        </p:sp>
        <p:sp>
          <p:nvSpPr>
            <p:cNvPr id="19529" name="Freeform 74"/>
            <p:cNvSpPr>
              <a:spLocks/>
            </p:cNvSpPr>
            <p:nvPr/>
          </p:nvSpPr>
          <p:spPr bwMode="auto">
            <a:xfrm>
              <a:off x="2046" y="3303"/>
              <a:ext cx="60" cy="49"/>
            </a:xfrm>
            <a:custGeom>
              <a:avLst/>
              <a:gdLst>
                <a:gd name="T0" fmla="*/ 60 w 60"/>
                <a:gd name="T1" fmla="*/ 24 h 49"/>
                <a:gd name="T2" fmla="*/ 0 w 60"/>
                <a:gd name="T3" fmla="*/ 49 h 49"/>
                <a:gd name="T4" fmla="*/ 1 w 60"/>
                <a:gd name="T5" fmla="*/ 46 h 49"/>
                <a:gd name="T6" fmla="*/ 2 w 60"/>
                <a:gd name="T7" fmla="*/ 44 h 49"/>
                <a:gd name="T8" fmla="*/ 4 w 60"/>
                <a:gd name="T9" fmla="*/ 40 h 49"/>
                <a:gd name="T10" fmla="*/ 5 w 60"/>
                <a:gd name="T11" fmla="*/ 38 h 49"/>
                <a:gd name="T12" fmla="*/ 5 w 60"/>
                <a:gd name="T13" fmla="*/ 35 h 49"/>
                <a:gd name="T14" fmla="*/ 6 w 60"/>
                <a:gd name="T15" fmla="*/ 32 h 49"/>
                <a:gd name="T16" fmla="*/ 6 w 60"/>
                <a:gd name="T17" fmla="*/ 17 h 49"/>
                <a:gd name="T18" fmla="*/ 5 w 60"/>
                <a:gd name="T19" fmla="*/ 14 h 49"/>
                <a:gd name="T20" fmla="*/ 5 w 60"/>
                <a:gd name="T21" fmla="*/ 12 h 49"/>
                <a:gd name="T22" fmla="*/ 2 w 60"/>
                <a:gd name="T23" fmla="*/ 5 h 49"/>
                <a:gd name="T24" fmla="*/ 1 w 60"/>
                <a:gd name="T25" fmla="*/ 3 h 49"/>
                <a:gd name="T26" fmla="*/ 0 w 60"/>
                <a:gd name="T27" fmla="*/ 0 h 49"/>
                <a:gd name="T28" fmla="*/ 60 w 60"/>
                <a:gd name="T29" fmla="*/ 24 h 4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0"/>
                <a:gd name="T46" fmla="*/ 0 h 49"/>
                <a:gd name="T47" fmla="*/ 60 w 60"/>
                <a:gd name="T48" fmla="*/ 49 h 4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0" h="49">
                  <a:moveTo>
                    <a:pt x="60" y="24"/>
                  </a:moveTo>
                  <a:lnTo>
                    <a:pt x="0" y="49"/>
                  </a:lnTo>
                  <a:lnTo>
                    <a:pt x="1" y="46"/>
                  </a:lnTo>
                  <a:lnTo>
                    <a:pt x="2" y="44"/>
                  </a:lnTo>
                  <a:lnTo>
                    <a:pt x="4" y="40"/>
                  </a:lnTo>
                  <a:lnTo>
                    <a:pt x="5" y="38"/>
                  </a:lnTo>
                  <a:lnTo>
                    <a:pt x="5" y="35"/>
                  </a:lnTo>
                  <a:lnTo>
                    <a:pt x="6" y="32"/>
                  </a:lnTo>
                  <a:lnTo>
                    <a:pt x="6" y="17"/>
                  </a:lnTo>
                  <a:lnTo>
                    <a:pt x="5" y="14"/>
                  </a:lnTo>
                  <a:lnTo>
                    <a:pt x="5" y="12"/>
                  </a:lnTo>
                  <a:lnTo>
                    <a:pt x="2" y="5"/>
                  </a:lnTo>
                  <a:lnTo>
                    <a:pt x="1" y="3"/>
                  </a:lnTo>
                  <a:lnTo>
                    <a:pt x="0" y="0"/>
                  </a:lnTo>
                  <a:lnTo>
                    <a:pt x="60" y="24"/>
                  </a:lnTo>
                  <a:close/>
                </a:path>
              </a:pathLst>
            </a:custGeom>
            <a:solidFill>
              <a:srgbClr val="000000"/>
            </a:solidFill>
            <a:ln w="9525">
              <a:noFill/>
              <a:round/>
              <a:headEnd/>
              <a:tailEnd/>
            </a:ln>
          </p:spPr>
          <p:txBody>
            <a:bodyPr/>
            <a:lstStyle/>
            <a:p>
              <a:endParaRPr lang="en-US"/>
            </a:p>
          </p:txBody>
        </p:sp>
        <p:sp>
          <p:nvSpPr>
            <p:cNvPr id="19530" name="Rectangle 75"/>
            <p:cNvSpPr>
              <a:spLocks noChangeArrowheads="1"/>
            </p:cNvSpPr>
            <p:nvPr/>
          </p:nvSpPr>
          <p:spPr bwMode="auto">
            <a:xfrm>
              <a:off x="4211" y="3087"/>
              <a:ext cx="793" cy="121"/>
            </a:xfrm>
            <a:prstGeom prst="rect">
              <a:avLst/>
            </a:prstGeom>
            <a:solidFill>
              <a:srgbClr val="FFFFFF"/>
            </a:solidFill>
            <a:ln w="4763">
              <a:solidFill>
                <a:srgbClr val="0000FF"/>
              </a:solidFill>
              <a:miter lim="800000"/>
              <a:headEnd/>
              <a:tailEnd/>
            </a:ln>
          </p:spPr>
          <p:txBody>
            <a:bodyPr/>
            <a:lstStyle/>
            <a:p>
              <a:endParaRPr lang="en-US"/>
            </a:p>
          </p:txBody>
        </p:sp>
        <p:sp>
          <p:nvSpPr>
            <p:cNvPr id="19531" name="Rectangle 76"/>
            <p:cNvSpPr>
              <a:spLocks noChangeArrowheads="1"/>
            </p:cNvSpPr>
            <p:nvPr/>
          </p:nvSpPr>
          <p:spPr bwMode="auto">
            <a:xfrm>
              <a:off x="4437" y="3110"/>
              <a:ext cx="443" cy="77"/>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Engineers</a:t>
              </a:r>
              <a:endParaRPr lang="en-US">
                <a:cs typeface="Arial" charset="0"/>
              </a:endParaRPr>
            </a:p>
          </p:txBody>
        </p:sp>
        <p:sp>
          <p:nvSpPr>
            <p:cNvPr id="19532" name="Rectangle 77"/>
            <p:cNvSpPr>
              <a:spLocks noChangeArrowheads="1"/>
            </p:cNvSpPr>
            <p:nvPr/>
          </p:nvSpPr>
          <p:spPr bwMode="auto">
            <a:xfrm>
              <a:off x="4211" y="3208"/>
              <a:ext cx="793" cy="360"/>
            </a:xfrm>
            <a:prstGeom prst="rect">
              <a:avLst/>
            </a:prstGeom>
            <a:solidFill>
              <a:srgbClr val="FFFFFF"/>
            </a:solidFill>
            <a:ln w="4763">
              <a:solidFill>
                <a:srgbClr val="0000FF"/>
              </a:solidFill>
              <a:miter lim="800000"/>
              <a:headEnd/>
              <a:tailEnd/>
            </a:ln>
          </p:spPr>
          <p:txBody>
            <a:bodyPr/>
            <a:lstStyle/>
            <a:p>
              <a:endParaRPr lang="en-US"/>
            </a:p>
          </p:txBody>
        </p:sp>
        <p:sp>
          <p:nvSpPr>
            <p:cNvPr id="19533" name="Rectangle 78"/>
            <p:cNvSpPr>
              <a:spLocks noChangeArrowheads="1"/>
            </p:cNvSpPr>
            <p:nvPr/>
          </p:nvSpPr>
          <p:spPr bwMode="auto">
            <a:xfrm>
              <a:off x="4474" y="3258"/>
              <a:ext cx="191"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Revise</a:t>
              </a:r>
              <a:endParaRPr lang="en-US">
                <a:cs typeface="Arial" charset="0"/>
              </a:endParaRPr>
            </a:p>
          </p:txBody>
        </p:sp>
        <p:sp>
          <p:nvSpPr>
            <p:cNvPr id="19534" name="Rectangle 79"/>
            <p:cNvSpPr>
              <a:spLocks noChangeArrowheads="1"/>
            </p:cNvSpPr>
            <p:nvPr/>
          </p:nvSpPr>
          <p:spPr bwMode="auto">
            <a:xfrm>
              <a:off x="4342" y="3344"/>
              <a:ext cx="401"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specifications</a:t>
              </a:r>
              <a:endParaRPr lang="en-US">
                <a:cs typeface="Arial" charset="0"/>
              </a:endParaRPr>
            </a:p>
          </p:txBody>
        </p:sp>
        <p:sp>
          <p:nvSpPr>
            <p:cNvPr id="19535" name="Rectangle 80"/>
            <p:cNvSpPr>
              <a:spLocks noChangeArrowheads="1"/>
            </p:cNvSpPr>
            <p:nvPr/>
          </p:nvSpPr>
          <p:spPr bwMode="auto">
            <a:xfrm>
              <a:off x="4412" y="3429"/>
              <a:ext cx="311" cy="87"/>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if required</a:t>
              </a:r>
              <a:endParaRPr lang="en-US">
                <a:cs typeface="Arial" charset="0"/>
              </a:endParaRPr>
            </a:p>
          </p:txBody>
        </p:sp>
        <p:sp>
          <p:nvSpPr>
            <p:cNvPr id="19536" name="Line 81"/>
            <p:cNvSpPr>
              <a:spLocks noChangeShapeType="1"/>
            </p:cNvSpPr>
            <p:nvPr/>
          </p:nvSpPr>
          <p:spPr bwMode="auto">
            <a:xfrm>
              <a:off x="4014" y="3327"/>
              <a:ext cx="151" cy="1"/>
            </a:xfrm>
            <a:prstGeom prst="line">
              <a:avLst/>
            </a:prstGeom>
            <a:noFill/>
            <a:ln w="4763">
              <a:solidFill>
                <a:srgbClr val="000000"/>
              </a:solidFill>
              <a:round/>
              <a:headEnd/>
              <a:tailEnd/>
            </a:ln>
          </p:spPr>
          <p:txBody>
            <a:bodyPr/>
            <a:lstStyle/>
            <a:p>
              <a:endParaRPr lang="en-US"/>
            </a:p>
          </p:txBody>
        </p:sp>
        <p:sp>
          <p:nvSpPr>
            <p:cNvPr id="19537" name="Freeform 82"/>
            <p:cNvSpPr>
              <a:spLocks/>
            </p:cNvSpPr>
            <p:nvPr/>
          </p:nvSpPr>
          <p:spPr bwMode="auto">
            <a:xfrm>
              <a:off x="4151" y="3303"/>
              <a:ext cx="60" cy="49"/>
            </a:xfrm>
            <a:custGeom>
              <a:avLst/>
              <a:gdLst>
                <a:gd name="T0" fmla="*/ 60 w 60"/>
                <a:gd name="T1" fmla="*/ 24 h 49"/>
                <a:gd name="T2" fmla="*/ 0 w 60"/>
                <a:gd name="T3" fmla="*/ 49 h 49"/>
                <a:gd name="T4" fmla="*/ 1 w 60"/>
                <a:gd name="T5" fmla="*/ 46 h 49"/>
                <a:gd name="T6" fmla="*/ 2 w 60"/>
                <a:gd name="T7" fmla="*/ 44 h 49"/>
                <a:gd name="T8" fmla="*/ 4 w 60"/>
                <a:gd name="T9" fmla="*/ 40 h 49"/>
                <a:gd name="T10" fmla="*/ 4 w 60"/>
                <a:gd name="T11" fmla="*/ 38 h 49"/>
                <a:gd name="T12" fmla="*/ 5 w 60"/>
                <a:gd name="T13" fmla="*/ 35 h 49"/>
                <a:gd name="T14" fmla="*/ 5 w 60"/>
                <a:gd name="T15" fmla="*/ 32 h 49"/>
                <a:gd name="T16" fmla="*/ 6 w 60"/>
                <a:gd name="T17" fmla="*/ 29 h 49"/>
                <a:gd name="T18" fmla="*/ 6 w 60"/>
                <a:gd name="T19" fmla="*/ 20 h 49"/>
                <a:gd name="T20" fmla="*/ 5 w 60"/>
                <a:gd name="T21" fmla="*/ 17 h 49"/>
                <a:gd name="T22" fmla="*/ 5 w 60"/>
                <a:gd name="T23" fmla="*/ 14 h 49"/>
                <a:gd name="T24" fmla="*/ 4 w 60"/>
                <a:gd name="T25" fmla="*/ 12 h 49"/>
                <a:gd name="T26" fmla="*/ 4 w 60"/>
                <a:gd name="T27" fmla="*/ 8 h 49"/>
                <a:gd name="T28" fmla="*/ 2 w 60"/>
                <a:gd name="T29" fmla="*/ 5 h 49"/>
                <a:gd name="T30" fmla="*/ 1 w 60"/>
                <a:gd name="T31" fmla="*/ 3 h 49"/>
                <a:gd name="T32" fmla="*/ 0 w 60"/>
                <a:gd name="T33" fmla="*/ 0 h 49"/>
                <a:gd name="T34" fmla="*/ 60 w 60"/>
                <a:gd name="T35" fmla="*/ 24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49"/>
                <a:gd name="T56" fmla="*/ 60 w 60"/>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49">
                  <a:moveTo>
                    <a:pt x="60" y="24"/>
                  </a:moveTo>
                  <a:lnTo>
                    <a:pt x="0" y="49"/>
                  </a:lnTo>
                  <a:lnTo>
                    <a:pt x="1" y="46"/>
                  </a:lnTo>
                  <a:lnTo>
                    <a:pt x="2" y="44"/>
                  </a:lnTo>
                  <a:lnTo>
                    <a:pt x="4" y="40"/>
                  </a:lnTo>
                  <a:lnTo>
                    <a:pt x="4" y="38"/>
                  </a:lnTo>
                  <a:lnTo>
                    <a:pt x="5" y="35"/>
                  </a:lnTo>
                  <a:lnTo>
                    <a:pt x="5" y="32"/>
                  </a:lnTo>
                  <a:lnTo>
                    <a:pt x="6" y="29"/>
                  </a:lnTo>
                  <a:lnTo>
                    <a:pt x="6" y="20"/>
                  </a:lnTo>
                  <a:lnTo>
                    <a:pt x="5" y="17"/>
                  </a:lnTo>
                  <a:lnTo>
                    <a:pt x="5" y="14"/>
                  </a:lnTo>
                  <a:lnTo>
                    <a:pt x="4" y="12"/>
                  </a:lnTo>
                  <a:lnTo>
                    <a:pt x="4" y="8"/>
                  </a:lnTo>
                  <a:lnTo>
                    <a:pt x="2" y="5"/>
                  </a:lnTo>
                  <a:lnTo>
                    <a:pt x="1" y="3"/>
                  </a:lnTo>
                  <a:lnTo>
                    <a:pt x="0" y="0"/>
                  </a:lnTo>
                  <a:lnTo>
                    <a:pt x="60" y="24"/>
                  </a:lnTo>
                  <a:close/>
                </a:path>
              </a:pathLst>
            </a:custGeom>
            <a:solidFill>
              <a:srgbClr val="000000"/>
            </a:solidFill>
            <a:ln w="9525">
              <a:noFill/>
              <a:round/>
              <a:headEnd/>
              <a:tailEnd/>
            </a:ln>
          </p:spPr>
          <p:txBody>
            <a:bodyPr/>
            <a:lstStyle/>
            <a:p>
              <a:endParaRPr lang="en-US"/>
            </a:p>
          </p:txBody>
        </p:sp>
        <p:sp>
          <p:nvSpPr>
            <p:cNvPr id="19538" name="Freeform 83"/>
            <p:cNvSpPr>
              <a:spLocks/>
            </p:cNvSpPr>
            <p:nvPr/>
          </p:nvSpPr>
          <p:spPr bwMode="auto">
            <a:xfrm>
              <a:off x="4223" y="3098"/>
              <a:ext cx="126" cy="99"/>
            </a:xfrm>
            <a:custGeom>
              <a:avLst/>
              <a:gdLst>
                <a:gd name="T0" fmla="*/ 0 w 126"/>
                <a:gd name="T1" fmla="*/ 49 h 99"/>
                <a:gd name="T2" fmla="*/ 3 w 126"/>
                <a:gd name="T3" fmla="*/ 35 h 99"/>
                <a:gd name="T4" fmla="*/ 9 w 126"/>
                <a:gd name="T5" fmla="*/ 22 h 99"/>
                <a:gd name="T6" fmla="*/ 21 w 126"/>
                <a:gd name="T7" fmla="*/ 12 h 99"/>
                <a:gd name="T8" fmla="*/ 36 w 126"/>
                <a:gd name="T9" fmla="*/ 4 h 99"/>
                <a:gd name="T10" fmla="*/ 53 w 126"/>
                <a:gd name="T11" fmla="*/ 0 h 99"/>
                <a:gd name="T12" fmla="*/ 71 w 126"/>
                <a:gd name="T13" fmla="*/ 0 h 99"/>
                <a:gd name="T14" fmla="*/ 89 w 126"/>
                <a:gd name="T15" fmla="*/ 4 h 99"/>
                <a:gd name="T16" fmla="*/ 103 w 126"/>
                <a:gd name="T17" fmla="*/ 12 h 99"/>
                <a:gd name="T18" fmla="*/ 115 w 126"/>
                <a:gd name="T19" fmla="*/ 22 h 99"/>
                <a:gd name="T20" fmla="*/ 123 w 126"/>
                <a:gd name="T21" fmla="*/ 35 h 99"/>
                <a:gd name="T22" fmla="*/ 126 w 126"/>
                <a:gd name="T23" fmla="*/ 49 h 99"/>
                <a:gd name="T24" fmla="*/ 123 w 126"/>
                <a:gd name="T25" fmla="*/ 63 h 99"/>
                <a:gd name="T26" fmla="*/ 115 w 126"/>
                <a:gd name="T27" fmla="*/ 77 h 99"/>
                <a:gd name="T28" fmla="*/ 103 w 126"/>
                <a:gd name="T29" fmla="*/ 87 h 99"/>
                <a:gd name="T30" fmla="*/ 89 w 126"/>
                <a:gd name="T31" fmla="*/ 95 h 99"/>
                <a:gd name="T32" fmla="*/ 71 w 126"/>
                <a:gd name="T33" fmla="*/ 99 h 99"/>
                <a:gd name="T34" fmla="*/ 53 w 126"/>
                <a:gd name="T35" fmla="*/ 99 h 99"/>
                <a:gd name="T36" fmla="*/ 36 w 126"/>
                <a:gd name="T37" fmla="*/ 95 h 99"/>
                <a:gd name="T38" fmla="*/ 21 w 126"/>
                <a:gd name="T39" fmla="*/ 87 h 99"/>
                <a:gd name="T40" fmla="*/ 9 w 126"/>
                <a:gd name="T41" fmla="*/ 77 h 99"/>
                <a:gd name="T42" fmla="*/ 3 w 126"/>
                <a:gd name="T43" fmla="*/ 63 h 99"/>
                <a:gd name="T44" fmla="*/ 0 w 126"/>
                <a:gd name="T45" fmla="*/ 49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6"/>
                <a:gd name="T70" fmla="*/ 0 h 99"/>
                <a:gd name="T71" fmla="*/ 126 w 126"/>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6" h="99">
                  <a:moveTo>
                    <a:pt x="0" y="49"/>
                  </a:moveTo>
                  <a:lnTo>
                    <a:pt x="3" y="35"/>
                  </a:lnTo>
                  <a:lnTo>
                    <a:pt x="9" y="22"/>
                  </a:lnTo>
                  <a:lnTo>
                    <a:pt x="21" y="12"/>
                  </a:lnTo>
                  <a:lnTo>
                    <a:pt x="36" y="4"/>
                  </a:lnTo>
                  <a:lnTo>
                    <a:pt x="53" y="0"/>
                  </a:lnTo>
                  <a:lnTo>
                    <a:pt x="71" y="0"/>
                  </a:lnTo>
                  <a:lnTo>
                    <a:pt x="89" y="4"/>
                  </a:lnTo>
                  <a:lnTo>
                    <a:pt x="103" y="12"/>
                  </a:lnTo>
                  <a:lnTo>
                    <a:pt x="115" y="22"/>
                  </a:lnTo>
                  <a:lnTo>
                    <a:pt x="123" y="35"/>
                  </a:lnTo>
                  <a:lnTo>
                    <a:pt x="126" y="49"/>
                  </a:lnTo>
                  <a:lnTo>
                    <a:pt x="123" y="63"/>
                  </a:lnTo>
                  <a:lnTo>
                    <a:pt x="115" y="77"/>
                  </a:lnTo>
                  <a:lnTo>
                    <a:pt x="103" y="87"/>
                  </a:lnTo>
                  <a:lnTo>
                    <a:pt x="89" y="95"/>
                  </a:lnTo>
                  <a:lnTo>
                    <a:pt x="71" y="99"/>
                  </a:lnTo>
                  <a:lnTo>
                    <a:pt x="53" y="99"/>
                  </a:lnTo>
                  <a:lnTo>
                    <a:pt x="36" y="95"/>
                  </a:lnTo>
                  <a:lnTo>
                    <a:pt x="21" y="87"/>
                  </a:lnTo>
                  <a:lnTo>
                    <a:pt x="9" y="77"/>
                  </a:lnTo>
                  <a:lnTo>
                    <a:pt x="3" y="63"/>
                  </a:lnTo>
                  <a:lnTo>
                    <a:pt x="0" y="49"/>
                  </a:lnTo>
                  <a:close/>
                </a:path>
              </a:pathLst>
            </a:custGeom>
            <a:solidFill>
              <a:srgbClr val="00FFFF"/>
            </a:solidFill>
            <a:ln w="9525">
              <a:noFill/>
              <a:round/>
              <a:headEnd/>
              <a:tailEnd/>
            </a:ln>
          </p:spPr>
          <p:txBody>
            <a:bodyPr/>
            <a:lstStyle/>
            <a:p>
              <a:endParaRPr lang="en-US"/>
            </a:p>
          </p:txBody>
        </p:sp>
        <p:sp>
          <p:nvSpPr>
            <p:cNvPr id="19539" name="Rectangle 84"/>
            <p:cNvSpPr>
              <a:spLocks noChangeArrowheads="1"/>
            </p:cNvSpPr>
            <p:nvPr/>
          </p:nvSpPr>
          <p:spPr bwMode="auto">
            <a:xfrm>
              <a:off x="4267" y="3115"/>
              <a:ext cx="28" cy="68"/>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8</a:t>
              </a:r>
              <a:endParaRPr lang="en-US">
                <a:cs typeface="Arial" charset="0"/>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idx="4294967295"/>
          </p:nvPr>
        </p:nvSpPr>
        <p:spPr/>
        <p:txBody>
          <a:bodyPr/>
          <a:lstStyle/>
          <a:p>
            <a:pPr marL="495300" indent="-495300" eaLnBrk="1" hangingPunct="1"/>
            <a:r>
              <a:rPr lang="en-US" sz="2400" smtClean="0">
                <a:latin typeface="Arial" charset="0"/>
              </a:rPr>
              <a:t>Specifications – Key Points</a:t>
            </a:r>
          </a:p>
        </p:txBody>
      </p:sp>
      <p:sp>
        <p:nvSpPr>
          <p:cNvPr id="21506" name="Rectangle 3"/>
          <p:cNvSpPr>
            <a:spLocks noGrp="1" noChangeArrowheads="1"/>
          </p:cNvSpPr>
          <p:nvPr>
            <p:ph idx="4294967295"/>
          </p:nvPr>
        </p:nvSpPr>
        <p:spPr>
          <a:xfrm>
            <a:off x="228600" y="1295400"/>
            <a:ext cx="8518525" cy="2806700"/>
          </a:xfrm>
        </p:spPr>
        <p:txBody>
          <a:bodyPr/>
          <a:lstStyle/>
          <a:p>
            <a:pPr marL="700088" lvl="1" indent="-341313" defTabSz="819150" eaLnBrk="1" hangingPunct="1">
              <a:buClr>
                <a:schemeClr val="tx1"/>
              </a:buClr>
              <a:buFont typeface="Wingdings" pitchFamily="2" charset="2"/>
              <a:buChar char="§"/>
            </a:pPr>
            <a:r>
              <a:rPr lang="en-US" sz="1800" smtClean="0">
                <a:latin typeface="Arial" charset="0"/>
              </a:rPr>
              <a:t>Project specific requirements</a:t>
            </a:r>
          </a:p>
          <a:p>
            <a:pPr marL="700088" lvl="1" indent="-341313" defTabSz="819150" eaLnBrk="1" hangingPunct="1">
              <a:buClr>
                <a:schemeClr val="tx1"/>
              </a:buClr>
              <a:buFont typeface="Wingdings" pitchFamily="2" charset="2"/>
              <a:buChar char="§"/>
            </a:pPr>
            <a:r>
              <a:rPr lang="en-US" sz="1800" smtClean="0">
                <a:latin typeface="Arial" charset="0"/>
              </a:rPr>
              <a:t>Specifications prepared by each discipline</a:t>
            </a:r>
          </a:p>
          <a:p>
            <a:pPr marL="700088" lvl="1" indent="-341313" defTabSz="819150" eaLnBrk="1" hangingPunct="1">
              <a:buClr>
                <a:schemeClr val="tx1"/>
              </a:buClr>
              <a:buFont typeface="Wingdings" pitchFamily="2" charset="2"/>
              <a:buChar char="§"/>
            </a:pPr>
            <a:r>
              <a:rPr lang="en-US" sz="1800" smtClean="0">
                <a:latin typeface="Arial" charset="0"/>
              </a:rPr>
              <a:t>Internal review and approval</a:t>
            </a:r>
          </a:p>
          <a:p>
            <a:pPr marL="700088" lvl="1" indent="-341313" defTabSz="819150" eaLnBrk="1" hangingPunct="1">
              <a:buClr>
                <a:schemeClr val="tx1"/>
              </a:buClr>
              <a:buFont typeface="Wingdings" pitchFamily="2" charset="2"/>
              <a:buChar char="§"/>
            </a:pPr>
            <a:r>
              <a:rPr lang="en-US" sz="1800" smtClean="0">
                <a:latin typeface="Arial" charset="0"/>
              </a:rPr>
              <a:t>Formal issue / distribution</a:t>
            </a:r>
          </a:p>
          <a:p>
            <a:pPr marL="700088" lvl="1" indent="-341313" defTabSz="819150" eaLnBrk="1" hangingPunct="1">
              <a:buClr>
                <a:schemeClr val="tx1"/>
              </a:buClr>
              <a:buFont typeface="Wingdings" pitchFamily="2" charset="2"/>
              <a:buChar char="§"/>
            </a:pPr>
            <a:r>
              <a:rPr lang="en-US" sz="1800" smtClean="0">
                <a:latin typeface="Arial" charset="0"/>
              </a:rPr>
              <a:t>PMT</a:t>
            </a:r>
            <a:r>
              <a:rPr lang="en-US" sz="1800" smtClean="0">
                <a:solidFill>
                  <a:srgbClr val="FF0000"/>
                </a:solidFill>
                <a:latin typeface="Arial" charset="0"/>
              </a:rPr>
              <a:t> </a:t>
            </a:r>
            <a:r>
              <a:rPr lang="en-US" sz="1800" smtClean="0">
                <a:latin typeface="Arial" charset="0"/>
              </a:rPr>
              <a:t>review and acceptance</a:t>
            </a:r>
          </a:p>
          <a:p>
            <a:pPr marL="700088" lvl="1" indent="-341313" defTabSz="819150" eaLnBrk="1" hangingPunct="1">
              <a:buClr>
                <a:schemeClr val="tx1"/>
              </a:buClr>
              <a:buFont typeface="Wingdings" pitchFamily="2" charset="2"/>
              <a:buChar char="§"/>
            </a:pPr>
            <a:r>
              <a:rPr lang="en-US" sz="1800" smtClean="0">
                <a:latin typeface="Arial" charset="0"/>
              </a:rPr>
              <a:t>N</a:t>
            </a:r>
            <a:r>
              <a:rPr lang="en-GB" sz="1800" smtClean="0">
                <a:latin typeface="Arial" charset="0"/>
              </a:rPr>
              <a:t>umbering system consistent with drawings</a:t>
            </a:r>
            <a:endParaRPr lang="en-US" sz="1800" smtClean="0">
              <a:latin typeface="Arial"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idx="4294967295"/>
          </p:nvPr>
        </p:nvSpPr>
        <p:spPr/>
        <p:txBody>
          <a:bodyPr/>
          <a:lstStyle/>
          <a:p>
            <a:pPr eaLnBrk="1" hangingPunct="1"/>
            <a:r>
              <a:rPr lang="en-US" sz="2400" smtClean="0">
                <a:latin typeface="Arial" charset="0"/>
              </a:rPr>
              <a:t>Calculations</a:t>
            </a:r>
          </a:p>
        </p:txBody>
      </p:sp>
      <p:sp>
        <p:nvSpPr>
          <p:cNvPr id="22530" name="Rectangle 3"/>
          <p:cNvSpPr>
            <a:spLocks noGrp="1" noChangeArrowheads="1"/>
          </p:cNvSpPr>
          <p:nvPr>
            <p:ph type="body" idx="4294967295"/>
          </p:nvPr>
        </p:nvSpPr>
        <p:spPr>
          <a:xfrm>
            <a:off x="304800" y="1162050"/>
            <a:ext cx="8610600" cy="4857750"/>
          </a:xfrm>
        </p:spPr>
        <p:txBody>
          <a:bodyPr/>
          <a:lstStyle/>
          <a:p>
            <a:pPr algn="just" eaLnBrk="1" hangingPunct="1">
              <a:buClr>
                <a:schemeClr val="tx1"/>
              </a:buClr>
              <a:buFont typeface="Wingdings" pitchFamily="2" charset="2"/>
              <a:buChar char="§"/>
            </a:pPr>
            <a:endParaRPr lang="en-US" sz="1800" smtClean="0">
              <a:latin typeface="Arial" charset="0"/>
            </a:endParaRPr>
          </a:p>
          <a:p>
            <a:pPr algn="just" eaLnBrk="1" hangingPunct="1">
              <a:buClr>
                <a:schemeClr val="tx1"/>
              </a:buClr>
              <a:buFont typeface="Wingdings" pitchFamily="2" charset="2"/>
              <a:buChar char="§"/>
            </a:pPr>
            <a:r>
              <a:rPr lang="en-US" sz="1800" smtClean="0">
                <a:latin typeface="Arial" charset="0"/>
              </a:rPr>
              <a:t>Calculations will be prepared by Licensors and DECs as necessary to support the design. Analytical software programs, which are not already qualified by PMT/Reliance and have been used for calculations, will be subject to approval by PMT/Reliance.</a:t>
            </a:r>
          </a:p>
          <a:p>
            <a:pPr algn="just" eaLnBrk="1" hangingPunct="1">
              <a:buClr>
                <a:schemeClr val="tx1"/>
              </a:buClr>
              <a:buFont typeface="Wingdings" pitchFamily="2" charset="2"/>
              <a:buChar char="§"/>
            </a:pPr>
            <a:r>
              <a:rPr lang="en-US" sz="2000" smtClean="0">
                <a:latin typeface="Arial" charset="0"/>
              </a:rPr>
              <a:t>Completed formal calculations developed by the DEC that support the final will be issued to the PMT/Reliance and will be Reviewed and Approved in line with the requirements set out in the TRAM. </a:t>
            </a:r>
          </a:p>
          <a:p>
            <a:pPr algn="just" eaLnBrk="1" hangingPunct="1">
              <a:buClr>
                <a:schemeClr val="tx1"/>
              </a:buClr>
              <a:buFont typeface="Wingdings" pitchFamily="2" charset="2"/>
              <a:buChar char="§"/>
            </a:pPr>
            <a:r>
              <a:rPr lang="en-US" sz="1800" smtClean="0">
                <a:latin typeface="Arial" charset="0"/>
              </a:rPr>
              <a:t>Calculations will be turned over to PMT/Reliance for issue and file retention in line with requirements defined in the contract.</a:t>
            </a:r>
          </a:p>
          <a:p>
            <a:pPr eaLnBrk="1" hangingPunct="1">
              <a:buClr>
                <a:schemeClr val="tx1"/>
              </a:buClr>
              <a:buFont typeface="Wingdings" pitchFamily="2" charset="2"/>
              <a:buChar char="§"/>
            </a:pPr>
            <a:endParaRPr lang="en-US" sz="1800" smtClean="0">
              <a:latin typeface="Arial"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62"/>
          <p:cNvSpPr>
            <a:spLocks noGrp="1" noChangeArrowheads="1"/>
          </p:cNvSpPr>
          <p:nvPr>
            <p:ph type="title" idx="4294967295"/>
          </p:nvPr>
        </p:nvSpPr>
        <p:spPr/>
        <p:txBody>
          <a:bodyPr/>
          <a:lstStyle/>
          <a:p>
            <a:r>
              <a:rPr lang="en-US" sz="2400" smtClean="0">
                <a:latin typeface="Arial" charset="0"/>
              </a:rPr>
              <a:t>Calculation Numbering</a:t>
            </a:r>
          </a:p>
        </p:txBody>
      </p:sp>
      <p:sp>
        <p:nvSpPr>
          <p:cNvPr id="23554" name="Rectangle 3"/>
          <p:cNvSpPr>
            <a:spLocks noGrp="1" noChangeArrowheads="1"/>
          </p:cNvSpPr>
          <p:nvPr>
            <p:ph type="body" sz="half" idx="4294967295"/>
          </p:nvPr>
        </p:nvSpPr>
        <p:spPr>
          <a:xfrm>
            <a:off x="612775" y="1162050"/>
            <a:ext cx="8150225" cy="742950"/>
          </a:xfrm>
        </p:spPr>
        <p:txBody>
          <a:bodyPr/>
          <a:lstStyle/>
          <a:p>
            <a:pPr marL="781050" lvl="1" indent="-381000"/>
            <a:endParaRPr lang="en-US" sz="1200" b="1" smtClean="0">
              <a:latin typeface="Arial" charset="0"/>
            </a:endParaRPr>
          </a:p>
          <a:p>
            <a:pPr marL="781050" lvl="1" indent="-381000"/>
            <a:endParaRPr lang="en-GB" sz="1200" b="1" smtClean="0">
              <a:latin typeface="Arial" charset="0"/>
            </a:endParaRPr>
          </a:p>
          <a:p>
            <a:pPr marL="781050" lvl="1" indent="-381000"/>
            <a:endParaRPr lang="en-US" sz="1200" b="1" smtClean="0">
              <a:latin typeface="Arial" charset="0"/>
            </a:endParaRPr>
          </a:p>
        </p:txBody>
      </p:sp>
      <p:sp>
        <p:nvSpPr>
          <p:cNvPr id="23555" name="Rectangle 78"/>
          <p:cNvSpPr>
            <a:spLocks noChangeArrowheads="1"/>
          </p:cNvSpPr>
          <p:nvPr/>
        </p:nvSpPr>
        <p:spPr bwMode="auto">
          <a:xfrm>
            <a:off x="1979613" y="2058988"/>
            <a:ext cx="4146550" cy="0"/>
          </a:xfrm>
          <a:prstGeom prst="rect">
            <a:avLst/>
          </a:prstGeom>
          <a:noFill/>
          <a:ln w="9525">
            <a:noFill/>
            <a:miter lim="800000"/>
            <a:headEnd/>
            <a:tailEnd/>
          </a:ln>
        </p:spPr>
        <p:txBody>
          <a:bodyPr wrap="none">
            <a:spAutoFit/>
          </a:bodyPr>
          <a:lstStyle/>
          <a:p>
            <a:endParaRPr lang="en-US"/>
          </a:p>
        </p:txBody>
      </p:sp>
      <p:graphicFrame>
        <p:nvGraphicFramePr>
          <p:cNvPr id="34919" name="Group 103"/>
          <p:cNvGraphicFramePr>
            <a:graphicFrameLocks noGrp="1"/>
          </p:cNvGraphicFramePr>
          <p:nvPr/>
        </p:nvGraphicFramePr>
        <p:xfrm>
          <a:off x="457200" y="4267200"/>
          <a:ext cx="8153400" cy="2108200"/>
        </p:xfrm>
        <a:graphic>
          <a:graphicData uri="http://schemas.openxmlformats.org/drawingml/2006/table">
            <a:tbl>
              <a:tblPr/>
              <a:tblGrid>
                <a:gridCol w="1504950"/>
                <a:gridCol w="6648450"/>
              </a:tblGrid>
              <a:tr h="4445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1A</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Commodity Identification code comprises of a Commodity Group code and Sequence Prefix if applicable and may be up to six characters (MPP denotes pump)</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cap="flat">
                      <a:noFill/>
                    </a:lnT>
                    <a:lnB>
                      <a:noFill/>
                    </a:lnB>
                    <a:lnTlToBr>
                      <a:noFill/>
                    </a:lnTlToBr>
                    <a:lnBlToTr>
                      <a:noFill/>
                    </a:lnBlToTr>
                    <a:noFill/>
                  </a:tcPr>
                </a:tc>
              </a:tr>
              <a:tr h="214313">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1B</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Data Sheet Identifier. Always </a:t>
                      </a:r>
                      <a:r>
                        <a:rPr kumimoji="0" lang="en-US" sz="1000" b="1" i="0" u="none" strike="noStrike" cap="none" normalizeH="0" baseline="0" smtClean="0">
                          <a:ln>
                            <a:noFill/>
                          </a:ln>
                          <a:solidFill>
                            <a:schemeClr val="tx1"/>
                          </a:solidFill>
                          <a:effectLst/>
                          <a:latin typeface="Arial"/>
                          <a:ea typeface="Times New Roman" pitchFamily="18" charset="0"/>
                          <a:cs typeface="Arial" charset="0"/>
                        </a:rPr>
                        <a:t>‘</a:t>
                      </a: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D</a:t>
                      </a:r>
                      <a:r>
                        <a:rPr kumimoji="0" lang="en-US" sz="1000" b="1" i="0" u="none" strike="noStrike" cap="none" normalizeH="0" baseline="0" smtClean="0">
                          <a:ln>
                            <a:noFill/>
                          </a:ln>
                          <a:solidFill>
                            <a:schemeClr val="tx1"/>
                          </a:solidFill>
                          <a:effectLst/>
                          <a:latin typeface="Arial"/>
                          <a:ea typeface="Times New Roman" pitchFamily="18" charset="0"/>
                          <a:cs typeface="Arial" charset="0"/>
                        </a:rPr>
                        <a:t>’</a:t>
                      </a: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 except for Process Data Sheet which shall be </a:t>
                      </a:r>
                      <a:r>
                        <a:rPr kumimoji="0" lang="en-US" sz="1000" b="1" i="0" u="none" strike="noStrike" cap="none" normalizeH="0" baseline="0" smtClean="0">
                          <a:ln>
                            <a:noFill/>
                          </a:ln>
                          <a:solidFill>
                            <a:schemeClr val="tx1"/>
                          </a:solidFill>
                          <a:effectLst/>
                          <a:latin typeface="Arial"/>
                          <a:ea typeface="Times New Roman" pitchFamily="18" charset="0"/>
                          <a:cs typeface="Arial" charset="0"/>
                        </a:rPr>
                        <a:t>‘’</a:t>
                      </a: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BD</a:t>
                      </a:r>
                      <a:r>
                        <a:rPr kumimoji="0" lang="en-US" sz="1000" b="1" i="0" u="none" strike="noStrike" cap="none" normalizeH="0" baseline="0" smtClean="0">
                          <a:ln>
                            <a:noFill/>
                          </a:ln>
                          <a:solidFill>
                            <a:schemeClr val="tx1"/>
                          </a:solidFill>
                          <a:effectLst/>
                          <a:latin typeface="Arial"/>
                          <a:ea typeface="Times New Roman" pitchFamily="18" charset="0"/>
                          <a:cs typeface="Arial" charset="0"/>
                        </a:rPr>
                        <a:t>’</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a:noFill/>
                    </a:lnT>
                    <a:lnB>
                      <a:noFill/>
                    </a:lnB>
                    <a:lnTlToBr>
                      <a:noFill/>
                    </a:lnTlToBr>
                    <a:lnBlToTr>
                      <a:noFill/>
                    </a:lnBlToTr>
                    <a:noFill/>
                  </a:tcPr>
                </a:tc>
              </a:tr>
              <a:tr h="261938">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2</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Project/Complex/Unit identifier and it is a six digit alphanumeric code.  (Refer to the Project WBS). </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a:noFill/>
                    </a:lnT>
                    <a:lnB>
                      <a:noFill/>
                    </a:lnB>
                    <a:lnTlToBr>
                      <a:noFill/>
                    </a:lnTlToBr>
                    <a:lnBlToTr>
                      <a:noFill/>
                    </a:lnBlToTr>
                    <a:noFill/>
                  </a:tcPr>
                </a:tc>
              </a:tr>
              <a:tr h="9144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3.</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Section Number, (This is an Optional field with the exception of Instrumentation), Contractor to include an additional section number where the Work Breakdown Structure (WBS) does not provide sufficient granularity to fit their work processes. Instrument Datasheets shall always have a six character number, if section number is not used zeros shall be inserted, no space or dash shall be inserted between the section and sequence number, (i.e, 170113 or 000113).</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a:noFill/>
                    </a:lnT>
                    <a:lnB>
                      <a:noFill/>
                    </a:lnB>
                    <a:lnTlToBr>
                      <a:noFill/>
                    </a:lnTlToBr>
                    <a:lnBlToTr>
                      <a:noFill/>
                    </a:lnBlToTr>
                    <a:noFill/>
                  </a:tcPr>
                </a:tc>
              </a:tr>
              <a:tr h="174625">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4</a:t>
                      </a:r>
                    </a:p>
                  </a:txBody>
                  <a:tcP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Data sheet sequence number commencing at 001.</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cap="flat">
                      <a:noFill/>
                    </a:lnR>
                    <a:lnT>
                      <a:noFill/>
                    </a:lnT>
                    <a:lnB cap="flat">
                      <a:noFill/>
                    </a:lnB>
                    <a:lnTlToBr>
                      <a:noFill/>
                    </a:lnTlToBr>
                    <a:lnBlToTr>
                      <a:noFill/>
                    </a:lnBlToTr>
                    <a:noFill/>
                  </a:tcPr>
                </a:tc>
              </a:tr>
            </a:tbl>
          </a:graphicData>
        </a:graphic>
      </p:graphicFrame>
      <p:pic>
        <p:nvPicPr>
          <p:cNvPr id="23567" name="Picture 104" descr="Data3"/>
          <p:cNvPicPr>
            <a:picLocks noChangeAspect="1" noChangeArrowheads="1"/>
          </p:cNvPicPr>
          <p:nvPr/>
        </p:nvPicPr>
        <p:blipFill>
          <a:blip r:embed="rId2"/>
          <a:srcRect/>
          <a:stretch>
            <a:fillRect/>
          </a:stretch>
        </p:blipFill>
        <p:spPr bwMode="auto">
          <a:xfrm>
            <a:off x="1905000" y="1219200"/>
            <a:ext cx="5562600" cy="29765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idx="4294967295"/>
          </p:nvPr>
        </p:nvSpPr>
        <p:spPr/>
        <p:txBody>
          <a:bodyPr/>
          <a:lstStyle/>
          <a:p>
            <a:pPr eaLnBrk="1" hangingPunct="1"/>
            <a:r>
              <a:rPr lang="en-US" sz="2400" smtClean="0">
                <a:latin typeface="Arial" charset="0"/>
              </a:rPr>
              <a:t>Calculations</a:t>
            </a:r>
          </a:p>
        </p:txBody>
      </p:sp>
      <p:sp>
        <p:nvSpPr>
          <p:cNvPr id="24578" name="Rectangle 3"/>
          <p:cNvSpPr>
            <a:spLocks noGrp="1" noChangeArrowheads="1"/>
          </p:cNvSpPr>
          <p:nvPr>
            <p:ph idx="4294967295"/>
          </p:nvPr>
        </p:nvSpPr>
        <p:spPr>
          <a:xfrm>
            <a:off x="612775" y="1162050"/>
            <a:ext cx="7807325" cy="1843088"/>
          </a:xfrm>
        </p:spPr>
        <p:txBody>
          <a:bodyPr/>
          <a:lstStyle/>
          <a:p>
            <a:pPr marL="374650" indent="-374650" defTabSz="819150" eaLnBrk="1" hangingPunct="1">
              <a:lnSpc>
                <a:spcPct val="85000"/>
              </a:lnSpc>
              <a:buClr>
                <a:schemeClr val="tx1"/>
              </a:buClr>
              <a:buFont typeface="Wingdings" pitchFamily="2" charset="2"/>
              <a:buChar char="§"/>
            </a:pPr>
            <a:r>
              <a:rPr lang="en-US" sz="1800" smtClean="0">
                <a:latin typeface="Arial" charset="0"/>
              </a:rPr>
              <a:t>Calculations compiled to:</a:t>
            </a:r>
          </a:p>
          <a:p>
            <a:pPr marL="700088" lvl="1" indent="-341313" defTabSz="819150" eaLnBrk="1" hangingPunct="1">
              <a:lnSpc>
                <a:spcPct val="90000"/>
              </a:lnSpc>
              <a:buClr>
                <a:schemeClr val="tx1"/>
              </a:buClr>
              <a:buFontTx/>
              <a:buChar char="•"/>
            </a:pPr>
            <a:r>
              <a:rPr lang="en-US" sz="1800" smtClean="0">
                <a:solidFill>
                  <a:srgbClr val="3366CC"/>
                </a:solidFill>
                <a:latin typeface="Arial" charset="0"/>
              </a:rPr>
              <a:t>Form the basis of design</a:t>
            </a:r>
          </a:p>
          <a:p>
            <a:pPr marL="700088" lvl="1" indent="-341313" defTabSz="819150" eaLnBrk="1" hangingPunct="1">
              <a:lnSpc>
                <a:spcPct val="90000"/>
              </a:lnSpc>
              <a:buClr>
                <a:schemeClr val="tx1"/>
              </a:buClr>
              <a:buFontTx/>
              <a:buChar char="•"/>
            </a:pPr>
            <a:r>
              <a:rPr lang="en-US" sz="1800" smtClean="0">
                <a:solidFill>
                  <a:srgbClr val="3366CC"/>
                </a:solidFill>
                <a:latin typeface="Arial" charset="0"/>
              </a:rPr>
              <a:t>Maintain a record of the basis of design</a:t>
            </a:r>
          </a:p>
          <a:p>
            <a:pPr marL="374650" indent="-374650" defTabSz="819150" eaLnBrk="1" hangingPunct="1">
              <a:lnSpc>
                <a:spcPct val="90000"/>
              </a:lnSpc>
              <a:buClr>
                <a:schemeClr val="tx1"/>
              </a:buClr>
              <a:buFont typeface="Wingdings" pitchFamily="2" charset="2"/>
              <a:buChar char="§"/>
            </a:pPr>
            <a:r>
              <a:rPr lang="en-GB" sz="1800" smtClean="0">
                <a:latin typeface="Arial" charset="0"/>
              </a:rPr>
              <a:t>Key Steps:</a:t>
            </a:r>
            <a:endParaRPr lang="en-US" sz="1800" smtClean="0">
              <a:latin typeface="Arial" charset="0"/>
            </a:endParaRPr>
          </a:p>
        </p:txBody>
      </p:sp>
      <p:sp>
        <p:nvSpPr>
          <p:cNvPr id="24579" name="AutoShape 4"/>
          <p:cNvSpPr>
            <a:spLocks noChangeAspect="1" noChangeArrowheads="1" noTextEdit="1"/>
          </p:cNvSpPr>
          <p:nvPr/>
        </p:nvSpPr>
        <p:spPr bwMode="auto">
          <a:xfrm>
            <a:off x="609600" y="3276600"/>
            <a:ext cx="7924800" cy="2592388"/>
          </a:xfrm>
          <a:prstGeom prst="rect">
            <a:avLst/>
          </a:prstGeom>
          <a:noFill/>
          <a:ln w="9525">
            <a:noFill/>
            <a:miter lim="800000"/>
            <a:headEnd/>
            <a:tailEnd/>
          </a:ln>
        </p:spPr>
        <p:txBody>
          <a:bodyPr lIns="82058" tIns="41029" rIns="82058" bIns="41029"/>
          <a:lstStyle/>
          <a:p>
            <a:endParaRPr lang="en-US"/>
          </a:p>
        </p:txBody>
      </p:sp>
      <p:sp>
        <p:nvSpPr>
          <p:cNvPr id="24580" name="Rectangle 5"/>
          <p:cNvSpPr>
            <a:spLocks noChangeArrowheads="1"/>
          </p:cNvSpPr>
          <p:nvPr/>
        </p:nvSpPr>
        <p:spPr bwMode="auto">
          <a:xfrm>
            <a:off x="758825" y="3416300"/>
            <a:ext cx="7751763" cy="2438400"/>
          </a:xfrm>
          <a:prstGeom prst="rect">
            <a:avLst/>
          </a:prstGeom>
          <a:solidFill>
            <a:srgbClr val="99CCFF"/>
          </a:solidFill>
          <a:ln w="9525">
            <a:noFill/>
            <a:miter lim="800000"/>
            <a:headEnd/>
            <a:tailEnd/>
          </a:ln>
        </p:spPr>
        <p:txBody>
          <a:bodyPr lIns="82058" tIns="41029" rIns="82058" bIns="41029"/>
          <a:lstStyle/>
          <a:p>
            <a:endParaRPr lang="en-US"/>
          </a:p>
        </p:txBody>
      </p:sp>
      <p:sp>
        <p:nvSpPr>
          <p:cNvPr id="24581" name="Rectangle 6"/>
          <p:cNvSpPr>
            <a:spLocks noChangeArrowheads="1"/>
          </p:cNvSpPr>
          <p:nvPr/>
        </p:nvSpPr>
        <p:spPr bwMode="auto">
          <a:xfrm>
            <a:off x="457200" y="3124200"/>
            <a:ext cx="8305800" cy="2819400"/>
          </a:xfrm>
          <a:prstGeom prst="rect">
            <a:avLst/>
          </a:prstGeom>
          <a:solidFill>
            <a:srgbClr val="D2E9FF"/>
          </a:solidFill>
          <a:ln w="9525">
            <a:noFill/>
            <a:miter lim="800000"/>
            <a:headEnd/>
            <a:tailEnd/>
          </a:ln>
        </p:spPr>
        <p:txBody>
          <a:bodyPr lIns="82058" tIns="41029" rIns="82058" bIns="41029"/>
          <a:lstStyle/>
          <a:p>
            <a:endParaRPr lang="en-US"/>
          </a:p>
        </p:txBody>
      </p:sp>
      <p:sp>
        <p:nvSpPr>
          <p:cNvPr id="24582" name="Rectangle 7"/>
          <p:cNvSpPr>
            <a:spLocks noChangeArrowheads="1"/>
          </p:cNvSpPr>
          <p:nvPr/>
        </p:nvSpPr>
        <p:spPr bwMode="auto">
          <a:xfrm>
            <a:off x="2865438" y="4754563"/>
            <a:ext cx="1271587" cy="209550"/>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583" name="Rectangle 8"/>
          <p:cNvSpPr>
            <a:spLocks noChangeArrowheads="1"/>
          </p:cNvSpPr>
          <p:nvPr/>
        </p:nvSpPr>
        <p:spPr bwMode="auto">
          <a:xfrm>
            <a:off x="3241675" y="4794250"/>
            <a:ext cx="787400" cy="136525"/>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DEC Engineers</a:t>
            </a:r>
            <a:endParaRPr lang="en-US">
              <a:cs typeface="Arial" charset="0"/>
            </a:endParaRPr>
          </a:p>
        </p:txBody>
      </p:sp>
      <p:sp>
        <p:nvSpPr>
          <p:cNvPr id="24584" name="Rectangle 9"/>
          <p:cNvSpPr>
            <a:spLocks noChangeArrowheads="1"/>
          </p:cNvSpPr>
          <p:nvPr/>
        </p:nvSpPr>
        <p:spPr bwMode="auto">
          <a:xfrm>
            <a:off x="2865438" y="4964113"/>
            <a:ext cx="1271587" cy="625475"/>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585" name="Rectangle 10"/>
          <p:cNvSpPr>
            <a:spLocks noChangeArrowheads="1"/>
          </p:cNvSpPr>
          <p:nvPr/>
        </p:nvSpPr>
        <p:spPr bwMode="auto">
          <a:xfrm>
            <a:off x="3043238" y="5126038"/>
            <a:ext cx="830262"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Obtain required</a:t>
            </a:r>
            <a:endParaRPr lang="en-US">
              <a:cs typeface="Arial" charset="0"/>
            </a:endParaRPr>
          </a:p>
        </p:txBody>
      </p:sp>
      <p:sp>
        <p:nvSpPr>
          <p:cNvPr id="24586" name="Rectangle 11"/>
          <p:cNvSpPr>
            <a:spLocks noChangeArrowheads="1"/>
          </p:cNvSpPr>
          <p:nvPr/>
        </p:nvSpPr>
        <p:spPr bwMode="auto">
          <a:xfrm>
            <a:off x="3211513" y="5275263"/>
            <a:ext cx="566737" cy="307975"/>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approvals</a:t>
            </a:r>
          </a:p>
          <a:p>
            <a:r>
              <a:rPr lang="en-US" sz="1000">
                <a:solidFill>
                  <a:srgbClr val="000000"/>
                </a:solidFill>
                <a:cs typeface="Arial" charset="0"/>
              </a:rPr>
              <a:t>and record</a:t>
            </a:r>
            <a:endParaRPr lang="en-US">
              <a:cs typeface="Arial" charset="0"/>
            </a:endParaRPr>
          </a:p>
        </p:txBody>
      </p:sp>
      <p:sp>
        <p:nvSpPr>
          <p:cNvPr id="24587" name="Rectangle 12"/>
          <p:cNvSpPr>
            <a:spLocks noChangeArrowheads="1"/>
          </p:cNvSpPr>
          <p:nvPr/>
        </p:nvSpPr>
        <p:spPr bwMode="auto">
          <a:xfrm>
            <a:off x="4437063" y="4754563"/>
            <a:ext cx="1497012" cy="209550"/>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588" name="Rectangle 13"/>
          <p:cNvSpPr>
            <a:spLocks noChangeArrowheads="1"/>
          </p:cNvSpPr>
          <p:nvPr/>
        </p:nvSpPr>
        <p:spPr bwMode="auto">
          <a:xfrm>
            <a:off x="4683125" y="4794250"/>
            <a:ext cx="1289050" cy="136525"/>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DEC Disc Lead / Doc Ctrl</a:t>
            </a:r>
            <a:endParaRPr lang="en-US">
              <a:cs typeface="Arial" charset="0"/>
            </a:endParaRPr>
          </a:p>
        </p:txBody>
      </p:sp>
      <p:sp>
        <p:nvSpPr>
          <p:cNvPr id="24589" name="Rectangle 14"/>
          <p:cNvSpPr>
            <a:spLocks noChangeArrowheads="1"/>
          </p:cNvSpPr>
          <p:nvPr/>
        </p:nvSpPr>
        <p:spPr bwMode="auto">
          <a:xfrm>
            <a:off x="4437063" y="4964113"/>
            <a:ext cx="1497012" cy="625475"/>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590" name="Rectangle 15"/>
          <p:cNvSpPr>
            <a:spLocks noChangeArrowheads="1"/>
          </p:cNvSpPr>
          <p:nvPr/>
        </p:nvSpPr>
        <p:spPr bwMode="auto">
          <a:xfrm>
            <a:off x="4637088" y="5051425"/>
            <a:ext cx="950912" cy="153988"/>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Issue calculation if</a:t>
            </a:r>
            <a:endParaRPr lang="en-US">
              <a:cs typeface="Arial" charset="0"/>
            </a:endParaRPr>
          </a:p>
        </p:txBody>
      </p:sp>
      <p:sp>
        <p:nvSpPr>
          <p:cNvPr id="24591" name="Rectangle 16"/>
          <p:cNvSpPr>
            <a:spLocks noChangeArrowheads="1"/>
          </p:cNvSpPr>
          <p:nvPr/>
        </p:nvSpPr>
        <p:spPr bwMode="auto">
          <a:xfrm>
            <a:off x="4560888" y="5200650"/>
            <a:ext cx="1106487" cy="153988"/>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needed and maintain</a:t>
            </a:r>
            <a:endParaRPr lang="en-US">
              <a:cs typeface="Arial" charset="0"/>
            </a:endParaRPr>
          </a:p>
        </p:txBody>
      </p:sp>
      <p:sp>
        <p:nvSpPr>
          <p:cNvPr id="24592" name="Rectangle 17"/>
          <p:cNvSpPr>
            <a:spLocks noChangeArrowheads="1"/>
          </p:cNvSpPr>
          <p:nvPr/>
        </p:nvSpPr>
        <p:spPr bwMode="auto">
          <a:xfrm>
            <a:off x="4506913" y="5349875"/>
            <a:ext cx="1201737" cy="153988"/>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originals in project files</a:t>
            </a:r>
            <a:endParaRPr lang="en-US">
              <a:cs typeface="Arial" charset="0"/>
            </a:endParaRPr>
          </a:p>
        </p:txBody>
      </p:sp>
      <p:sp>
        <p:nvSpPr>
          <p:cNvPr id="24593" name="Line 18"/>
          <p:cNvSpPr>
            <a:spLocks noChangeShapeType="1"/>
          </p:cNvSpPr>
          <p:nvPr/>
        </p:nvSpPr>
        <p:spPr bwMode="auto">
          <a:xfrm>
            <a:off x="4137025" y="5170488"/>
            <a:ext cx="230188" cy="1587"/>
          </a:xfrm>
          <a:prstGeom prst="line">
            <a:avLst/>
          </a:prstGeom>
          <a:noFill/>
          <a:ln w="4763">
            <a:solidFill>
              <a:srgbClr val="000000"/>
            </a:solidFill>
            <a:round/>
            <a:headEnd/>
            <a:tailEnd/>
          </a:ln>
        </p:spPr>
        <p:txBody>
          <a:bodyPr lIns="82058" tIns="41029" rIns="82058" bIns="41029"/>
          <a:lstStyle/>
          <a:p>
            <a:endParaRPr lang="en-US"/>
          </a:p>
        </p:txBody>
      </p:sp>
      <p:sp>
        <p:nvSpPr>
          <p:cNvPr id="24594" name="Freeform 19"/>
          <p:cNvSpPr>
            <a:spLocks/>
          </p:cNvSpPr>
          <p:nvPr/>
        </p:nvSpPr>
        <p:spPr bwMode="auto">
          <a:xfrm>
            <a:off x="4346575" y="5129213"/>
            <a:ext cx="90488" cy="84137"/>
          </a:xfrm>
          <a:custGeom>
            <a:avLst/>
            <a:gdLst>
              <a:gd name="T0" fmla="*/ 2147483647 w 57"/>
              <a:gd name="T1" fmla="*/ 2147483647 h 53"/>
              <a:gd name="T2" fmla="*/ 0 w 57"/>
              <a:gd name="T3" fmla="*/ 2147483647 h 53"/>
              <a:gd name="T4" fmla="*/ 2147483647 w 57"/>
              <a:gd name="T5" fmla="*/ 2147483647 h 53"/>
              <a:gd name="T6" fmla="*/ 2147483647 w 57"/>
              <a:gd name="T7" fmla="*/ 2147483647 h 53"/>
              <a:gd name="T8" fmla="*/ 2147483647 w 57"/>
              <a:gd name="T9" fmla="*/ 2147483647 h 53"/>
              <a:gd name="T10" fmla="*/ 2147483647 w 57"/>
              <a:gd name="T11" fmla="*/ 2147483647 h 53"/>
              <a:gd name="T12" fmla="*/ 2147483647 w 57"/>
              <a:gd name="T13" fmla="*/ 2147483647 h 53"/>
              <a:gd name="T14" fmla="*/ 2147483647 w 57"/>
              <a:gd name="T15" fmla="*/ 2147483647 h 53"/>
              <a:gd name="T16" fmla="*/ 2147483647 w 57"/>
              <a:gd name="T17" fmla="*/ 2147483647 h 53"/>
              <a:gd name="T18" fmla="*/ 2147483647 w 57"/>
              <a:gd name="T19" fmla="*/ 2147483647 h 53"/>
              <a:gd name="T20" fmla="*/ 2147483647 w 57"/>
              <a:gd name="T21" fmla="*/ 2147483647 h 53"/>
              <a:gd name="T22" fmla="*/ 2147483647 w 57"/>
              <a:gd name="T23" fmla="*/ 2147483647 h 53"/>
              <a:gd name="T24" fmla="*/ 0 w 57"/>
              <a:gd name="T25" fmla="*/ 0 h 53"/>
              <a:gd name="T26" fmla="*/ 2147483647 w 57"/>
              <a:gd name="T27" fmla="*/ 2147483647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53"/>
              <a:gd name="T44" fmla="*/ 57 w 57"/>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53">
                <a:moveTo>
                  <a:pt x="57" y="26"/>
                </a:moveTo>
                <a:lnTo>
                  <a:pt x="0" y="53"/>
                </a:lnTo>
                <a:lnTo>
                  <a:pt x="1" y="51"/>
                </a:lnTo>
                <a:lnTo>
                  <a:pt x="3" y="44"/>
                </a:lnTo>
                <a:lnTo>
                  <a:pt x="5" y="41"/>
                </a:lnTo>
                <a:lnTo>
                  <a:pt x="5" y="38"/>
                </a:lnTo>
                <a:lnTo>
                  <a:pt x="6" y="34"/>
                </a:lnTo>
                <a:lnTo>
                  <a:pt x="6" y="18"/>
                </a:lnTo>
                <a:lnTo>
                  <a:pt x="5" y="16"/>
                </a:lnTo>
                <a:lnTo>
                  <a:pt x="5" y="13"/>
                </a:lnTo>
                <a:lnTo>
                  <a:pt x="2" y="6"/>
                </a:lnTo>
                <a:lnTo>
                  <a:pt x="1" y="4"/>
                </a:lnTo>
                <a:lnTo>
                  <a:pt x="0" y="0"/>
                </a:lnTo>
                <a:lnTo>
                  <a:pt x="57" y="26"/>
                </a:lnTo>
                <a:close/>
              </a:path>
            </a:pathLst>
          </a:custGeom>
          <a:solidFill>
            <a:srgbClr val="000000"/>
          </a:solidFill>
          <a:ln w="9525">
            <a:noFill/>
            <a:round/>
            <a:headEnd/>
            <a:tailEnd/>
          </a:ln>
        </p:spPr>
        <p:txBody>
          <a:bodyPr lIns="82058" tIns="41029" rIns="82058" bIns="41029"/>
          <a:lstStyle/>
          <a:p>
            <a:endParaRPr lang="en-US"/>
          </a:p>
        </p:txBody>
      </p:sp>
      <p:sp>
        <p:nvSpPr>
          <p:cNvPr id="24595" name="Freeform 20"/>
          <p:cNvSpPr>
            <a:spLocks/>
          </p:cNvSpPr>
          <p:nvPr/>
        </p:nvSpPr>
        <p:spPr bwMode="auto">
          <a:xfrm>
            <a:off x="4473575" y="4773613"/>
            <a:ext cx="187325" cy="171450"/>
          </a:xfrm>
          <a:custGeom>
            <a:avLst/>
            <a:gdLst>
              <a:gd name="T0" fmla="*/ 0 w 118"/>
              <a:gd name="T1" fmla="*/ 2147483647 h 108"/>
              <a:gd name="T2" fmla="*/ 2147483647 w 118"/>
              <a:gd name="T3" fmla="*/ 2147483647 h 108"/>
              <a:gd name="T4" fmla="*/ 2147483647 w 118"/>
              <a:gd name="T5" fmla="*/ 2147483647 h 108"/>
              <a:gd name="T6" fmla="*/ 2147483647 w 118"/>
              <a:gd name="T7" fmla="*/ 2147483647 h 108"/>
              <a:gd name="T8" fmla="*/ 2147483647 w 118"/>
              <a:gd name="T9" fmla="*/ 2147483647 h 108"/>
              <a:gd name="T10" fmla="*/ 2147483647 w 118"/>
              <a:gd name="T11" fmla="*/ 0 h 108"/>
              <a:gd name="T12" fmla="*/ 2147483647 w 118"/>
              <a:gd name="T13" fmla="*/ 0 h 108"/>
              <a:gd name="T14" fmla="*/ 2147483647 w 118"/>
              <a:gd name="T15" fmla="*/ 2147483647 h 108"/>
              <a:gd name="T16" fmla="*/ 2147483647 w 118"/>
              <a:gd name="T17" fmla="*/ 2147483647 h 108"/>
              <a:gd name="T18" fmla="*/ 2147483647 w 118"/>
              <a:gd name="T19" fmla="*/ 2147483647 h 108"/>
              <a:gd name="T20" fmla="*/ 2147483647 w 118"/>
              <a:gd name="T21" fmla="*/ 2147483647 h 108"/>
              <a:gd name="T22" fmla="*/ 2147483647 w 118"/>
              <a:gd name="T23" fmla="*/ 2147483647 h 108"/>
              <a:gd name="T24" fmla="*/ 2147483647 w 118"/>
              <a:gd name="T25" fmla="*/ 2147483647 h 108"/>
              <a:gd name="T26" fmla="*/ 2147483647 w 118"/>
              <a:gd name="T27" fmla="*/ 2147483647 h 108"/>
              <a:gd name="T28" fmla="*/ 2147483647 w 118"/>
              <a:gd name="T29" fmla="*/ 2147483647 h 108"/>
              <a:gd name="T30" fmla="*/ 2147483647 w 118"/>
              <a:gd name="T31" fmla="*/ 2147483647 h 108"/>
              <a:gd name="T32" fmla="*/ 2147483647 w 118"/>
              <a:gd name="T33" fmla="*/ 2147483647 h 108"/>
              <a:gd name="T34" fmla="*/ 2147483647 w 118"/>
              <a:gd name="T35" fmla="*/ 2147483647 h 108"/>
              <a:gd name="T36" fmla="*/ 2147483647 w 118"/>
              <a:gd name="T37" fmla="*/ 2147483647 h 108"/>
              <a:gd name="T38" fmla="*/ 2147483647 w 118"/>
              <a:gd name="T39" fmla="*/ 2147483647 h 108"/>
              <a:gd name="T40" fmla="*/ 2147483647 w 118"/>
              <a:gd name="T41" fmla="*/ 2147483647 h 108"/>
              <a:gd name="T42" fmla="*/ 2147483647 w 118"/>
              <a:gd name="T43" fmla="*/ 2147483647 h 108"/>
              <a:gd name="T44" fmla="*/ 0 w 118"/>
              <a:gd name="T45" fmla="*/ 2147483647 h 1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
              <a:gd name="T70" fmla="*/ 0 h 108"/>
              <a:gd name="T71" fmla="*/ 118 w 118"/>
              <a:gd name="T72" fmla="*/ 108 h 1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 h="108">
                <a:moveTo>
                  <a:pt x="0" y="53"/>
                </a:moveTo>
                <a:lnTo>
                  <a:pt x="2" y="38"/>
                </a:lnTo>
                <a:lnTo>
                  <a:pt x="10" y="24"/>
                </a:lnTo>
                <a:lnTo>
                  <a:pt x="21" y="12"/>
                </a:lnTo>
                <a:lnTo>
                  <a:pt x="35" y="4"/>
                </a:lnTo>
                <a:lnTo>
                  <a:pt x="51" y="0"/>
                </a:lnTo>
                <a:lnTo>
                  <a:pt x="68" y="0"/>
                </a:lnTo>
                <a:lnTo>
                  <a:pt x="84" y="4"/>
                </a:lnTo>
                <a:lnTo>
                  <a:pt x="98" y="12"/>
                </a:lnTo>
                <a:lnTo>
                  <a:pt x="109" y="24"/>
                </a:lnTo>
                <a:lnTo>
                  <a:pt x="115" y="38"/>
                </a:lnTo>
                <a:lnTo>
                  <a:pt x="118" y="53"/>
                </a:lnTo>
                <a:lnTo>
                  <a:pt x="115" y="69"/>
                </a:lnTo>
                <a:lnTo>
                  <a:pt x="109" y="84"/>
                </a:lnTo>
                <a:lnTo>
                  <a:pt x="98" y="96"/>
                </a:lnTo>
                <a:lnTo>
                  <a:pt x="84" y="104"/>
                </a:lnTo>
                <a:lnTo>
                  <a:pt x="68" y="108"/>
                </a:lnTo>
                <a:lnTo>
                  <a:pt x="51" y="108"/>
                </a:lnTo>
                <a:lnTo>
                  <a:pt x="35" y="104"/>
                </a:lnTo>
                <a:lnTo>
                  <a:pt x="21" y="96"/>
                </a:lnTo>
                <a:lnTo>
                  <a:pt x="10" y="84"/>
                </a:lnTo>
                <a:lnTo>
                  <a:pt x="2" y="69"/>
                </a:lnTo>
                <a:lnTo>
                  <a:pt x="0" y="53"/>
                </a:lnTo>
                <a:close/>
              </a:path>
            </a:pathLst>
          </a:custGeom>
          <a:solidFill>
            <a:srgbClr val="00FFFF"/>
          </a:solidFill>
          <a:ln w="9525">
            <a:noFill/>
            <a:round/>
            <a:headEnd/>
            <a:tailEnd/>
          </a:ln>
        </p:spPr>
        <p:txBody>
          <a:bodyPr lIns="82058" tIns="41029" rIns="82058" bIns="41029"/>
          <a:lstStyle/>
          <a:p>
            <a:endParaRPr lang="en-US"/>
          </a:p>
        </p:txBody>
      </p:sp>
      <p:sp>
        <p:nvSpPr>
          <p:cNvPr id="24596" name="Rectangle 21"/>
          <p:cNvSpPr>
            <a:spLocks noChangeArrowheads="1"/>
          </p:cNvSpPr>
          <p:nvPr/>
        </p:nvSpPr>
        <p:spPr bwMode="auto">
          <a:xfrm>
            <a:off x="4538663" y="4802188"/>
            <a:ext cx="44450" cy="107950"/>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7</a:t>
            </a:r>
            <a:endParaRPr lang="en-US">
              <a:cs typeface="Arial" charset="0"/>
            </a:endParaRPr>
          </a:p>
        </p:txBody>
      </p:sp>
      <p:sp>
        <p:nvSpPr>
          <p:cNvPr id="24597" name="Freeform 22"/>
          <p:cNvSpPr>
            <a:spLocks/>
          </p:cNvSpPr>
          <p:nvPr/>
        </p:nvSpPr>
        <p:spPr bwMode="auto">
          <a:xfrm>
            <a:off x="2903538" y="4773613"/>
            <a:ext cx="187325" cy="171450"/>
          </a:xfrm>
          <a:custGeom>
            <a:avLst/>
            <a:gdLst>
              <a:gd name="T0" fmla="*/ 0 w 118"/>
              <a:gd name="T1" fmla="*/ 2147483647 h 108"/>
              <a:gd name="T2" fmla="*/ 2147483647 w 118"/>
              <a:gd name="T3" fmla="*/ 2147483647 h 108"/>
              <a:gd name="T4" fmla="*/ 2147483647 w 118"/>
              <a:gd name="T5" fmla="*/ 2147483647 h 108"/>
              <a:gd name="T6" fmla="*/ 2147483647 w 118"/>
              <a:gd name="T7" fmla="*/ 2147483647 h 108"/>
              <a:gd name="T8" fmla="*/ 2147483647 w 118"/>
              <a:gd name="T9" fmla="*/ 2147483647 h 108"/>
              <a:gd name="T10" fmla="*/ 2147483647 w 118"/>
              <a:gd name="T11" fmla="*/ 0 h 108"/>
              <a:gd name="T12" fmla="*/ 2147483647 w 118"/>
              <a:gd name="T13" fmla="*/ 0 h 108"/>
              <a:gd name="T14" fmla="*/ 2147483647 w 118"/>
              <a:gd name="T15" fmla="*/ 2147483647 h 108"/>
              <a:gd name="T16" fmla="*/ 2147483647 w 118"/>
              <a:gd name="T17" fmla="*/ 2147483647 h 108"/>
              <a:gd name="T18" fmla="*/ 2147483647 w 118"/>
              <a:gd name="T19" fmla="*/ 2147483647 h 108"/>
              <a:gd name="T20" fmla="*/ 2147483647 w 118"/>
              <a:gd name="T21" fmla="*/ 2147483647 h 108"/>
              <a:gd name="T22" fmla="*/ 2147483647 w 118"/>
              <a:gd name="T23" fmla="*/ 2147483647 h 108"/>
              <a:gd name="T24" fmla="*/ 2147483647 w 118"/>
              <a:gd name="T25" fmla="*/ 2147483647 h 108"/>
              <a:gd name="T26" fmla="*/ 2147483647 w 118"/>
              <a:gd name="T27" fmla="*/ 2147483647 h 108"/>
              <a:gd name="T28" fmla="*/ 2147483647 w 118"/>
              <a:gd name="T29" fmla="*/ 2147483647 h 108"/>
              <a:gd name="T30" fmla="*/ 2147483647 w 118"/>
              <a:gd name="T31" fmla="*/ 2147483647 h 108"/>
              <a:gd name="T32" fmla="*/ 2147483647 w 118"/>
              <a:gd name="T33" fmla="*/ 2147483647 h 108"/>
              <a:gd name="T34" fmla="*/ 2147483647 w 118"/>
              <a:gd name="T35" fmla="*/ 2147483647 h 108"/>
              <a:gd name="T36" fmla="*/ 2147483647 w 118"/>
              <a:gd name="T37" fmla="*/ 2147483647 h 108"/>
              <a:gd name="T38" fmla="*/ 2147483647 w 118"/>
              <a:gd name="T39" fmla="*/ 2147483647 h 108"/>
              <a:gd name="T40" fmla="*/ 2147483647 w 118"/>
              <a:gd name="T41" fmla="*/ 2147483647 h 108"/>
              <a:gd name="T42" fmla="*/ 2147483647 w 118"/>
              <a:gd name="T43" fmla="*/ 2147483647 h 108"/>
              <a:gd name="T44" fmla="*/ 0 w 118"/>
              <a:gd name="T45" fmla="*/ 2147483647 h 1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
              <a:gd name="T70" fmla="*/ 0 h 108"/>
              <a:gd name="T71" fmla="*/ 118 w 118"/>
              <a:gd name="T72" fmla="*/ 108 h 1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 h="108">
                <a:moveTo>
                  <a:pt x="0" y="53"/>
                </a:moveTo>
                <a:lnTo>
                  <a:pt x="2" y="38"/>
                </a:lnTo>
                <a:lnTo>
                  <a:pt x="9" y="24"/>
                </a:lnTo>
                <a:lnTo>
                  <a:pt x="20" y="12"/>
                </a:lnTo>
                <a:lnTo>
                  <a:pt x="34" y="4"/>
                </a:lnTo>
                <a:lnTo>
                  <a:pt x="50" y="0"/>
                </a:lnTo>
                <a:lnTo>
                  <a:pt x="66" y="0"/>
                </a:lnTo>
                <a:lnTo>
                  <a:pt x="83" y="4"/>
                </a:lnTo>
                <a:lnTo>
                  <a:pt x="96" y="12"/>
                </a:lnTo>
                <a:lnTo>
                  <a:pt x="108" y="24"/>
                </a:lnTo>
                <a:lnTo>
                  <a:pt x="115" y="38"/>
                </a:lnTo>
                <a:lnTo>
                  <a:pt x="118" y="53"/>
                </a:lnTo>
                <a:lnTo>
                  <a:pt x="115" y="69"/>
                </a:lnTo>
                <a:lnTo>
                  <a:pt x="108" y="84"/>
                </a:lnTo>
                <a:lnTo>
                  <a:pt x="96" y="96"/>
                </a:lnTo>
                <a:lnTo>
                  <a:pt x="83" y="104"/>
                </a:lnTo>
                <a:lnTo>
                  <a:pt x="66" y="108"/>
                </a:lnTo>
                <a:lnTo>
                  <a:pt x="50" y="108"/>
                </a:lnTo>
                <a:lnTo>
                  <a:pt x="34" y="104"/>
                </a:lnTo>
                <a:lnTo>
                  <a:pt x="20" y="96"/>
                </a:lnTo>
                <a:lnTo>
                  <a:pt x="9" y="84"/>
                </a:lnTo>
                <a:lnTo>
                  <a:pt x="2" y="69"/>
                </a:lnTo>
                <a:lnTo>
                  <a:pt x="0" y="53"/>
                </a:lnTo>
                <a:close/>
              </a:path>
            </a:pathLst>
          </a:custGeom>
          <a:solidFill>
            <a:srgbClr val="00FFFF"/>
          </a:solidFill>
          <a:ln w="9525">
            <a:noFill/>
            <a:round/>
            <a:headEnd/>
            <a:tailEnd/>
          </a:ln>
        </p:spPr>
        <p:txBody>
          <a:bodyPr lIns="82058" tIns="41029" rIns="82058" bIns="41029"/>
          <a:lstStyle/>
          <a:p>
            <a:endParaRPr lang="en-US"/>
          </a:p>
        </p:txBody>
      </p:sp>
      <p:sp>
        <p:nvSpPr>
          <p:cNvPr id="24598" name="Rectangle 23"/>
          <p:cNvSpPr>
            <a:spLocks noChangeArrowheads="1"/>
          </p:cNvSpPr>
          <p:nvPr/>
        </p:nvSpPr>
        <p:spPr bwMode="auto">
          <a:xfrm>
            <a:off x="2968625" y="4802188"/>
            <a:ext cx="44450" cy="107950"/>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6</a:t>
            </a:r>
            <a:endParaRPr lang="en-US">
              <a:cs typeface="Arial" charset="0"/>
            </a:endParaRPr>
          </a:p>
        </p:txBody>
      </p:sp>
      <p:sp>
        <p:nvSpPr>
          <p:cNvPr id="24599" name="Rectangle 24"/>
          <p:cNvSpPr>
            <a:spLocks noChangeArrowheads="1"/>
          </p:cNvSpPr>
          <p:nvPr/>
        </p:nvSpPr>
        <p:spPr bwMode="auto">
          <a:xfrm>
            <a:off x="838200" y="3463925"/>
            <a:ext cx="1201738" cy="207963"/>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00" name="Rectangle 25"/>
          <p:cNvSpPr>
            <a:spLocks noChangeArrowheads="1"/>
          </p:cNvSpPr>
          <p:nvPr/>
        </p:nvSpPr>
        <p:spPr bwMode="auto">
          <a:xfrm>
            <a:off x="1181100" y="3505200"/>
            <a:ext cx="787400" cy="136525"/>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PMT Engineers</a:t>
            </a:r>
            <a:endParaRPr lang="en-US">
              <a:cs typeface="Arial" charset="0"/>
            </a:endParaRPr>
          </a:p>
        </p:txBody>
      </p:sp>
      <p:sp>
        <p:nvSpPr>
          <p:cNvPr id="24601" name="Rectangle 26"/>
          <p:cNvSpPr>
            <a:spLocks noChangeArrowheads="1"/>
          </p:cNvSpPr>
          <p:nvPr/>
        </p:nvSpPr>
        <p:spPr bwMode="auto">
          <a:xfrm>
            <a:off x="838200" y="3671888"/>
            <a:ext cx="1201738" cy="628650"/>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02" name="Rectangle 27"/>
          <p:cNvSpPr>
            <a:spLocks noChangeArrowheads="1"/>
          </p:cNvSpPr>
          <p:nvPr/>
        </p:nvSpPr>
        <p:spPr bwMode="auto">
          <a:xfrm>
            <a:off x="960438" y="3763963"/>
            <a:ext cx="831850"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Document basis</a:t>
            </a:r>
            <a:endParaRPr lang="en-US">
              <a:cs typeface="Arial" charset="0"/>
            </a:endParaRPr>
          </a:p>
        </p:txBody>
      </p:sp>
      <p:sp>
        <p:nvSpPr>
          <p:cNvPr id="24603" name="Rectangle 28"/>
          <p:cNvSpPr>
            <a:spLocks noChangeArrowheads="1"/>
          </p:cNvSpPr>
          <p:nvPr/>
        </p:nvSpPr>
        <p:spPr bwMode="auto">
          <a:xfrm>
            <a:off x="971550" y="3913188"/>
            <a:ext cx="836613"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and objective of</a:t>
            </a:r>
            <a:endParaRPr lang="en-US">
              <a:cs typeface="Arial" charset="0"/>
            </a:endParaRPr>
          </a:p>
        </p:txBody>
      </p:sp>
      <p:sp>
        <p:nvSpPr>
          <p:cNvPr id="24604" name="Rectangle 29"/>
          <p:cNvSpPr>
            <a:spLocks noChangeArrowheads="1"/>
          </p:cNvSpPr>
          <p:nvPr/>
        </p:nvSpPr>
        <p:spPr bwMode="auto">
          <a:xfrm>
            <a:off x="1123950" y="4060825"/>
            <a:ext cx="563563" cy="153988"/>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calculation</a:t>
            </a:r>
            <a:endParaRPr lang="en-US">
              <a:cs typeface="Arial" charset="0"/>
            </a:endParaRPr>
          </a:p>
        </p:txBody>
      </p:sp>
      <p:sp>
        <p:nvSpPr>
          <p:cNvPr id="24605" name="Rectangle 30"/>
          <p:cNvSpPr>
            <a:spLocks noChangeArrowheads="1"/>
          </p:cNvSpPr>
          <p:nvPr/>
        </p:nvSpPr>
        <p:spPr bwMode="auto">
          <a:xfrm>
            <a:off x="2339975" y="3463925"/>
            <a:ext cx="1198563" cy="207963"/>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06" name="Rectangle 31"/>
          <p:cNvSpPr>
            <a:spLocks noChangeArrowheads="1"/>
          </p:cNvSpPr>
          <p:nvPr/>
        </p:nvSpPr>
        <p:spPr bwMode="auto">
          <a:xfrm>
            <a:off x="2681288" y="3505200"/>
            <a:ext cx="1047750" cy="136525"/>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DEC Discipline Lead</a:t>
            </a:r>
            <a:endParaRPr lang="en-US">
              <a:cs typeface="Arial" charset="0"/>
            </a:endParaRPr>
          </a:p>
        </p:txBody>
      </p:sp>
      <p:sp>
        <p:nvSpPr>
          <p:cNvPr id="24607" name="Rectangle 32"/>
          <p:cNvSpPr>
            <a:spLocks noChangeArrowheads="1"/>
          </p:cNvSpPr>
          <p:nvPr/>
        </p:nvSpPr>
        <p:spPr bwMode="auto">
          <a:xfrm>
            <a:off x="2339975" y="3671888"/>
            <a:ext cx="1198563" cy="628650"/>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08" name="Rectangle 33"/>
          <p:cNvSpPr>
            <a:spLocks noChangeArrowheads="1"/>
          </p:cNvSpPr>
          <p:nvPr/>
        </p:nvSpPr>
        <p:spPr bwMode="auto">
          <a:xfrm>
            <a:off x="2519363" y="3763963"/>
            <a:ext cx="722312"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Assign unique</a:t>
            </a:r>
            <a:endParaRPr lang="en-US">
              <a:cs typeface="Arial" charset="0"/>
            </a:endParaRPr>
          </a:p>
        </p:txBody>
      </p:sp>
      <p:sp>
        <p:nvSpPr>
          <p:cNvPr id="24609" name="Rectangle 34"/>
          <p:cNvSpPr>
            <a:spLocks noChangeArrowheads="1"/>
          </p:cNvSpPr>
          <p:nvPr/>
        </p:nvSpPr>
        <p:spPr bwMode="auto">
          <a:xfrm>
            <a:off x="2474913" y="3913188"/>
            <a:ext cx="828675"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number to each</a:t>
            </a:r>
            <a:endParaRPr lang="en-US">
              <a:cs typeface="Arial" charset="0"/>
            </a:endParaRPr>
          </a:p>
        </p:txBody>
      </p:sp>
      <p:sp>
        <p:nvSpPr>
          <p:cNvPr id="24610" name="Rectangle 35"/>
          <p:cNvSpPr>
            <a:spLocks noChangeArrowheads="1"/>
          </p:cNvSpPr>
          <p:nvPr/>
        </p:nvSpPr>
        <p:spPr bwMode="auto">
          <a:xfrm>
            <a:off x="2622550" y="4060825"/>
            <a:ext cx="561975" cy="153988"/>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calculation</a:t>
            </a:r>
            <a:endParaRPr lang="en-US">
              <a:cs typeface="Arial" charset="0"/>
            </a:endParaRPr>
          </a:p>
        </p:txBody>
      </p:sp>
      <p:sp>
        <p:nvSpPr>
          <p:cNvPr id="24611" name="Rectangle 36"/>
          <p:cNvSpPr>
            <a:spLocks noChangeArrowheads="1"/>
          </p:cNvSpPr>
          <p:nvPr/>
        </p:nvSpPr>
        <p:spPr bwMode="auto">
          <a:xfrm>
            <a:off x="3846513" y="3463925"/>
            <a:ext cx="1196975" cy="207963"/>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12" name="Rectangle 37"/>
          <p:cNvSpPr>
            <a:spLocks noChangeArrowheads="1"/>
          </p:cNvSpPr>
          <p:nvPr/>
        </p:nvSpPr>
        <p:spPr bwMode="auto">
          <a:xfrm>
            <a:off x="4186238" y="3505200"/>
            <a:ext cx="787400" cy="136525"/>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DEC Engineers</a:t>
            </a:r>
            <a:endParaRPr lang="en-US">
              <a:cs typeface="Arial" charset="0"/>
            </a:endParaRPr>
          </a:p>
        </p:txBody>
      </p:sp>
      <p:sp>
        <p:nvSpPr>
          <p:cNvPr id="24613" name="Rectangle 38"/>
          <p:cNvSpPr>
            <a:spLocks noChangeArrowheads="1"/>
          </p:cNvSpPr>
          <p:nvPr/>
        </p:nvSpPr>
        <p:spPr bwMode="auto">
          <a:xfrm>
            <a:off x="3846513" y="3671888"/>
            <a:ext cx="1196975" cy="628650"/>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14" name="Rectangle 39"/>
          <p:cNvSpPr>
            <a:spLocks noChangeArrowheads="1"/>
          </p:cNvSpPr>
          <p:nvPr/>
        </p:nvSpPr>
        <p:spPr bwMode="auto">
          <a:xfrm>
            <a:off x="3843338" y="3700463"/>
            <a:ext cx="1095375" cy="61595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Prepare Calculation</a:t>
            </a:r>
          </a:p>
          <a:p>
            <a:r>
              <a:rPr lang="en-US" sz="1000">
                <a:solidFill>
                  <a:srgbClr val="000000"/>
                </a:solidFill>
                <a:cs typeface="Arial" charset="0"/>
              </a:rPr>
              <a:t>And Name electronic</a:t>
            </a:r>
          </a:p>
          <a:p>
            <a:r>
              <a:rPr lang="en-US" sz="1000">
                <a:solidFill>
                  <a:srgbClr val="000000"/>
                </a:solidFill>
                <a:cs typeface="Arial" charset="0"/>
              </a:rPr>
              <a:t>Files in consistent </a:t>
            </a:r>
          </a:p>
          <a:p>
            <a:r>
              <a:rPr lang="en-US" sz="1000">
                <a:solidFill>
                  <a:srgbClr val="000000"/>
                </a:solidFill>
                <a:cs typeface="Arial" charset="0"/>
              </a:rPr>
              <a:t>manner</a:t>
            </a:r>
            <a:endParaRPr lang="en-US">
              <a:cs typeface="Arial" charset="0"/>
            </a:endParaRPr>
          </a:p>
        </p:txBody>
      </p:sp>
      <p:sp>
        <p:nvSpPr>
          <p:cNvPr id="24615" name="Line 42"/>
          <p:cNvSpPr>
            <a:spLocks noChangeShapeType="1"/>
          </p:cNvSpPr>
          <p:nvPr/>
        </p:nvSpPr>
        <p:spPr bwMode="auto">
          <a:xfrm>
            <a:off x="2039938" y="3883025"/>
            <a:ext cx="231775" cy="1588"/>
          </a:xfrm>
          <a:prstGeom prst="line">
            <a:avLst/>
          </a:prstGeom>
          <a:noFill/>
          <a:ln w="4763">
            <a:solidFill>
              <a:srgbClr val="000000"/>
            </a:solidFill>
            <a:round/>
            <a:headEnd/>
            <a:tailEnd/>
          </a:ln>
        </p:spPr>
        <p:txBody>
          <a:bodyPr lIns="82058" tIns="41029" rIns="82058" bIns="41029"/>
          <a:lstStyle/>
          <a:p>
            <a:endParaRPr lang="en-US"/>
          </a:p>
        </p:txBody>
      </p:sp>
      <p:sp>
        <p:nvSpPr>
          <p:cNvPr id="24616" name="Freeform 43"/>
          <p:cNvSpPr>
            <a:spLocks/>
          </p:cNvSpPr>
          <p:nvPr/>
        </p:nvSpPr>
        <p:spPr bwMode="auto">
          <a:xfrm>
            <a:off x="2247900" y="3840163"/>
            <a:ext cx="92075" cy="85725"/>
          </a:xfrm>
          <a:custGeom>
            <a:avLst/>
            <a:gdLst>
              <a:gd name="T0" fmla="*/ 2147483647 w 58"/>
              <a:gd name="T1" fmla="*/ 2147483647 h 54"/>
              <a:gd name="T2" fmla="*/ 0 w 58"/>
              <a:gd name="T3" fmla="*/ 2147483647 h 54"/>
              <a:gd name="T4" fmla="*/ 2147483647 w 58"/>
              <a:gd name="T5" fmla="*/ 2147483647 h 54"/>
              <a:gd name="T6" fmla="*/ 2147483647 w 58"/>
              <a:gd name="T7" fmla="*/ 2147483647 h 54"/>
              <a:gd name="T8" fmla="*/ 2147483647 w 58"/>
              <a:gd name="T9" fmla="*/ 2147483647 h 54"/>
              <a:gd name="T10" fmla="*/ 2147483647 w 58"/>
              <a:gd name="T11" fmla="*/ 2147483647 h 54"/>
              <a:gd name="T12" fmla="*/ 2147483647 w 58"/>
              <a:gd name="T13" fmla="*/ 2147483647 h 54"/>
              <a:gd name="T14" fmla="*/ 2147483647 w 58"/>
              <a:gd name="T15" fmla="*/ 2147483647 h 54"/>
              <a:gd name="T16" fmla="*/ 2147483647 w 58"/>
              <a:gd name="T17" fmla="*/ 2147483647 h 54"/>
              <a:gd name="T18" fmla="*/ 2147483647 w 58"/>
              <a:gd name="T19" fmla="*/ 2147483647 h 54"/>
              <a:gd name="T20" fmla="*/ 2147483647 w 58"/>
              <a:gd name="T21" fmla="*/ 2147483647 h 54"/>
              <a:gd name="T22" fmla="*/ 2147483647 w 58"/>
              <a:gd name="T23" fmla="*/ 2147483647 h 54"/>
              <a:gd name="T24" fmla="*/ 2147483647 w 58"/>
              <a:gd name="T25" fmla="*/ 2147483647 h 54"/>
              <a:gd name="T26" fmla="*/ 2147483647 w 58"/>
              <a:gd name="T27" fmla="*/ 2147483647 h 54"/>
              <a:gd name="T28" fmla="*/ 2147483647 w 58"/>
              <a:gd name="T29" fmla="*/ 2147483647 h 54"/>
              <a:gd name="T30" fmla="*/ 0 w 58"/>
              <a:gd name="T31" fmla="*/ 0 h 54"/>
              <a:gd name="T32" fmla="*/ 2147483647 w 58"/>
              <a:gd name="T33" fmla="*/ 2147483647 h 5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8"/>
              <a:gd name="T52" fmla="*/ 0 h 54"/>
              <a:gd name="T53" fmla="*/ 58 w 58"/>
              <a:gd name="T54" fmla="*/ 54 h 5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8" h="54">
                <a:moveTo>
                  <a:pt x="58" y="27"/>
                </a:moveTo>
                <a:lnTo>
                  <a:pt x="0" y="54"/>
                </a:lnTo>
                <a:lnTo>
                  <a:pt x="2" y="50"/>
                </a:lnTo>
                <a:lnTo>
                  <a:pt x="4" y="48"/>
                </a:lnTo>
                <a:lnTo>
                  <a:pt x="5" y="44"/>
                </a:lnTo>
                <a:lnTo>
                  <a:pt x="5" y="41"/>
                </a:lnTo>
                <a:lnTo>
                  <a:pt x="6" y="38"/>
                </a:lnTo>
                <a:lnTo>
                  <a:pt x="6" y="35"/>
                </a:lnTo>
                <a:lnTo>
                  <a:pt x="7" y="31"/>
                </a:lnTo>
                <a:lnTo>
                  <a:pt x="7" y="22"/>
                </a:lnTo>
                <a:lnTo>
                  <a:pt x="6" y="19"/>
                </a:lnTo>
                <a:lnTo>
                  <a:pt x="6" y="15"/>
                </a:lnTo>
                <a:lnTo>
                  <a:pt x="5" y="11"/>
                </a:lnTo>
                <a:lnTo>
                  <a:pt x="5" y="9"/>
                </a:lnTo>
                <a:lnTo>
                  <a:pt x="2" y="2"/>
                </a:lnTo>
                <a:lnTo>
                  <a:pt x="0" y="0"/>
                </a:lnTo>
                <a:lnTo>
                  <a:pt x="58" y="27"/>
                </a:lnTo>
                <a:close/>
              </a:path>
            </a:pathLst>
          </a:custGeom>
          <a:solidFill>
            <a:srgbClr val="000000"/>
          </a:solidFill>
          <a:ln w="9525">
            <a:noFill/>
            <a:round/>
            <a:headEnd/>
            <a:tailEnd/>
          </a:ln>
        </p:spPr>
        <p:txBody>
          <a:bodyPr lIns="82058" tIns="41029" rIns="82058" bIns="41029"/>
          <a:lstStyle/>
          <a:p>
            <a:endParaRPr lang="en-US"/>
          </a:p>
        </p:txBody>
      </p:sp>
      <p:sp>
        <p:nvSpPr>
          <p:cNvPr id="24617" name="Line 44"/>
          <p:cNvSpPr>
            <a:spLocks noChangeShapeType="1"/>
          </p:cNvSpPr>
          <p:nvPr/>
        </p:nvSpPr>
        <p:spPr bwMode="auto">
          <a:xfrm>
            <a:off x="3538538" y="3883025"/>
            <a:ext cx="238125" cy="1588"/>
          </a:xfrm>
          <a:prstGeom prst="line">
            <a:avLst/>
          </a:prstGeom>
          <a:noFill/>
          <a:ln w="4763">
            <a:solidFill>
              <a:srgbClr val="000000"/>
            </a:solidFill>
            <a:round/>
            <a:headEnd/>
            <a:tailEnd/>
          </a:ln>
        </p:spPr>
        <p:txBody>
          <a:bodyPr lIns="82058" tIns="41029" rIns="82058" bIns="41029"/>
          <a:lstStyle/>
          <a:p>
            <a:endParaRPr lang="en-US"/>
          </a:p>
        </p:txBody>
      </p:sp>
      <p:sp>
        <p:nvSpPr>
          <p:cNvPr id="24618" name="Freeform 45"/>
          <p:cNvSpPr>
            <a:spLocks/>
          </p:cNvSpPr>
          <p:nvPr/>
        </p:nvSpPr>
        <p:spPr bwMode="auto">
          <a:xfrm>
            <a:off x="3754438" y="3840163"/>
            <a:ext cx="92075" cy="85725"/>
          </a:xfrm>
          <a:custGeom>
            <a:avLst/>
            <a:gdLst>
              <a:gd name="T0" fmla="*/ 2147483647 w 58"/>
              <a:gd name="T1" fmla="*/ 2147483647 h 54"/>
              <a:gd name="T2" fmla="*/ 0 w 58"/>
              <a:gd name="T3" fmla="*/ 2147483647 h 54"/>
              <a:gd name="T4" fmla="*/ 2147483647 w 58"/>
              <a:gd name="T5" fmla="*/ 2147483647 h 54"/>
              <a:gd name="T6" fmla="*/ 2147483647 w 58"/>
              <a:gd name="T7" fmla="*/ 2147483647 h 54"/>
              <a:gd name="T8" fmla="*/ 2147483647 w 58"/>
              <a:gd name="T9" fmla="*/ 2147483647 h 54"/>
              <a:gd name="T10" fmla="*/ 2147483647 w 58"/>
              <a:gd name="T11" fmla="*/ 2147483647 h 54"/>
              <a:gd name="T12" fmla="*/ 2147483647 w 58"/>
              <a:gd name="T13" fmla="*/ 2147483647 h 54"/>
              <a:gd name="T14" fmla="*/ 2147483647 w 58"/>
              <a:gd name="T15" fmla="*/ 2147483647 h 54"/>
              <a:gd name="T16" fmla="*/ 2147483647 w 58"/>
              <a:gd name="T17" fmla="*/ 2147483647 h 54"/>
              <a:gd name="T18" fmla="*/ 2147483647 w 58"/>
              <a:gd name="T19" fmla="*/ 2147483647 h 54"/>
              <a:gd name="T20" fmla="*/ 2147483647 w 58"/>
              <a:gd name="T21" fmla="*/ 2147483647 h 54"/>
              <a:gd name="T22" fmla="*/ 2147483647 w 58"/>
              <a:gd name="T23" fmla="*/ 2147483647 h 54"/>
              <a:gd name="T24" fmla="*/ 2147483647 w 58"/>
              <a:gd name="T25" fmla="*/ 2147483647 h 54"/>
              <a:gd name="T26" fmla="*/ 2147483647 w 58"/>
              <a:gd name="T27" fmla="*/ 2147483647 h 54"/>
              <a:gd name="T28" fmla="*/ 2147483647 w 58"/>
              <a:gd name="T29" fmla="*/ 2147483647 h 54"/>
              <a:gd name="T30" fmla="*/ 2147483647 w 58"/>
              <a:gd name="T31" fmla="*/ 2147483647 h 54"/>
              <a:gd name="T32" fmla="*/ 0 w 58"/>
              <a:gd name="T33" fmla="*/ 0 h 54"/>
              <a:gd name="T34" fmla="*/ 2147483647 w 58"/>
              <a:gd name="T35" fmla="*/ 2147483647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8"/>
              <a:gd name="T55" fmla="*/ 0 h 54"/>
              <a:gd name="T56" fmla="*/ 58 w 58"/>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8" h="54">
                <a:moveTo>
                  <a:pt x="58" y="27"/>
                </a:moveTo>
                <a:lnTo>
                  <a:pt x="0" y="54"/>
                </a:lnTo>
                <a:lnTo>
                  <a:pt x="1" y="50"/>
                </a:lnTo>
                <a:lnTo>
                  <a:pt x="4" y="48"/>
                </a:lnTo>
                <a:lnTo>
                  <a:pt x="4" y="44"/>
                </a:lnTo>
                <a:lnTo>
                  <a:pt x="5" y="41"/>
                </a:lnTo>
                <a:lnTo>
                  <a:pt x="6" y="38"/>
                </a:lnTo>
                <a:lnTo>
                  <a:pt x="6" y="35"/>
                </a:lnTo>
                <a:lnTo>
                  <a:pt x="7" y="31"/>
                </a:lnTo>
                <a:lnTo>
                  <a:pt x="7" y="22"/>
                </a:lnTo>
                <a:lnTo>
                  <a:pt x="6" y="19"/>
                </a:lnTo>
                <a:lnTo>
                  <a:pt x="6" y="15"/>
                </a:lnTo>
                <a:lnTo>
                  <a:pt x="5" y="11"/>
                </a:lnTo>
                <a:lnTo>
                  <a:pt x="4" y="9"/>
                </a:lnTo>
                <a:lnTo>
                  <a:pt x="4" y="6"/>
                </a:lnTo>
                <a:lnTo>
                  <a:pt x="1" y="2"/>
                </a:lnTo>
                <a:lnTo>
                  <a:pt x="0" y="0"/>
                </a:lnTo>
                <a:lnTo>
                  <a:pt x="58" y="27"/>
                </a:lnTo>
                <a:close/>
              </a:path>
            </a:pathLst>
          </a:custGeom>
          <a:solidFill>
            <a:srgbClr val="000000"/>
          </a:solidFill>
          <a:ln w="9525">
            <a:noFill/>
            <a:round/>
            <a:headEnd/>
            <a:tailEnd/>
          </a:ln>
        </p:spPr>
        <p:txBody>
          <a:bodyPr lIns="82058" tIns="41029" rIns="82058" bIns="41029"/>
          <a:lstStyle/>
          <a:p>
            <a:endParaRPr lang="en-US"/>
          </a:p>
        </p:txBody>
      </p:sp>
      <p:sp>
        <p:nvSpPr>
          <p:cNvPr id="24619" name="Rectangle 46"/>
          <p:cNvSpPr>
            <a:spLocks noChangeArrowheads="1"/>
          </p:cNvSpPr>
          <p:nvPr/>
        </p:nvSpPr>
        <p:spPr bwMode="auto">
          <a:xfrm>
            <a:off x="5341938" y="3463925"/>
            <a:ext cx="1311275" cy="207963"/>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20" name="Rectangle 47"/>
          <p:cNvSpPr>
            <a:spLocks noChangeArrowheads="1"/>
          </p:cNvSpPr>
          <p:nvPr/>
        </p:nvSpPr>
        <p:spPr bwMode="auto">
          <a:xfrm>
            <a:off x="5740400" y="3505200"/>
            <a:ext cx="787400" cy="136525"/>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DEC Engineers</a:t>
            </a:r>
            <a:endParaRPr lang="en-US">
              <a:cs typeface="Arial" charset="0"/>
            </a:endParaRPr>
          </a:p>
        </p:txBody>
      </p:sp>
      <p:sp>
        <p:nvSpPr>
          <p:cNvPr id="24621" name="Rectangle 48"/>
          <p:cNvSpPr>
            <a:spLocks noChangeArrowheads="1"/>
          </p:cNvSpPr>
          <p:nvPr/>
        </p:nvSpPr>
        <p:spPr bwMode="auto">
          <a:xfrm>
            <a:off x="5341938" y="3671888"/>
            <a:ext cx="1311275" cy="628650"/>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22" name="Rectangle 49"/>
          <p:cNvSpPr>
            <a:spLocks noChangeArrowheads="1"/>
          </p:cNvSpPr>
          <p:nvPr/>
        </p:nvSpPr>
        <p:spPr bwMode="auto">
          <a:xfrm>
            <a:off x="5418138" y="3763963"/>
            <a:ext cx="996950"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Ensure calculations</a:t>
            </a:r>
            <a:endParaRPr lang="en-US">
              <a:cs typeface="Arial" charset="0"/>
            </a:endParaRPr>
          </a:p>
        </p:txBody>
      </p:sp>
      <p:sp>
        <p:nvSpPr>
          <p:cNvPr id="24623" name="Rectangle 50"/>
          <p:cNvSpPr>
            <a:spLocks noChangeArrowheads="1"/>
          </p:cNvSpPr>
          <p:nvPr/>
        </p:nvSpPr>
        <p:spPr bwMode="auto">
          <a:xfrm>
            <a:off x="5507038" y="3913188"/>
            <a:ext cx="869950"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contain a unique</a:t>
            </a:r>
            <a:endParaRPr lang="en-US">
              <a:cs typeface="Arial" charset="0"/>
            </a:endParaRPr>
          </a:p>
        </p:txBody>
      </p:sp>
      <p:sp>
        <p:nvSpPr>
          <p:cNvPr id="24624" name="Rectangle 51"/>
          <p:cNvSpPr>
            <a:spLocks noChangeArrowheads="1"/>
          </p:cNvSpPr>
          <p:nvPr/>
        </p:nvSpPr>
        <p:spPr bwMode="auto">
          <a:xfrm>
            <a:off x="5522913" y="4060825"/>
            <a:ext cx="850900" cy="153988"/>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revision number</a:t>
            </a:r>
            <a:endParaRPr lang="en-US">
              <a:cs typeface="Arial" charset="0"/>
            </a:endParaRPr>
          </a:p>
        </p:txBody>
      </p:sp>
      <p:sp>
        <p:nvSpPr>
          <p:cNvPr id="24625" name="Line 52"/>
          <p:cNvSpPr>
            <a:spLocks noChangeShapeType="1"/>
          </p:cNvSpPr>
          <p:nvPr/>
        </p:nvSpPr>
        <p:spPr bwMode="auto">
          <a:xfrm>
            <a:off x="5043488" y="3883025"/>
            <a:ext cx="231775" cy="1588"/>
          </a:xfrm>
          <a:prstGeom prst="line">
            <a:avLst/>
          </a:prstGeom>
          <a:noFill/>
          <a:ln w="4763">
            <a:solidFill>
              <a:srgbClr val="000000"/>
            </a:solidFill>
            <a:round/>
            <a:headEnd/>
            <a:tailEnd/>
          </a:ln>
        </p:spPr>
        <p:txBody>
          <a:bodyPr lIns="82058" tIns="41029" rIns="82058" bIns="41029"/>
          <a:lstStyle/>
          <a:p>
            <a:endParaRPr lang="en-US"/>
          </a:p>
        </p:txBody>
      </p:sp>
      <p:sp>
        <p:nvSpPr>
          <p:cNvPr id="24626" name="Freeform 53"/>
          <p:cNvSpPr>
            <a:spLocks/>
          </p:cNvSpPr>
          <p:nvPr/>
        </p:nvSpPr>
        <p:spPr bwMode="auto">
          <a:xfrm>
            <a:off x="5249863" y="3840163"/>
            <a:ext cx="92075" cy="85725"/>
          </a:xfrm>
          <a:custGeom>
            <a:avLst/>
            <a:gdLst>
              <a:gd name="T0" fmla="*/ 2147483647 w 58"/>
              <a:gd name="T1" fmla="*/ 2147483647 h 54"/>
              <a:gd name="T2" fmla="*/ 0 w 58"/>
              <a:gd name="T3" fmla="*/ 2147483647 h 54"/>
              <a:gd name="T4" fmla="*/ 2147483647 w 58"/>
              <a:gd name="T5" fmla="*/ 2147483647 h 54"/>
              <a:gd name="T6" fmla="*/ 2147483647 w 58"/>
              <a:gd name="T7" fmla="*/ 2147483647 h 54"/>
              <a:gd name="T8" fmla="*/ 2147483647 w 58"/>
              <a:gd name="T9" fmla="*/ 2147483647 h 54"/>
              <a:gd name="T10" fmla="*/ 2147483647 w 58"/>
              <a:gd name="T11" fmla="*/ 2147483647 h 54"/>
              <a:gd name="T12" fmla="*/ 2147483647 w 58"/>
              <a:gd name="T13" fmla="*/ 2147483647 h 54"/>
              <a:gd name="T14" fmla="*/ 2147483647 w 58"/>
              <a:gd name="T15" fmla="*/ 2147483647 h 54"/>
              <a:gd name="T16" fmla="*/ 2147483647 w 58"/>
              <a:gd name="T17" fmla="*/ 2147483647 h 54"/>
              <a:gd name="T18" fmla="*/ 2147483647 w 58"/>
              <a:gd name="T19" fmla="*/ 2147483647 h 54"/>
              <a:gd name="T20" fmla="*/ 2147483647 w 58"/>
              <a:gd name="T21" fmla="*/ 2147483647 h 54"/>
              <a:gd name="T22" fmla="*/ 2147483647 w 58"/>
              <a:gd name="T23" fmla="*/ 2147483647 h 54"/>
              <a:gd name="T24" fmla="*/ 2147483647 w 58"/>
              <a:gd name="T25" fmla="*/ 2147483647 h 54"/>
              <a:gd name="T26" fmla="*/ 2147483647 w 58"/>
              <a:gd name="T27" fmla="*/ 2147483647 h 54"/>
              <a:gd name="T28" fmla="*/ 2147483647 w 58"/>
              <a:gd name="T29" fmla="*/ 2147483647 h 54"/>
              <a:gd name="T30" fmla="*/ 0 w 58"/>
              <a:gd name="T31" fmla="*/ 0 h 54"/>
              <a:gd name="T32" fmla="*/ 2147483647 w 58"/>
              <a:gd name="T33" fmla="*/ 2147483647 h 5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8"/>
              <a:gd name="T52" fmla="*/ 0 h 54"/>
              <a:gd name="T53" fmla="*/ 58 w 58"/>
              <a:gd name="T54" fmla="*/ 54 h 5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8" h="54">
                <a:moveTo>
                  <a:pt x="58" y="27"/>
                </a:moveTo>
                <a:lnTo>
                  <a:pt x="0" y="54"/>
                </a:lnTo>
                <a:lnTo>
                  <a:pt x="3" y="50"/>
                </a:lnTo>
                <a:lnTo>
                  <a:pt x="4" y="48"/>
                </a:lnTo>
                <a:lnTo>
                  <a:pt x="5" y="44"/>
                </a:lnTo>
                <a:lnTo>
                  <a:pt x="5" y="41"/>
                </a:lnTo>
                <a:lnTo>
                  <a:pt x="7" y="38"/>
                </a:lnTo>
                <a:lnTo>
                  <a:pt x="7" y="35"/>
                </a:lnTo>
                <a:lnTo>
                  <a:pt x="8" y="31"/>
                </a:lnTo>
                <a:lnTo>
                  <a:pt x="8" y="22"/>
                </a:lnTo>
                <a:lnTo>
                  <a:pt x="7" y="19"/>
                </a:lnTo>
                <a:lnTo>
                  <a:pt x="7" y="15"/>
                </a:lnTo>
                <a:lnTo>
                  <a:pt x="5" y="11"/>
                </a:lnTo>
                <a:lnTo>
                  <a:pt x="5" y="9"/>
                </a:lnTo>
                <a:lnTo>
                  <a:pt x="3" y="2"/>
                </a:lnTo>
                <a:lnTo>
                  <a:pt x="0" y="0"/>
                </a:lnTo>
                <a:lnTo>
                  <a:pt x="58" y="27"/>
                </a:lnTo>
                <a:close/>
              </a:path>
            </a:pathLst>
          </a:custGeom>
          <a:solidFill>
            <a:srgbClr val="000000"/>
          </a:solidFill>
          <a:ln w="9525">
            <a:noFill/>
            <a:round/>
            <a:headEnd/>
            <a:tailEnd/>
          </a:ln>
        </p:spPr>
        <p:txBody>
          <a:bodyPr lIns="82058" tIns="41029" rIns="82058" bIns="41029"/>
          <a:lstStyle/>
          <a:p>
            <a:endParaRPr lang="en-US"/>
          </a:p>
        </p:txBody>
      </p:sp>
      <p:sp>
        <p:nvSpPr>
          <p:cNvPr id="24627" name="Freeform 54"/>
          <p:cNvSpPr>
            <a:spLocks/>
          </p:cNvSpPr>
          <p:nvPr/>
        </p:nvSpPr>
        <p:spPr bwMode="auto">
          <a:xfrm>
            <a:off x="881063" y="3482975"/>
            <a:ext cx="187325" cy="173038"/>
          </a:xfrm>
          <a:custGeom>
            <a:avLst/>
            <a:gdLst>
              <a:gd name="T0" fmla="*/ 0 w 118"/>
              <a:gd name="T1" fmla="*/ 2147483647 h 109"/>
              <a:gd name="T2" fmla="*/ 2147483647 w 118"/>
              <a:gd name="T3" fmla="*/ 2147483647 h 109"/>
              <a:gd name="T4" fmla="*/ 2147483647 w 118"/>
              <a:gd name="T5" fmla="*/ 2147483647 h 109"/>
              <a:gd name="T6" fmla="*/ 2147483647 w 118"/>
              <a:gd name="T7" fmla="*/ 2147483647 h 109"/>
              <a:gd name="T8" fmla="*/ 2147483647 w 118"/>
              <a:gd name="T9" fmla="*/ 2147483647 h 109"/>
              <a:gd name="T10" fmla="*/ 2147483647 w 118"/>
              <a:gd name="T11" fmla="*/ 0 h 109"/>
              <a:gd name="T12" fmla="*/ 2147483647 w 118"/>
              <a:gd name="T13" fmla="*/ 0 h 109"/>
              <a:gd name="T14" fmla="*/ 2147483647 w 118"/>
              <a:gd name="T15" fmla="*/ 2147483647 h 109"/>
              <a:gd name="T16" fmla="*/ 2147483647 w 118"/>
              <a:gd name="T17" fmla="*/ 2147483647 h 109"/>
              <a:gd name="T18" fmla="*/ 2147483647 w 118"/>
              <a:gd name="T19" fmla="*/ 2147483647 h 109"/>
              <a:gd name="T20" fmla="*/ 2147483647 w 118"/>
              <a:gd name="T21" fmla="*/ 2147483647 h 109"/>
              <a:gd name="T22" fmla="*/ 2147483647 w 118"/>
              <a:gd name="T23" fmla="*/ 2147483647 h 109"/>
              <a:gd name="T24" fmla="*/ 2147483647 w 118"/>
              <a:gd name="T25" fmla="*/ 2147483647 h 109"/>
              <a:gd name="T26" fmla="*/ 2147483647 w 118"/>
              <a:gd name="T27" fmla="*/ 2147483647 h 109"/>
              <a:gd name="T28" fmla="*/ 2147483647 w 118"/>
              <a:gd name="T29" fmla="*/ 2147483647 h 109"/>
              <a:gd name="T30" fmla="*/ 2147483647 w 118"/>
              <a:gd name="T31" fmla="*/ 2147483647 h 109"/>
              <a:gd name="T32" fmla="*/ 2147483647 w 118"/>
              <a:gd name="T33" fmla="*/ 2147483647 h 109"/>
              <a:gd name="T34" fmla="*/ 2147483647 w 118"/>
              <a:gd name="T35" fmla="*/ 2147483647 h 109"/>
              <a:gd name="T36" fmla="*/ 2147483647 w 118"/>
              <a:gd name="T37" fmla="*/ 2147483647 h 109"/>
              <a:gd name="T38" fmla="*/ 2147483647 w 118"/>
              <a:gd name="T39" fmla="*/ 2147483647 h 109"/>
              <a:gd name="T40" fmla="*/ 2147483647 w 118"/>
              <a:gd name="T41" fmla="*/ 2147483647 h 109"/>
              <a:gd name="T42" fmla="*/ 2147483647 w 118"/>
              <a:gd name="T43" fmla="*/ 2147483647 h 109"/>
              <a:gd name="T44" fmla="*/ 0 w 118"/>
              <a:gd name="T45" fmla="*/ 2147483647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
              <a:gd name="T70" fmla="*/ 0 h 109"/>
              <a:gd name="T71" fmla="*/ 118 w 118"/>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 h="109">
                <a:moveTo>
                  <a:pt x="0" y="54"/>
                </a:moveTo>
                <a:lnTo>
                  <a:pt x="2" y="39"/>
                </a:lnTo>
                <a:lnTo>
                  <a:pt x="10" y="25"/>
                </a:lnTo>
                <a:lnTo>
                  <a:pt x="20" y="13"/>
                </a:lnTo>
                <a:lnTo>
                  <a:pt x="35" y="5"/>
                </a:lnTo>
                <a:lnTo>
                  <a:pt x="50" y="0"/>
                </a:lnTo>
                <a:lnTo>
                  <a:pt x="67" y="0"/>
                </a:lnTo>
                <a:lnTo>
                  <a:pt x="83" y="5"/>
                </a:lnTo>
                <a:lnTo>
                  <a:pt x="98" y="13"/>
                </a:lnTo>
                <a:lnTo>
                  <a:pt x="108" y="25"/>
                </a:lnTo>
                <a:lnTo>
                  <a:pt x="115" y="39"/>
                </a:lnTo>
                <a:lnTo>
                  <a:pt x="118" y="54"/>
                </a:lnTo>
                <a:lnTo>
                  <a:pt x="115" y="69"/>
                </a:lnTo>
                <a:lnTo>
                  <a:pt x="108" y="84"/>
                </a:lnTo>
                <a:lnTo>
                  <a:pt x="98" y="96"/>
                </a:lnTo>
                <a:lnTo>
                  <a:pt x="83" y="104"/>
                </a:lnTo>
                <a:lnTo>
                  <a:pt x="67" y="109"/>
                </a:lnTo>
                <a:lnTo>
                  <a:pt x="50" y="109"/>
                </a:lnTo>
                <a:lnTo>
                  <a:pt x="35" y="104"/>
                </a:lnTo>
                <a:lnTo>
                  <a:pt x="20" y="96"/>
                </a:lnTo>
                <a:lnTo>
                  <a:pt x="10" y="84"/>
                </a:lnTo>
                <a:lnTo>
                  <a:pt x="2" y="69"/>
                </a:lnTo>
                <a:lnTo>
                  <a:pt x="0" y="54"/>
                </a:lnTo>
                <a:close/>
              </a:path>
            </a:pathLst>
          </a:custGeom>
          <a:solidFill>
            <a:srgbClr val="00FFFF"/>
          </a:solidFill>
          <a:ln w="9525">
            <a:noFill/>
            <a:round/>
            <a:headEnd/>
            <a:tailEnd/>
          </a:ln>
        </p:spPr>
        <p:txBody>
          <a:bodyPr lIns="82058" tIns="41029" rIns="82058" bIns="41029"/>
          <a:lstStyle/>
          <a:p>
            <a:endParaRPr lang="en-US"/>
          </a:p>
        </p:txBody>
      </p:sp>
      <p:sp>
        <p:nvSpPr>
          <p:cNvPr id="24628" name="Rectangle 55"/>
          <p:cNvSpPr>
            <a:spLocks noChangeArrowheads="1"/>
          </p:cNvSpPr>
          <p:nvPr/>
        </p:nvSpPr>
        <p:spPr bwMode="auto">
          <a:xfrm>
            <a:off x="946150" y="3511550"/>
            <a:ext cx="46038" cy="107950"/>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1</a:t>
            </a:r>
            <a:endParaRPr lang="en-US">
              <a:cs typeface="Arial" charset="0"/>
            </a:endParaRPr>
          </a:p>
        </p:txBody>
      </p:sp>
      <p:sp>
        <p:nvSpPr>
          <p:cNvPr id="24629" name="Freeform 56"/>
          <p:cNvSpPr>
            <a:spLocks/>
          </p:cNvSpPr>
          <p:nvPr/>
        </p:nvSpPr>
        <p:spPr bwMode="auto">
          <a:xfrm>
            <a:off x="3903663" y="3482975"/>
            <a:ext cx="185737" cy="173038"/>
          </a:xfrm>
          <a:custGeom>
            <a:avLst/>
            <a:gdLst>
              <a:gd name="T0" fmla="*/ 0 w 117"/>
              <a:gd name="T1" fmla="*/ 2147483647 h 109"/>
              <a:gd name="T2" fmla="*/ 2147483647 w 117"/>
              <a:gd name="T3" fmla="*/ 2147483647 h 109"/>
              <a:gd name="T4" fmla="*/ 2147483647 w 117"/>
              <a:gd name="T5" fmla="*/ 2147483647 h 109"/>
              <a:gd name="T6" fmla="*/ 2147483647 w 117"/>
              <a:gd name="T7" fmla="*/ 2147483647 h 109"/>
              <a:gd name="T8" fmla="*/ 2147483647 w 117"/>
              <a:gd name="T9" fmla="*/ 2147483647 h 109"/>
              <a:gd name="T10" fmla="*/ 2147483647 w 117"/>
              <a:gd name="T11" fmla="*/ 0 h 109"/>
              <a:gd name="T12" fmla="*/ 2147483647 w 117"/>
              <a:gd name="T13" fmla="*/ 0 h 109"/>
              <a:gd name="T14" fmla="*/ 2147483647 w 117"/>
              <a:gd name="T15" fmla="*/ 2147483647 h 109"/>
              <a:gd name="T16" fmla="*/ 2147483647 w 117"/>
              <a:gd name="T17" fmla="*/ 2147483647 h 109"/>
              <a:gd name="T18" fmla="*/ 2147483647 w 117"/>
              <a:gd name="T19" fmla="*/ 2147483647 h 109"/>
              <a:gd name="T20" fmla="*/ 2147483647 w 117"/>
              <a:gd name="T21" fmla="*/ 2147483647 h 109"/>
              <a:gd name="T22" fmla="*/ 2147483647 w 117"/>
              <a:gd name="T23" fmla="*/ 2147483647 h 109"/>
              <a:gd name="T24" fmla="*/ 2147483647 w 117"/>
              <a:gd name="T25" fmla="*/ 2147483647 h 109"/>
              <a:gd name="T26" fmla="*/ 2147483647 w 117"/>
              <a:gd name="T27" fmla="*/ 2147483647 h 109"/>
              <a:gd name="T28" fmla="*/ 2147483647 w 117"/>
              <a:gd name="T29" fmla="*/ 2147483647 h 109"/>
              <a:gd name="T30" fmla="*/ 2147483647 w 117"/>
              <a:gd name="T31" fmla="*/ 2147483647 h 109"/>
              <a:gd name="T32" fmla="*/ 2147483647 w 117"/>
              <a:gd name="T33" fmla="*/ 2147483647 h 109"/>
              <a:gd name="T34" fmla="*/ 2147483647 w 117"/>
              <a:gd name="T35" fmla="*/ 2147483647 h 109"/>
              <a:gd name="T36" fmla="*/ 2147483647 w 117"/>
              <a:gd name="T37" fmla="*/ 2147483647 h 109"/>
              <a:gd name="T38" fmla="*/ 2147483647 w 117"/>
              <a:gd name="T39" fmla="*/ 2147483647 h 109"/>
              <a:gd name="T40" fmla="*/ 2147483647 w 117"/>
              <a:gd name="T41" fmla="*/ 2147483647 h 109"/>
              <a:gd name="T42" fmla="*/ 2147483647 w 117"/>
              <a:gd name="T43" fmla="*/ 2147483647 h 109"/>
              <a:gd name="T44" fmla="*/ 0 w 117"/>
              <a:gd name="T45" fmla="*/ 2147483647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7"/>
              <a:gd name="T70" fmla="*/ 0 h 109"/>
              <a:gd name="T71" fmla="*/ 117 w 117"/>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7" h="109">
                <a:moveTo>
                  <a:pt x="0" y="54"/>
                </a:moveTo>
                <a:lnTo>
                  <a:pt x="2" y="39"/>
                </a:lnTo>
                <a:lnTo>
                  <a:pt x="9" y="25"/>
                </a:lnTo>
                <a:lnTo>
                  <a:pt x="20" y="13"/>
                </a:lnTo>
                <a:lnTo>
                  <a:pt x="34" y="5"/>
                </a:lnTo>
                <a:lnTo>
                  <a:pt x="50" y="0"/>
                </a:lnTo>
                <a:lnTo>
                  <a:pt x="66" y="0"/>
                </a:lnTo>
                <a:lnTo>
                  <a:pt x="83" y="5"/>
                </a:lnTo>
                <a:lnTo>
                  <a:pt x="97" y="13"/>
                </a:lnTo>
                <a:lnTo>
                  <a:pt x="108" y="25"/>
                </a:lnTo>
                <a:lnTo>
                  <a:pt x="115" y="39"/>
                </a:lnTo>
                <a:lnTo>
                  <a:pt x="117" y="54"/>
                </a:lnTo>
                <a:lnTo>
                  <a:pt x="115" y="69"/>
                </a:lnTo>
                <a:lnTo>
                  <a:pt x="108" y="84"/>
                </a:lnTo>
                <a:lnTo>
                  <a:pt x="97" y="96"/>
                </a:lnTo>
                <a:lnTo>
                  <a:pt x="83" y="104"/>
                </a:lnTo>
                <a:lnTo>
                  <a:pt x="66" y="109"/>
                </a:lnTo>
                <a:lnTo>
                  <a:pt x="50" y="109"/>
                </a:lnTo>
                <a:lnTo>
                  <a:pt x="34" y="104"/>
                </a:lnTo>
                <a:lnTo>
                  <a:pt x="20" y="96"/>
                </a:lnTo>
                <a:lnTo>
                  <a:pt x="9" y="84"/>
                </a:lnTo>
                <a:lnTo>
                  <a:pt x="2" y="69"/>
                </a:lnTo>
                <a:lnTo>
                  <a:pt x="0" y="54"/>
                </a:lnTo>
                <a:close/>
              </a:path>
            </a:pathLst>
          </a:custGeom>
          <a:solidFill>
            <a:srgbClr val="00FFFF"/>
          </a:solidFill>
          <a:ln w="9525">
            <a:noFill/>
            <a:round/>
            <a:headEnd/>
            <a:tailEnd/>
          </a:ln>
        </p:spPr>
        <p:txBody>
          <a:bodyPr lIns="82058" tIns="41029" rIns="82058" bIns="41029"/>
          <a:lstStyle/>
          <a:p>
            <a:endParaRPr lang="en-US"/>
          </a:p>
        </p:txBody>
      </p:sp>
      <p:sp>
        <p:nvSpPr>
          <p:cNvPr id="24630" name="Rectangle 57"/>
          <p:cNvSpPr>
            <a:spLocks noChangeArrowheads="1"/>
          </p:cNvSpPr>
          <p:nvPr/>
        </p:nvSpPr>
        <p:spPr bwMode="auto">
          <a:xfrm>
            <a:off x="3968750" y="3511550"/>
            <a:ext cx="44450" cy="107950"/>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3</a:t>
            </a:r>
            <a:endParaRPr lang="en-US">
              <a:cs typeface="Arial" charset="0"/>
            </a:endParaRPr>
          </a:p>
        </p:txBody>
      </p:sp>
      <p:sp>
        <p:nvSpPr>
          <p:cNvPr id="24631" name="Freeform 58"/>
          <p:cNvSpPr>
            <a:spLocks/>
          </p:cNvSpPr>
          <p:nvPr/>
        </p:nvSpPr>
        <p:spPr bwMode="auto">
          <a:xfrm>
            <a:off x="5400675" y="3482975"/>
            <a:ext cx="187325" cy="173038"/>
          </a:xfrm>
          <a:custGeom>
            <a:avLst/>
            <a:gdLst>
              <a:gd name="T0" fmla="*/ 0 w 118"/>
              <a:gd name="T1" fmla="*/ 2147483647 h 109"/>
              <a:gd name="T2" fmla="*/ 2147483647 w 118"/>
              <a:gd name="T3" fmla="*/ 2147483647 h 109"/>
              <a:gd name="T4" fmla="*/ 2147483647 w 118"/>
              <a:gd name="T5" fmla="*/ 2147483647 h 109"/>
              <a:gd name="T6" fmla="*/ 2147483647 w 118"/>
              <a:gd name="T7" fmla="*/ 2147483647 h 109"/>
              <a:gd name="T8" fmla="*/ 2147483647 w 118"/>
              <a:gd name="T9" fmla="*/ 2147483647 h 109"/>
              <a:gd name="T10" fmla="*/ 2147483647 w 118"/>
              <a:gd name="T11" fmla="*/ 0 h 109"/>
              <a:gd name="T12" fmla="*/ 2147483647 w 118"/>
              <a:gd name="T13" fmla="*/ 0 h 109"/>
              <a:gd name="T14" fmla="*/ 2147483647 w 118"/>
              <a:gd name="T15" fmla="*/ 2147483647 h 109"/>
              <a:gd name="T16" fmla="*/ 2147483647 w 118"/>
              <a:gd name="T17" fmla="*/ 2147483647 h 109"/>
              <a:gd name="T18" fmla="*/ 2147483647 w 118"/>
              <a:gd name="T19" fmla="*/ 2147483647 h 109"/>
              <a:gd name="T20" fmla="*/ 2147483647 w 118"/>
              <a:gd name="T21" fmla="*/ 2147483647 h 109"/>
              <a:gd name="T22" fmla="*/ 2147483647 w 118"/>
              <a:gd name="T23" fmla="*/ 2147483647 h 109"/>
              <a:gd name="T24" fmla="*/ 2147483647 w 118"/>
              <a:gd name="T25" fmla="*/ 2147483647 h 109"/>
              <a:gd name="T26" fmla="*/ 2147483647 w 118"/>
              <a:gd name="T27" fmla="*/ 2147483647 h 109"/>
              <a:gd name="T28" fmla="*/ 2147483647 w 118"/>
              <a:gd name="T29" fmla="*/ 2147483647 h 109"/>
              <a:gd name="T30" fmla="*/ 2147483647 w 118"/>
              <a:gd name="T31" fmla="*/ 2147483647 h 109"/>
              <a:gd name="T32" fmla="*/ 2147483647 w 118"/>
              <a:gd name="T33" fmla="*/ 2147483647 h 109"/>
              <a:gd name="T34" fmla="*/ 2147483647 w 118"/>
              <a:gd name="T35" fmla="*/ 2147483647 h 109"/>
              <a:gd name="T36" fmla="*/ 2147483647 w 118"/>
              <a:gd name="T37" fmla="*/ 2147483647 h 109"/>
              <a:gd name="T38" fmla="*/ 2147483647 w 118"/>
              <a:gd name="T39" fmla="*/ 2147483647 h 109"/>
              <a:gd name="T40" fmla="*/ 2147483647 w 118"/>
              <a:gd name="T41" fmla="*/ 2147483647 h 109"/>
              <a:gd name="T42" fmla="*/ 2147483647 w 118"/>
              <a:gd name="T43" fmla="*/ 2147483647 h 109"/>
              <a:gd name="T44" fmla="*/ 0 w 118"/>
              <a:gd name="T45" fmla="*/ 2147483647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
              <a:gd name="T70" fmla="*/ 0 h 109"/>
              <a:gd name="T71" fmla="*/ 118 w 118"/>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 h="109">
                <a:moveTo>
                  <a:pt x="0" y="54"/>
                </a:moveTo>
                <a:lnTo>
                  <a:pt x="2" y="39"/>
                </a:lnTo>
                <a:lnTo>
                  <a:pt x="8" y="25"/>
                </a:lnTo>
                <a:lnTo>
                  <a:pt x="20" y="13"/>
                </a:lnTo>
                <a:lnTo>
                  <a:pt x="33" y="5"/>
                </a:lnTo>
                <a:lnTo>
                  <a:pt x="50" y="0"/>
                </a:lnTo>
                <a:lnTo>
                  <a:pt x="66" y="0"/>
                </a:lnTo>
                <a:lnTo>
                  <a:pt x="82" y="5"/>
                </a:lnTo>
                <a:lnTo>
                  <a:pt x="96" y="13"/>
                </a:lnTo>
                <a:lnTo>
                  <a:pt x="108" y="25"/>
                </a:lnTo>
                <a:lnTo>
                  <a:pt x="115" y="39"/>
                </a:lnTo>
                <a:lnTo>
                  <a:pt x="118" y="54"/>
                </a:lnTo>
                <a:lnTo>
                  <a:pt x="115" y="69"/>
                </a:lnTo>
                <a:lnTo>
                  <a:pt x="108" y="84"/>
                </a:lnTo>
                <a:lnTo>
                  <a:pt x="96" y="96"/>
                </a:lnTo>
                <a:lnTo>
                  <a:pt x="82" y="104"/>
                </a:lnTo>
                <a:lnTo>
                  <a:pt x="66" y="109"/>
                </a:lnTo>
                <a:lnTo>
                  <a:pt x="50" y="109"/>
                </a:lnTo>
                <a:lnTo>
                  <a:pt x="33" y="104"/>
                </a:lnTo>
                <a:lnTo>
                  <a:pt x="20" y="96"/>
                </a:lnTo>
                <a:lnTo>
                  <a:pt x="8" y="84"/>
                </a:lnTo>
                <a:lnTo>
                  <a:pt x="2" y="69"/>
                </a:lnTo>
                <a:lnTo>
                  <a:pt x="0" y="54"/>
                </a:lnTo>
                <a:close/>
              </a:path>
            </a:pathLst>
          </a:custGeom>
          <a:solidFill>
            <a:srgbClr val="00FFFF"/>
          </a:solidFill>
          <a:ln w="9525">
            <a:noFill/>
            <a:round/>
            <a:headEnd/>
            <a:tailEnd/>
          </a:ln>
        </p:spPr>
        <p:txBody>
          <a:bodyPr lIns="82058" tIns="41029" rIns="82058" bIns="41029"/>
          <a:lstStyle/>
          <a:p>
            <a:endParaRPr lang="en-US"/>
          </a:p>
        </p:txBody>
      </p:sp>
      <p:sp>
        <p:nvSpPr>
          <p:cNvPr id="24632" name="Rectangle 59"/>
          <p:cNvSpPr>
            <a:spLocks noChangeArrowheads="1"/>
          </p:cNvSpPr>
          <p:nvPr/>
        </p:nvSpPr>
        <p:spPr bwMode="auto">
          <a:xfrm>
            <a:off x="5465763" y="3511550"/>
            <a:ext cx="44450" cy="107950"/>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4</a:t>
            </a:r>
            <a:endParaRPr lang="en-US">
              <a:cs typeface="Arial" charset="0"/>
            </a:endParaRPr>
          </a:p>
        </p:txBody>
      </p:sp>
      <p:sp>
        <p:nvSpPr>
          <p:cNvPr id="24633" name="Freeform 60"/>
          <p:cNvSpPr>
            <a:spLocks/>
          </p:cNvSpPr>
          <p:nvPr/>
        </p:nvSpPr>
        <p:spPr bwMode="auto">
          <a:xfrm>
            <a:off x="2397125" y="3482975"/>
            <a:ext cx="187325" cy="173038"/>
          </a:xfrm>
          <a:custGeom>
            <a:avLst/>
            <a:gdLst>
              <a:gd name="T0" fmla="*/ 0 w 118"/>
              <a:gd name="T1" fmla="*/ 2147483647 h 109"/>
              <a:gd name="T2" fmla="*/ 2147483647 w 118"/>
              <a:gd name="T3" fmla="*/ 2147483647 h 109"/>
              <a:gd name="T4" fmla="*/ 2147483647 w 118"/>
              <a:gd name="T5" fmla="*/ 2147483647 h 109"/>
              <a:gd name="T6" fmla="*/ 2147483647 w 118"/>
              <a:gd name="T7" fmla="*/ 2147483647 h 109"/>
              <a:gd name="T8" fmla="*/ 2147483647 w 118"/>
              <a:gd name="T9" fmla="*/ 2147483647 h 109"/>
              <a:gd name="T10" fmla="*/ 2147483647 w 118"/>
              <a:gd name="T11" fmla="*/ 0 h 109"/>
              <a:gd name="T12" fmla="*/ 2147483647 w 118"/>
              <a:gd name="T13" fmla="*/ 0 h 109"/>
              <a:gd name="T14" fmla="*/ 2147483647 w 118"/>
              <a:gd name="T15" fmla="*/ 2147483647 h 109"/>
              <a:gd name="T16" fmla="*/ 2147483647 w 118"/>
              <a:gd name="T17" fmla="*/ 2147483647 h 109"/>
              <a:gd name="T18" fmla="*/ 2147483647 w 118"/>
              <a:gd name="T19" fmla="*/ 2147483647 h 109"/>
              <a:gd name="T20" fmla="*/ 2147483647 w 118"/>
              <a:gd name="T21" fmla="*/ 2147483647 h 109"/>
              <a:gd name="T22" fmla="*/ 2147483647 w 118"/>
              <a:gd name="T23" fmla="*/ 2147483647 h 109"/>
              <a:gd name="T24" fmla="*/ 2147483647 w 118"/>
              <a:gd name="T25" fmla="*/ 2147483647 h 109"/>
              <a:gd name="T26" fmla="*/ 2147483647 w 118"/>
              <a:gd name="T27" fmla="*/ 2147483647 h 109"/>
              <a:gd name="T28" fmla="*/ 2147483647 w 118"/>
              <a:gd name="T29" fmla="*/ 2147483647 h 109"/>
              <a:gd name="T30" fmla="*/ 2147483647 w 118"/>
              <a:gd name="T31" fmla="*/ 2147483647 h 109"/>
              <a:gd name="T32" fmla="*/ 2147483647 w 118"/>
              <a:gd name="T33" fmla="*/ 2147483647 h 109"/>
              <a:gd name="T34" fmla="*/ 2147483647 w 118"/>
              <a:gd name="T35" fmla="*/ 2147483647 h 109"/>
              <a:gd name="T36" fmla="*/ 2147483647 w 118"/>
              <a:gd name="T37" fmla="*/ 2147483647 h 109"/>
              <a:gd name="T38" fmla="*/ 2147483647 w 118"/>
              <a:gd name="T39" fmla="*/ 2147483647 h 109"/>
              <a:gd name="T40" fmla="*/ 2147483647 w 118"/>
              <a:gd name="T41" fmla="*/ 2147483647 h 109"/>
              <a:gd name="T42" fmla="*/ 2147483647 w 118"/>
              <a:gd name="T43" fmla="*/ 2147483647 h 109"/>
              <a:gd name="T44" fmla="*/ 0 w 118"/>
              <a:gd name="T45" fmla="*/ 2147483647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
              <a:gd name="T70" fmla="*/ 0 h 109"/>
              <a:gd name="T71" fmla="*/ 118 w 118"/>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 h="109">
                <a:moveTo>
                  <a:pt x="0" y="54"/>
                </a:moveTo>
                <a:lnTo>
                  <a:pt x="2" y="39"/>
                </a:lnTo>
                <a:lnTo>
                  <a:pt x="10" y="25"/>
                </a:lnTo>
                <a:lnTo>
                  <a:pt x="21" y="13"/>
                </a:lnTo>
                <a:lnTo>
                  <a:pt x="35" y="5"/>
                </a:lnTo>
                <a:lnTo>
                  <a:pt x="51" y="0"/>
                </a:lnTo>
                <a:lnTo>
                  <a:pt x="68" y="0"/>
                </a:lnTo>
                <a:lnTo>
                  <a:pt x="84" y="5"/>
                </a:lnTo>
                <a:lnTo>
                  <a:pt x="98" y="13"/>
                </a:lnTo>
                <a:lnTo>
                  <a:pt x="109" y="25"/>
                </a:lnTo>
                <a:lnTo>
                  <a:pt x="115" y="39"/>
                </a:lnTo>
                <a:lnTo>
                  <a:pt x="118" y="54"/>
                </a:lnTo>
                <a:lnTo>
                  <a:pt x="115" y="69"/>
                </a:lnTo>
                <a:lnTo>
                  <a:pt x="109" y="84"/>
                </a:lnTo>
                <a:lnTo>
                  <a:pt x="98" y="96"/>
                </a:lnTo>
                <a:lnTo>
                  <a:pt x="84" y="104"/>
                </a:lnTo>
                <a:lnTo>
                  <a:pt x="68" y="109"/>
                </a:lnTo>
                <a:lnTo>
                  <a:pt x="51" y="109"/>
                </a:lnTo>
                <a:lnTo>
                  <a:pt x="35" y="104"/>
                </a:lnTo>
                <a:lnTo>
                  <a:pt x="21" y="96"/>
                </a:lnTo>
                <a:lnTo>
                  <a:pt x="10" y="84"/>
                </a:lnTo>
                <a:lnTo>
                  <a:pt x="2" y="69"/>
                </a:lnTo>
                <a:lnTo>
                  <a:pt x="0" y="54"/>
                </a:lnTo>
                <a:close/>
              </a:path>
            </a:pathLst>
          </a:custGeom>
          <a:solidFill>
            <a:srgbClr val="00FFFF"/>
          </a:solidFill>
          <a:ln w="9525">
            <a:noFill/>
            <a:round/>
            <a:headEnd/>
            <a:tailEnd/>
          </a:ln>
        </p:spPr>
        <p:txBody>
          <a:bodyPr lIns="82058" tIns="41029" rIns="82058" bIns="41029"/>
          <a:lstStyle/>
          <a:p>
            <a:endParaRPr lang="en-US"/>
          </a:p>
        </p:txBody>
      </p:sp>
      <p:sp>
        <p:nvSpPr>
          <p:cNvPr id="24634" name="Rectangle 61"/>
          <p:cNvSpPr>
            <a:spLocks noChangeArrowheads="1"/>
          </p:cNvSpPr>
          <p:nvPr/>
        </p:nvSpPr>
        <p:spPr bwMode="auto">
          <a:xfrm>
            <a:off x="2462213" y="3511550"/>
            <a:ext cx="44450" cy="107950"/>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2</a:t>
            </a:r>
            <a:endParaRPr lang="en-US">
              <a:cs typeface="Arial" charset="0"/>
            </a:endParaRPr>
          </a:p>
        </p:txBody>
      </p:sp>
      <p:sp>
        <p:nvSpPr>
          <p:cNvPr id="24635" name="Rectangle 62"/>
          <p:cNvSpPr>
            <a:spLocks noChangeArrowheads="1"/>
          </p:cNvSpPr>
          <p:nvPr/>
        </p:nvSpPr>
        <p:spPr bwMode="auto">
          <a:xfrm>
            <a:off x="1368425" y="4757738"/>
            <a:ext cx="1195388" cy="209550"/>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36" name="Rectangle 63"/>
          <p:cNvSpPr>
            <a:spLocks noChangeArrowheads="1"/>
          </p:cNvSpPr>
          <p:nvPr/>
        </p:nvSpPr>
        <p:spPr bwMode="auto">
          <a:xfrm>
            <a:off x="1708150" y="4799013"/>
            <a:ext cx="787400" cy="136525"/>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DEC Engineers</a:t>
            </a:r>
            <a:endParaRPr lang="en-US">
              <a:cs typeface="Arial" charset="0"/>
            </a:endParaRPr>
          </a:p>
        </p:txBody>
      </p:sp>
      <p:sp>
        <p:nvSpPr>
          <p:cNvPr id="24637" name="Rectangle 64"/>
          <p:cNvSpPr>
            <a:spLocks noChangeArrowheads="1"/>
          </p:cNvSpPr>
          <p:nvPr/>
        </p:nvSpPr>
        <p:spPr bwMode="auto">
          <a:xfrm>
            <a:off x="1368425" y="4967288"/>
            <a:ext cx="1195388" cy="625475"/>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38" name="Rectangle 65"/>
          <p:cNvSpPr>
            <a:spLocks noChangeArrowheads="1"/>
          </p:cNvSpPr>
          <p:nvPr/>
        </p:nvSpPr>
        <p:spPr bwMode="auto">
          <a:xfrm>
            <a:off x="1466850" y="5056188"/>
            <a:ext cx="904875"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Perform required</a:t>
            </a:r>
            <a:endParaRPr lang="en-US">
              <a:cs typeface="Arial" charset="0"/>
            </a:endParaRPr>
          </a:p>
        </p:txBody>
      </p:sp>
      <p:sp>
        <p:nvSpPr>
          <p:cNvPr id="24639" name="Rectangle 66"/>
          <p:cNvSpPr>
            <a:spLocks noChangeArrowheads="1"/>
          </p:cNvSpPr>
          <p:nvPr/>
        </p:nvSpPr>
        <p:spPr bwMode="auto">
          <a:xfrm>
            <a:off x="1627188" y="5203825"/>
            <a:ext cx="573087" cy="153988"/>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checks and</a:t>
            </a:r>
            <a:endParaRPr lang="en-US">
              <a:cs typeface="Arial" charset="0"/>
            </a:endParaRPr>
          </a:p>
        </p:txBody>
      </p:sp>
      <p:sp>
        <p:nvSpPr>
          <p:cNvPr id="24640" name="Rectangle 67"/>
          <p:cNvSpPr>
            <a:spLocks noChangeArrowheads="1"/>
          </p:cNvSpPr>
          <p:nvPr/>
        </p:nvSpPr>
        <p:spPr bwMode="auto">
          <a:xfrm>
            <a:off x="1743075" y="5353050"/>
            <a:ext cx="401638" cy="153988"/>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reviews</a:t>
            </a:r>
            <a:endParaRPr lang="en-US">
              <a:cs typeface="Arial" charset="0"/>
            </a:endParaRPr>
          </a:p>
        </p:txBody>
      </p:sp>
      <p:sp>
        <p:nvSpPr>
          <p:cNvPr id="24641" name="Freeform 68"/>
          <p:cNvSpPr>
            <a:spLocks/>
          </p:cNvSpPr>
          <p:nvPr/>
        </p:nvSpPr>
        <p:spPr bwMode="auto">
          <a:xfrm>
            <a:off x="1422400" y="4776788"/>
            <a:ext cx="187325" cy="173037"/>
          </a:xfrm>
          <a:custGeom>
            <a:avLst/>
            <a:gdLst>
              <a:gd name="T0" fmla="*/ 0 w 118"/>
              <a:gd name="T1" fmla="*/ 2147483647 h 109"/>
              <a:gd name="T2" fmla="*/ 2147483647 w 118"/>
              <a:gd name="T3" fmla="*/ 2147483647 h 109"/>
              <a:gd name="T4" fmla="*/ 2147483647 w 118"/>
              <a:gd name="T5" fmla="*/ 2147483647 h 109"/>
              <a:gd name="T6" fmla="*/ 2147483647 w 118"/>
              <a:gd name="T7" fmla="*/ 2147483647 h 109"/>
              <a:gd name="T8" fmla="*/ 2147483647 w 118"/>
              <a:gd name="T9" fmla="*/ 2147483647 h 109"/>
              <a:gd name="T10" fmla="*/ 2147483647 w 118"/>
              <a:gd name="T11" fmla="*/ 0 h 109"/>
              <a:gd name="T12" fmla="*/ 2147483647 w 118"/>
              <a:gd name="T13" fmla="*/ 0 h 109"/>
              <a:gd name="T14" fmla="*/ 2147483647 w 118"/>
              <a:gd name="T15" fmla="*/ 2147483647 h 109"/>
              <a:gd name="T16" fmla="*/ 2147483647 w 118"/>
              <a:gd name="T17" fmla="*/ 2147483647 h 109"/>
              <a:gd name="T18" fmla="*/ 2147483647 w 118"/>
              <a:gd name="T19" fmla="*/ 2147483647 h 109"/>
              <a:gd name="T20" fmla="*/ 2147483647 w 118"/>
              <a:gd name="T21" fmla="*/ 2147483647 h 109"/>
              <a:gd name="T22" fmla="*/ 2147483647 w 118"/>
              <a:gd name="T23" fmla="*/ 2147483647 h 109"/>
              <a:gd name="T24" fmla="*/ 2147483647 w 118"/>
              <a:gd name="T25" fmla="*/ 2147483647 h 109"/>
              <a:gd name="T26" fmla="*/ 2147483647 w 118"/>
              <a:gd name="T27" fmla="*/ 2147483647 h 109"/>
              <a:gd name="T28" fmla="*/ 2147483647 w 118"/>
              <a:gd name="T29" fmla="*/ 2147483647 h 109"/>
              <a:gd name="T30" fmla="*/ 2147483647 w 118"/>
              <a:gd name="T31" fmla="*/ 2147483647 h 109"/>
              <a:gd name="T32" fmla="*/ 2147483647 w 118"/>
              <a:gd name="T33" fmla="*/ 2147483647 h 109"/>
              <a:gd name="T34" fmla="*/ 2147483647 w 118"/>
              <a:gd name="T35" fmla="*/ 2147483647 h 109"/>
              <a:gd name="T36" fmla="*/ 2147483647 w 118"/>
              <a:gd name="T37" fmla="*/ 2147483647 h 109"/>
              <a:gd name="T38" fmla="*/ 2147483647 w 118"/>
              <a:gd name="T39" fmla="*/ 2147483647 h 109"/>
              <a:gd name="T40" fmla="*/ 2147483647 w 118"/>
              <a:gd name="T41" fmla="*/ 2147483647 h 109"/>
              <a:gd name="T42" fmla="*/ 2147483647 w 118"/>
              <a:gd name="T43" fmla="*/ 2147483647 h 109"/>
              <a:gd name="T44" fmla="*/ 0 w 118"/>
              <a:gd name="T45" fmla="*/ 2147483647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
              <a:gd name="T70" fmla="*/ 0 h 109"/>
              <a:gd name="T71" fmla="*/ 118 w 118"/>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 h="109">
                <a:moveTo>
                  <a:pt x="0" y="54"/>
                </a:moveTo>
                <a:lnTo>
                  <a:pt x="3" y="39"/>
                </a:lnTo>
                <a:lnTo>
                  <a:pt x="10" y="24"/>
                </a:lnTo>
                <a:lnTo>
                  <a:pt x="20" y="13"/>
                </a:lnTo>
                <a:lnTo>
                  <a:pt x="35" y="5"/>
                </a:lnTo>
                <a:lnTo>
                  <a:pt x="52" y="0"/>
                </a:lnTo>
                <a:lnTo>
                  <a:pt x="68" y="0"/>
                </a:lnTo>
                <a:lnTo>
                  <a:pt x="84" y="5"/>
                </a:lnTo>
                <a:lnTo>
                  <a:pt x="98" y="13"/>
                </a:lnTo>
                <a:lnTo>
                  <a:pt x="109" y="24"/>
                </a:lnTo>
                <a:lnTo>
                  <a:pt x="116" y="39"/>
                </a:lnTo>
                <a:lnTo>
                  <a:pt x="118" y="54"/>
                </a:lnTo>
                <a:lnTo>
                  <a:pt x="116" y="69"/>
                </a:lnTo>
                <a:lnTo>
                  <a:pt x="109" y="84"/>
                </a:lnTo>
                <a:lnTo>
                  <a:pt x="98" y="96"/>
                </a:lnTo>
                <a:lnTo>
                  <a:pt x="84" y="104"/>
                </a:lnTo>
                <a:lnTo>
                  <a:pt x="68" y="109"/>
                </a:lnTo>
                <a:lnTo>
                  <a:pt x="52" y="109"/>
                </a:lnTo>
                <a:lnTo>
                  <a:pt x="35" y="104"/>
                </a:lnTo>
                <a:lnTo>
                  <a:pt x="20" y="96"/>
                </a:lnTo>
                <a:lnTo>
                  <a:pt x="10" y="84"/>
                </a:lnTo>
                <a:lnTo>
                  <a:pt x="3" y="69"/>
                </a:lnTo>
                <a:lnTo>
                  <a:pt x="0" y="54"/>
                </a:lnTo>
                <a:close/>
              </a:path>
            </a:pathLst>
          </a:custGeom>
          <a:solidFill>
            <a:srgbClr val="00FFFF"/>
          </a:solidFill>
          <a:ln w="9525">
            <a:noFill/>
            <a:round/>
            <a:headEnd/>
            <a:tailEnd/>
          </a:ln>
        </p:spPr>
        <p:txBody>
          <a:bodyPr lIns="82058" tIns="41029" rIns="82058" bIns="41029"/>
          <a:lstStyle/>
          <a:p>
            <a:endParaRPr lang="en-US"/>
          </a:p>
        </p:txBody>
      </p:sp>
      <p:sp>
        <p:nvSpPr>
          <p:cNvPr id="24642" name="Rectangle 69"/>
          <p:cNvSpPr>
            <a:spLocks noChangeArrowheads="1"/>
          </p:cNvSpPr>
          <p:nvPr/>
        </p:nvSpPr>
        <p:spPr bwMode="auto">
          <a:xfrm>
            <a:off x="1489075" y="4805363"/>
            <a:ext cx="44450" cy="107950"/>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5</a:t>
            </a:r>
            <a:endParaRPr lang="en-US">
              <a:cs typeface="Arial" charset="0"/>
            </a:endParaRPr>
          </a:p>
        </p:txBody>
      </p:sp>
      <p:sp>
        <p:nvSpPr>
          <p:cNvPr id="24643" name="Line 70"/>
          <p:cNvSpPr>
            <a:spLocks noChangeShapeType="1"/>
          </p:cNvSpPr>
          <p:nvPr/>
        </p:nvSpPr>
        <p:spPr bwMode="auto">
          <a:xfrm>
            <a:off x="2563813" y="5173663"/>
            <a:ext cx="231775" cy="1587"/>
          </a:xfrm>
          <a:prstGeom prst="line">
            <a:avLst/>
          </a:prstGeom>
          <a:noFill/>
          <a:ln w="4763">
            <a:solidFill>
              <a:srgbClr val="000000"/>
            </a:solidFill>
            <a:round/>
            <a:headEnd/>
            <a:tailEnd/>
          </a:ln>
        </p:spPr>
        <p:txBody>
          <a:bodyPr lIns="82058" tIns="41029" rIns="82058" bIns="41029"/>
          <a:lstStyle/>
          <a:p>
            <a:endParaRPr lang="en-US"/>
          </a:p>
        </p:txBody>
      </p:sp>
      <p:sp>
        <p:nvSpPr>
          <p:cNvPr id="24644" name="Freeform 71"/>
          <p:cNvSpPr>
            <a:spLocks/>
          </p:cNvSpPr>
          <p:nvPr/>
        </p:nvSpPr>
        <p:spPr bwMode="auto">
          <a:xfrm>
            <a:off x="2773363" y="5133975"/>
            <a:ext cx="92075" cy="82550"/>
          </a:xfrm>
          <a:custGeom>
            <a:avLst/>
            <a:gdLst>
              <a:gd name="T0" fmla="*/ 2147483647 w 58"/>
              <a:gd name="T1" fmla="*/ 2147483647 h 52"/>
              <a:gd name="T2" fmla="*/ 0 w 58"/>
              <a:gd name="T3" fmla="*/ 2147483647 h 52"/>
              <a:gd name="T4" fmla="*/ 2147483647 w 58"/>
              <a:gd name="T5" fmla="*/ 2147483647 h 52"/>
              <a:gd name="T6" fmla="*/ 2147483647 w 58"/>
              <a:gd name="T7" fmla="*/ 2147483647 h 52"/>
              <a:gd name="T8" fmla="*/ 2147483647 w 58"/>
              <a:gd name="T9" fmla="*/ 2147483647 h 52"/>
              <a:gd name="T10" fmla="*/ 2147483647 w 58"/>
              <a:gd name="T11" fmla="*/ 2147483647 h 52"/>
              <a:gd name="T12" fmla="*/ 2147483647 w 58"/>
              <a:gd name="T13" fmla="*/ 2147483647 h 52"/>
              <a:gd name="T14" fmla="*/ 2147483647 w 58"/>
              <a:gd name="T15" fmla="*/ 2147483647 h 52"/>
              <a:gd name="T16" fmla="*/ 2147483647 w 58"/>
              <a:gd name="T17" fmla="*/ 2147483647 h 52"/>
              <a:gd name="T18" fmla="*/ 2147483647 w 58"/>
              <a:gd name="T19" fmla="*/ 2147483647 h 52"/>
              <a:gd name="T20" fmla="*/ 0 w 58"/>
              <a:gd name="T21" fmla="*/ 0 h 52"/>
              <a:gd name="T22" fmla="*/ 2147483647 w 58"/>
              <a:gd name="T23" fmla="*/ 2147483647 h 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
              <a:gd name="T37" fmla="*/ 0 h 52"/>
              <a:gd name="T38" fmla="*/ 58 w 58"/>
              <a:gd name="T39" fmla="*/ 52 h 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 h="52">
                <a:moveTo>
                  <a:pt x="58" y="25"/>
                </a:moveTo>
                <a:lnTo>
                  <a:pt x="0" y="52"/>
                </a:lnTo>
                <a:lnTo>
                  <a:pt x="1" y="50"/>
                </a:lnTo>
                <a:lnTo>
                  <a:pt x="4" y="43"/>
                </a:lnTo>
                <a:lnTo>
                  <a:pt x="5" y="41"/>
                </a:lnTo>
                <a:lnTo>
                  <a:pt x="6" y="37"/>
                </a:lnTo>
                <a:lnTo>
                  <a:pt x="6" y="14"/>
                </a:lnTo>
                <a:lnTo>
                  <a:pt x="5" y="13"/>
                </a:lnTo>
                <a:lnTo>
                  <a:pt x="3" y="6"/>
                </a:lnTo>
                <a:lnTo>
                  <a:pt x="1" y="3"/>
                </a:lnTo>
                <a:lnTo>
                  <a:pt x="0" y="0"/>
                </a:lnTo>
                <a:lnTo>
                  <a:pt x="58" y="25"/>
                </a:lnTo>
                <a:close/>
              </a:path>
            </a:pathLst>
          </a:custGeom>
          <a:solidFill>
            <a:srgbClr val="000000"/>
          </a:solidFill>
          <a:ln w="9525">
            <a:noFill/>
            <a:round/>
            <a:headEnd/>
            <a:tailEnd/>
          </a:ln>
        </p:spPr>
        <p:txBody>
          <a:bodyPr lIns="82058" tIns="41029" rIns="82058" bIns="41029"/>
          <a:lstStyle/>
          <a:p>
            <a:endParaRPr lang="en-US"/>
          </a:p>
        </p:txBody>
      </p:sp>
      <p:sp>
        <p:nvSpPr>
          <p:cNvPr id="24645" name="Rectangle 72"/>
          <p:cNvSpPr>
            <a:spLocks noChangeArrowheads="1"/>
          </p:cNvSpPr>
          <p:nvPr/>
        </p:nvSpPr>
        <p:spPr bwMode="auto">
          <a:xfrm>
            <a:off x="6232525" y="4757738"/>
            <a:ext cx="1198563" cy="209550"/>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46" name="Rectangle 73"/>
          <p:cNvSpPr>
            <a:spLocks noChangeArrowheads="1"/>
          </p:cNvSpPr>
          <p:nvPr/>
        </p:nvSpPr>
        <p:spPr bwMode="auto">
          <a:xfrm>
            <a:off x="6572250" y="4799013"/>
            <a:ext cx="787400" cy="136525"/>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DEC Engineers</a:t>
            </a:r>
            <a:endParaRPr lang="en-US">
              <a:cs typeface="Arial" charset="0"/>
            </a:endParaRPr>
          </a:p>
        </p:txBody>
      </p:sp>
      <p:sp>
        <p:nvSpPr>
          <p:cNvPr id="24647" name="Rectangle 74"/>
          <p:cNvSpPr>
            <a:spLocks noChangeArrowheads="1"/>
          </p:cNvSpPr>
          <p:nvPr/>
        </p:nvSpPr>
        <p:spPr bwMode="auto">
          <a:xfrm>
            <a:off x="6232525" y="4967288"/>
            <a:ext cx="1198563" cy="625475"/>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48" name="Rectangle 75"/>
          <p:cNvSpPr>
            <a:spLocks noChangeArrowheads="1"/>
          </p:cNvSpPr>
          <p:nvPr/>
        </p:nvSpPr>
        <p:spPr bwMode="auto">
          <a:xfrm>
            <a:off x="6292850" y="5130800"/>
            <a:ext cx="923925" cy="153988"/>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Revise calculation</a:t>
            </a:r>
            <a:endParaRPr lang="en-US">
              <a:cs typeface="Arial" charset="0"/>
            </a:endParaRPr>
          </a:p>
        </p:txBody>
      </p:sp>
      <p:sp>
        <p:nvSpPr>
          <p:cNvPr id="24649" name="Rectangle 76"/>
          <p:cNvSpPr>
            <a:spLocks noChangeArrowheads="1"/>
          </p:cNvSpPr>
          <p:nvPr/>
        </p:nvSpPr>
        <p:spPr bwMode="auto">
          <a:xfrm>
            <a:off x="6534150" y="5278438"/>
            <a:ext cx="546100"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if required</a:t>
            </a:r>
            <a:endParaRPr lang="en-US">
              <a:cs typeface="Arial" charset="0"/>
            </a:endParaRPr>
          </a:p>
        </p:txBody>
      </p:sp>
      <p:sp>
        <p:nvSpPr>
          <p:cNvPr id="24650" name="Line 77"/>
          <p:cNvSpPr>
            <a:spLocks noChangeShapeType="1"/>
          </p:cNvSpPr>
          <p:nvPr/>
        </p:nvSpPr>
        <p:spPr bwMode="auto">
          <a:xfrm>
            <a:off x="5934075" y="5173663"/>
            <a:ext cx="228600" cy="1587"/>
          </a:xfrm>
          <a:prstGeom prst="line">
            <a:avLst/>
          </a:prstGeom>
          <a:noFill/>
          <a:ln w="4763">
            <a:solidFill>
              <a:srgbClr val="000000"/>
            </a:solidFill>
            <a:round/>
            <a:headEnd/>
            <a:tailEnd/>
          </a:ln>
        </p:spPr>
        <p:txBody>
          <a:bodyPr lIns="82058" tIns="41029" rIns="82058" bIns="41029"/>
          <a:lstStyle/>
          <a:p>
            <a:endParaRPr lang="en-US"/>
          </a:p>
        </p:txBody>
      </p:sp>
      <p:sp>
        <p:nvSpPr>
          <p:cNvPr id="24651" name="Freeform 78"/>
          <p:cNvSpPr>
            <a:spLocks/>
          </p:cNvSpPr>
          <p:nvPr/>
        </p:nvSpPr>
        <p:spPr bwMode="auto">
          <a:xfrm>
            <a:off x="6142038" y="5133975"/>
            <a:ext cx="90487" cy="82550"/>
          </a:xfrm>
          <a:custGeom>
            <a:avLst/>
            <a:gdLst>
              <a:gd name="T0" fmla="*/ 2147483647 w 57"/>
              <a:gd name="T1" fmla="*/ 2147483647 h 52"/>
              <a:gd name="T2" fmla="*/ 0 w 57"/>
              <a:gd name="T3" fmla="*/ 2147483647 h 52"/>
              <a:gd name="T4" fmla="*/ 2147483647 w 57"/>
              <a:gd name="T5" fmla="*/ 2147483647 h 52"/>
              <a:gd name="T6" fmla="*/ 2147483647 w 57"/>
              <a:gd name="T7" fmla="*/ 2147483647 h 52"/>
              <a:gd name="T8" fmla="*/ 2147483647 w 57"/>
              <a:gd name="T9" fmla="*/ 2147483647 h 52"/>
              <a:gd name="T10" fmla="*/ 2147483647 w 57"/>
              <a:gd name="T11" fmla="*/ 2147483647 h 52"/>
              <a:gd name="T12" fmla="*/ 2147483647 w 57"/>
              <a:gd name="T13" fmla="*/ 2147483647 h 52"/>
              <a:gd name="T14" fmla="*/ 2147483647 w 57"/>
              <a:gd name="T15" fmla="*/ 2147483647 h 52"/>
              <a:gd name="T16" fmla="*/ 2147483647 w 57"/>
              <a:gd name="T17" fmla="*/ 2147483647 h 52"/>
              <a:gd name="T18" fmla="*/ 2147483647 w 57"/>
              <a:gd name="T19" fmla="*/ 2147483647 h 52"/>
              <a:gd name="T20" fmla="*/ 2147483647 w 57"/>
              <a:gd name="T21" fmla="*/ 2147483647 h 52"/>
              <a:gd name="T22" fmla="*/ 2147483647 w 57"/>
              <a:gd name="T23" fmla="*/ 2147483647 h 52"/>
              <a:gd name="T24" fmla="*/ 0 w 57"/>
              <a:gd name="T25" fmla="*/ 0 h 52"/>
              <a:gd name="T26" fmla="*/ 2147483647 w 57"/>
              <a:gd name="T27" fmla="*/ 2147483647 h 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52"/>
              <a:gd name="T44" fmla="*/ 57 w 57"/>
              <a:gd name="T45" fmla="*/ 52 h 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52">
                <a:moveTo>
                  <a:pt x="57" y="25"/>
                </a:moveTo>
                <a:lnTo>
                  <a:pt x="0" y="52"/>
                </a:lnTo>
                <a:lnTo>
                  <a:pt x="1" y="50"/>
                </a:lnTo>
                <a:lnTo>
                  <a:pt x="3" y="43"/>
                </a:lnTo>
                <a:lnTo>
                  <a:pt x="5" y="41"/>
                </a:lnTo>
                <a:lnTo>
                  <a:pt x="5" y="37"/>
                </a:lnTo>
                <a:lnTo>
                  <a:pt x="6" y="34"/>
                </a:lnTo>
                <a:lnTo>
                  <a:pt x="6" y="17"/>
                </a:lnTo>
                <a:lnTo>
                  <a:pt x="5" y="14"/>
                </a:lnTo>
                <a:lnTo>
                  <a:pt x="5" y="13"/>
                </a:lnTo>
                <a:lnTo>
                  <a:pt x="2" y="6"/>
                </a:lnTo>
                <a:lnTo>
                  <a:pt x="1" y="3"/>
                </a:lnTo>
                <a:lnTo>
                  <a:pt x="0" y="0"/>
                </a:lnTo>
                <a:lnTo>
                  <a:pt x="57" y="25"/>
                </a:lnTo>
                <a:close/>
              </a:path>
            </a:pathLst>
          </a:custGeom>
          <a:solidFill>
            <a:srgbClr val="000000"/>
          </a:solidFill>
          <a:ln w="9525">
            <a:noFill/>
            <a:round/>
            <a:headEnd/>
            <a:tailEnd/>
          </a:ln>
        </p:spPr>
        <p:txBody>
          <a:bodyPr lIns="82058" tIns="41029" rIns="82058" bIns="41029"/>
          <a:lstStyle/>
          <a:p>
            <a:endParaRPr lang="en-US"/>
          </a:p>
        </p:txBody>
      </p:sp>
      <p:sp>
        <p:nvSpPr>
          <p:cNvPr id="24652" name="Freeform 79"/>
          <p:cNvSpPr>
            <a:spLocks/>
          </p:cNvSpPr>
          <p:nvPr/>
        </p:nvSpPr>
        <p:spPr bwMode="auto">
          <a:xfrm>
            <a:off x="6288088" y="4776788"/>
            <a:ext cx="187325" cy="173037"/>
          </a:xfrm>
          <a:custGeom>
            <a:avLst/>
            <a:gdLst>
              <a:gd name="T0" fmla="*/ 0 w 118"/>
              <a:gd name="T1" fmla="*/ 2147483647 h 109"/>
              <a:gd name="T2" fmla="*/ 2147483647 w 118"/>
              <a:gd name="T3" fmla="*/ 2147483647 h 109"/>
              <a:gd name="T4" fmla="*/ 2147483647 w 118"/>
              <a:gd name="T5" fmla="*/ 2147483647 h 109"/>
              <a:gd name="T6" fmla="*/ 2147483647 w 118"/>
              <a:gd name="T7" fmla="*/ 2147483647 h 109"/>
              <a:gd name="T8" fmla="*/ 2147483647 w 118"/>
              <a:gd name="T9" fmla="*/ 2147483647 h 109"/>
              <a:gd name="T10" fmla="*/ 2147483647 w 118"/>
              <a:gd name="T11" fmla="*/ 0 h 109"/>
              <a:gd name="T12" fmla="*/ 2147483647 w 118"/>
              <a:gd name="T13" fmla="*/ 0 h 109"/>
              <a:gd name="T14" fmla="*/ 2147483647 w 118"/>
              <a:gd name="T15" fmla="*/ 2147483647 h 109"/>
              <a:gd name="T16" fmla="*/ 2147483647 w 118"/>
              <a:gd name="T17" fmla="*/ 2147483647 h 109"/>
              <a:gd name="T18" fmla="*/ 2147483647 w 118"/>
              <a:gd name="T19" fmla="*/ 2147483647 h 109"/>
              <a:gd name="T20" fmla="*/ 2147483647 w 118"/>
              <a:gd name="T21" fmla="*/ 2147483647 h 109"/>
              <a:gd name="T22" fmla="*/ 2147483647 w 118"/>
              <a:gd name="T23" fmla="*/ 2147483647 h 109"/>
              <a:gd name="T24" fmla="*/ 2147483647 w 118"/>
              <a:gd name="T25" fmla="*/ 2147483647 h 109"/>
              <a:gd name="T26" fmla="*/ 2147483647 w 118"/>
              <a:gd name="T27" fmla="*/ 2147483647 h 109"/>
              <a:gd name="T28" fmla="*/ 2147483647 w 118"/>
              <a:gd name="T29" fmla="*/ 2147483647 h 109"/>
              <a:gd name="T30" fmla="*/ 2147483647 w 118"/>
              <a:gd name="T31" fmla="*/ 2147483647 h 109"/>
              <a:gd name="T32" fmla="*/ 2147483647 w 118"/>
              <a:gd name="T33" fmla="*/ 2147483647 h 109"/>
              <a:gd name="T34" fmla="*/ 2147483647 w 118"/>
              <a:gd name="T35" fmla="*/ 2147483647 h 109"/>
              <a:gd name="T36" fmla="*/ 2147483647 w 118"/>
              <a:gd name="T37" fmla="*/ 2147483647 h 109"/>
              <a:gd name="T38" fmla="*/ 2147483647 w 118"/>
              <a:gd name="T39" fmla="*/ 2147483647 h 109"/>
              <a:gd name="T40" fmla="*/ 2147483647 w 118"/>
              <a:gd name="T41" fmla="*/ 2147483647 h 109"/>
              <a:gd name="T42" fmla="*/ 2147483647 w 118"/>
              <a:gd name="T43" fmla="*/ 2147483647 h 109"/>
              <a:gd name="T44" fmla="*/ 0 w 118"/>
              <a:gd name="T45" fmla="*/ 2147483647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
              <a:gd name="T70" fmla="*/ 0 h 109"/>
              <a:gd name="T71" fmla="*/ 118 w 118"/>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 h="109">
                <a:moveTo>
                  <a:pt x="0" y="54"/>
                </a:moveTo>
                <a:lnTo>
                  <a:pt x="3" y="39"/>
                </a:lnTo>
                <a:lnTo>
                  <a:pt x="10" y="24"/>
                </a:lnTo>
                <a:lnTo>
                  <a:pt x="21" y="13"/>
                </a:lnTo>
                <a:lnTo>
                  <a:pt x="36" y="5"/>
                </a:lnTo>
                <a:lnTo>
                  <a:pt x="51" y="0"/>
                </a:lnTo>
                <a:lnTo>
                  <a:pt x="68" y="0"/>
                </a:lnTo>
                <a:lnTo>
                  <a:pt x="85" y="5"/>
                </a:lnTo>
                <a:lnTo>
                  <a:pt x="98" y="13"/>
                </a:lnTo>
                <a:lnTo>
                  <a:pt x="108" y="24"/>
                </a:lnTo>
                <a:lnTo>
                  <a:pt x="116" y="39"/>
                </a:lnTo>
                <a:lnTo>
                  <a:pt x="118" y="54"/>
                </a:lnTo>
                <a:lnTo>
                  <a:pt x="116" y="69"/>
                </a:lnTo>
                <a:lnTo>
                  <a:pt x="108" y="84"/>
                </a:lnTo>
                <a:lnTo>
                  <a:pt x="98" y="96"/>
                </a:lnTo>
                <a:lnTo>
                  <a:pt x="85" y="104"/>
                </a:lnTo>
                <a:lnTo>
                  <a:pt x="68" y="109"/>
                </a:lnTo>
                <a:lnTo>
                  <a:pt x="51" y="109"/>
                </a:lnTo>
                <a:lnTo>
                  <a:pt x="36" y="104"/>
                </a:lnTo>
                <a:lnTo>
                  <a:pt x="21" y="96"/>
                </a:lnTo>
                <a:lnTo>
                  <a:pt x="10" y="84"/>
                </a:lnTo>
                <a:lnTo>
                  <a:pt x="3" y="69"/>
                </a:lnTo>
                <a:lnTo>
                  <a:pt x="0" y="54"/>
                </a:lnTo>
                <a:close/>
              </a:path>
            </a:pathLst>
          </a:custGeom>
          <a:solidFill>
            <a:srgbClr val="00FFFF"/>
          </a:solidFill>
          <a:ln w="9525">
            <a:noFill/>
            <a:round/>
            <a:headEnd/>
            <a:tailEnd/>
          </a:ln>
        </p:spPr>
        <p:txBody>
          <a:bodyPr lIns="82058" tIns="41029" rIns="82058" bIns="41029"/>
          <a:lstStyle/>
          <a:p>
            <a:endParaRPr lang="en-US"/>
          </a:p>
        </p:txBody>
      </p:sp>
      <p:sp>
        <p:nvSpPr>
          <p:cNvPr id="24653" name="Rectangle 80"/>
          <p:cNvSpPr>
            <a:spLocks noChangeArrowheads="1"/>
          </p:cNvSpPr>
          <p:nvPr/>
        </p:nvSpPr>
        <p:spPr bwMode="auto">
          <a:xfrm>
            <a:off x="6354763" y="4805363"/>
            <a:ext cx="44450" cy="107950"/>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8</a:t>
            </a:r>
            <a:endParaRPr lang="en-US">
              <a:cs typeface="Arial" charset="0"/>
            </a:endParaRPr>
          </a:p>
        </p:txBody>
      </p:sp>
      <p:sp>
        <p:nvSpPr>
          <p:cNvPr id="24654" name="Rectangle 81"/>
          <p:cNvSpPr>
            <a:spLocks noChangeArrowheads="1"/>
          </p:cNvSpPr>
          <p:nvPr/>
        </p:nvSpPr>
        <p:spPr bwMode="auto">
          <a:xfrm>
            <a:off x="6972300" y="3468688"/>
            <a:ext cx="1195388" cy="207962"/>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55" name="Rectangle 82"/>
          <p:cNvSpPr>
            <a:spLocks noChangeArrowheads="1"/>
          </p:cNvSpPr>
          <p:nvPr/>
        </p:nvSpPr>
        <p:spPr bwMode="auto">
          <a:xfrm>
            <a:off x="7310438" y="3508375"/>
            <a:ext cx="787400" cy="136525"/>
          </a:xfrm>
          <a:prstGeom prst="rect">
            <a:avLst/>
          </a:prstGeom>
          <a:noFill/>
          <a:ln w="9525">
            <a:noFill/>
            <a:miter lim="800000"/>
            <a:headEnd/>
            <a:tailEnd/>
          </a:ln>
        </p:spPr>
        <p:txBody>
          <a:bodyPr wrap="none" lIns="0" tIns="0" rIns="0" bIns="0">
            <a:spAutoFit/>
          </a:bodyPr>
          <a:lstStyle/>
          <a:p>
            <a:r>
              <a:rPr lang="en-US" sz="900">
                <a:solidFill>
                  <a:srgbClr val="000000"/>
                </a:solidFill>
                <a:cs typeface="Arial" charset="0"/>
              </a:rPr>
              <a:t>DEC Engineers</a:t>
            </a:r>
            <a:endParaRPr lang="en-US">
              <a:cs typeface="Arial" charset="0"/>
            </a:endParaRPr>
          </a:p>
        </p:txBody>
      </p:sp>
      <p:sp>
        <p:nvSpPr>
          <p:cNvPr id="24656" name="Rectangle 83"/>
          <p:cNvSpPr>
            <a:spLocks noChangeArrowheads="1"/>
          </p:cNvSpPr>
          <p:nvPr/>
        </p:nvSpPr>
        <p:spPr bwMode="auto">
          <a:xfrm>
            <a:off x="6972300" y="3676650"/>
            <a:ext cx="1195388" cy="627063"/>
          </a:xfrm>
          <a:prstGeom prst="rect">
            <a:avLst/>
          </a:prstGeom>
          <a:solidFill>
            <a:srgbClr val="FFFFFF"/>
          </a:solidFill>
          <a:ln w="4763">
            <a:solidFill>
              <a:srgbClr val="0000FF"/>
            </a:solidFill>
            <a:miter lim="800000"/>
            <a:headEnd/>
            <a:tailEnd/>
          </a:ln>
        </p:spPr>
        <p:txBody>
          <a:bodyPr lIns="82058" tIns="41029" rIns="82058" bIns="41029"/>
          <a:lstStyle/>
          <a:p>
            <a:endParaRPr lang="en-US"/>
          </a:p>
        </p:txBody>
      </p:sp>
      <p:sp>
        <p:nvSpPr>
          <p:cNvPr id="24657" name="Rectangle 84"/>
          <p:cNvSpPr>
            <a:spLocks noChangeArrowheads="1"/>
          </p:cNvSpPr>
          <p:nvPr/>
        </p:nvSpPr>
        <p:spPr bwMode="auto">
          <a:xfrm>
            <a:off x="7021513" y="3767138"/>
            <a:ext cx="952500"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Ensure software is</a:t>
            </a:r>
            <a:endParaRPr lang="en-US">
              <a:cs typeface="Arial" charset="0"/>
            </a:endParaRPr>
          </a:p>
        </p:txBody>
      </p:sp>
      <p:sp>
        <p:nvSpPr>
          <p:cNvPr id="24658" name="Rectangle 85"/>
          <p:cNvSpPr>
            <a:spLocks noChangeArrowheads="1"/>
          </p:cNvSpPr>
          <p:nvPr/>
        </p:nvSpPr>
        <p:spPr bwMode="auto">
          <a:xfrm>
            <a:off x="7175500" y="3916363"/>
            <a:ext cx="703263"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validated and</a:t>
            </a:r>
            <a:endParaRPr lang="en-US">
              <a:cs typeface="Arial" charset="0"/>
            </a:endParaRPr>
          </a:p>
        </p:txBody>
      </p:sp>
      <p:sp>
        <p:nvSpPr>
          <p:cNvPr id="24659" name="Rectangle 86"/>
          <p:cNvSpPr>
            <a:spLocks noChangeArrowheads="1"/>
          </p:cNvSpPr>
          <p:nvPr/>
        </p:nvSpPr>
        <p:spPr bwMode="auto">
          <a:xfrm>
            <a:off x="7356475" y="4065588"/>
            <a:ext cx="393700" cy="153987"/>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verified</a:t>
            </a:r>
            <a:endParaRPr lang="en-US">
              <a:cs typeface="Arial" charset="0"/>
            </a:endParaRPr>
          </a:p>
        </p:txBody>
      </p:sp>
      <p:sp>
        <p:nvSpPr>
          <p:cNvPr id="24660" name="Line 87"/>
          <p:cNvSpPr>
            <a:spLocks noChangeShapeType="1"/>
          </p:cNvSpPr>
          <p:nvPr/>
        </p:nvSpPr>
        <p:spPr bwMode="auto">
          <a:xfrm>
            <a:off x="6665913" y="3886200"/>
            <a:ext cx="234950" cy="1588"/>
          </a:xfrm>
          <a:prstGeom prst="line">
            <a:avLst/>
          </a:prstGeom>
          <a:noFill/>
          <a:ln w="4763">
            <a:solidFill>
              <a:srgbClr val="000000"/>
            </a:solidFill>
            <a:round/>
            <a:headEnd/>
            <a:tailEnd/>
          </a:ln>
        </p:spPr>
        <p:txBody>
          <a:bodyPr lIns="82058" tIns="41029" rIns="82058" bIns="41029"/>
          <a:lstStyle/>
          <a:p>
            <a:endParaRPr lang="en-US"/>
          </a:p>
        </p:txBody>
      </p:sp>
      <p:sp>
        <p:nvSpPr>
          <p:cNvPr id="24661" name="Freeform 88"/>
          <p:cNvSpPr>
            <a:spLocks/>
          </p:cNvSpPr>
          <p:nvPr/>
        </p:nvSpPr>
        <p:spPr bwMode="auto">
          <a:xfrm>
            <a:off x="6878638" y="3843338"/>
            <a:ext cx="93662" cy="85725"/>
          </a:xfrm>
          <a:custGeom>
            <a:avLst/>
            <a:gdLst>
              <a:gd name="T0" fmla="*/ 2147483647 w 59"/>
              <a:gd name="T1" fmla="*/ 2147483647 h 54"/>
              <a:gd name="T2" fmla="*/ 0 w 59"/>
              <a:gd name="T3" fmla="*/ 2147483647 h 54"/>
              <a:gd name="T4" fmla="*/ 2147483647 w 59"/>
              <a:gd name="T5" fmla="*/ 2147483647 h 54"/>
              <a:gd name="T6" fmla="*/ 2147483647 w 59"/>
              <a:gd name="T7" fmla="*/ 2147483647 h 54"/>
              <a:gd name="T8" fmla="*/ 2147483647 w 59"/>
              <a:gd name="T9" fmla="*/ 2147483647 h 54"/>
              <a:gd name="T10" fmla="*/ 2147483647 w 59"/>
              <a:gd name="T11" fmla="*/ 2147483647 h 54"/>
              <a:gd name="T12" fmla="*/ 2147483647 w 59"/>
              <a:gd name="T13" fmla="*/ 2147483647 h 54"/>
              <a:gd name="T14" fmla="*/ 2147483647 w 59"/>
              <a:gd name="T15" fmla="*/ 2147483647 h 54"/>
              <a:gd name="T16" fmla="*/ 2147483647 w 59"/>
              <a:gd name="T17" fmla="*/ 2147483647 h 54"/>
              <a:gd name="T18" fmla="*/ 2147483647 w 59"/>
              <a:gd name="T19" fmla="*/ 2147483647 h 54"/>
              <a:gd name="T20" fmla="*/ 2147483647 w 59"/>
              <a:gd name="T21" fmla="*/ 2147483647 h 54"/>
              <a:gd name="T22" fmla="*/ 2147483647 w 59"/>
              <a:gd name="T23" fmla="*/ 2147483647 h 54"/>
              <a:gd name="T24" fmla="*/ 2147483647 w 59"/>
              <a:gd name="T25" fmla="*/ 2147483647 h 54"/>
              <a:gd name="T26" fmla="*/ 2147483647 w 59"/>
              <a:gd name="T27" fmla="*/ 2147483647 h 54"/>
              <a:gd name="T28" fmla="*/ 0 w 59"/>
              <a:gd name="T29" fmla="*/ 0 h 54"/>
              <a:gd name="T30" fmla="*/ 2147483647 w 59"/>
              <a:gd name="T31" fmla="*/ 2147483647 h 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9"/>
              <a:gd name="T49" fmla="*/ 0 h 54"/>
              <a:gd name="T50" fmla="*/ 59 w 59"/>
              <a:gd name="T51" fmla="*/ 54 h 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9" h="54">
                <a:moveTo>
                  <a:pt x="59" y="27"/>
                </a:moveTo>
                <a:lnTo>
                  <a:pt x="0" y="54"/>
                </a:lnTo>
                <a:lnTo>
                  <a:pt x="1" y="50"/>
                </a:lnTo>
                <a:lnTo>
                  <a:pt x="2" y="48"/>
                </a:lnTo>
                <a:lnTo>
                  <a:pt x="5" y="41"/>
                </a:lnTo>
                <a:lnTo>
                  <a:pt x="6" y="39"/>
                </a:lnTo>
                <a:lnTo>
                  <a:pt x="6" y="32"/>
                </a:lnTo>
                <a:lnTo>
                  <a:pt x="8" y="28"/>
                </a:lnTo>
                <a:lnTo>
                  <a:pt x="8" y="26"/>
                </a:lnTo>
                <a:lnTo>
                  <a:pt x="6" y="22"/>
                </a:lnTo>
                <a:lnTo>
                  <a:pt x="6" y="15"/>
                </a:lnTo>
                <a:lnTo>
                  <a:pt x="5" y="12"/>
                </a:lnTo>
                <a:lnTo>
                  <a:pt x="4" y="9"/>
                </a:lnTo>
                <a:lnTo>
                  <a:pt x="1" y="2"/>
                </a:lnTo>
                <a:lnTo>
                  <a:pt x="0" y="0"/>
                </a:lnTo>
                <a:lnTo>
                  <a:pt x="59" y="27"/>
                </a:lnTo>
                <a:close/>
              </a:path>
            </a:pathLst>
          </a:custGeom>
          <a:solidFill>
            <a:srgbClr val="000000"/>
          </a:solidFill>
          <a:ln w="9525">
            <a:noFill/>
            <a:round/>
            <a:headEnd/>
            <a:tailEnd/>
          </a:ln>
        </p:spPr>
        <p:txBody>
          <a:bodyPr lIns="82058" tIns="41029" rIns="82058" bIns="41029"/>
          <a:lstStyle/>
          <a:p>
            <a:endParaRPr lang="en-US"/>
          </a:p>
        </p:txBody>
      </p:sp>
      <p:sp>
        <p:nvSpPr>
          <p:cNvPr id="24662" name="Freeform 89"/>
          <p:cNvSpPr>
            <a:spLocks/>
          </p:cNvSpPr>
          <p:nvPr/>
        </p:nvSpPr>
        <p:spPr bwMode="auto">
          <a:xfrm>
            <a:off x="7027863" y="3486150"/>
            <a:ext cx="185737" cy="173038"/>
          </a:xfrm>
          <a:custGeom>
            <a:avLst/>
            <a:gdLst>
              <a:gd name="T0" fmla="*/ 0 w 117"/>
              <a:gd name="T1" fmla="*/ 2147483647 h 109"/>
              <a:gd name="T2" fmla="*/ 2147483647 w 117"/>
              <a:gd name="T3" fmla="*/ 2147483647 h 109"/>
              <a:gd name="T4" fmla="*/ 2147483647 w 117"/>
              <a:gd name="T5" fmla="*/ 2147483647 h 109"/>
              <a:gd name="T6" fmla="*/ 2147483647 w 117"/>
              <a:gd name="T7" fmla="*/ 2147483647 h 109"/>
              <a:gd name="T8" fmla="*/ 2147483647 w 117"/>
              <a:gd name="T9" fmla="*/ 2147483647 h 109"/>
              <a:gd name="T10" fmla="*/ 2147483647 w 117"/>
              <a:gd name="T11" fmla="*/ 0 h 109"/>
              <a:gd name="T12" fmla="*/ 2147483647 w 117"/>
              <a:gd name="T13" fmla="*/ 0 h 109"/>
              <a:gd name="T14" fmla="*/ 2147483647 w 117"/>
              <a:gd name="T15" fmla="*/ 2147483647 h 109"/>
              <a:gd name="T16" fmla="*/ 2147483647 w 117"/>
              <a:gd name="T17" fmla="*/ 2147483647 h 109"/>
              <a:gd name="T18" fmla="*/ 2147483647 w 117"/>
              <a:gd name="T19" fmla="*/ 2147483647 h 109"/>
              <a:gd name="T20" fmla="*/ 2147483647 w 117"/>
              <a:gd name="T21" fmla="*/ 2147483647 h 109"/>
              <a:gd name="T22" fmla="*/ 2147483647 w 117"/>
              <a:gd name="T23" fmla="*/ 2147483647 h 109"/>
              <a:gd name="T24" fmla="*/ 2147483647 w 117"/>
              <a:gd name="T25" fmla="*/ 2147483647 h 109"/>
              <a:gd name="T26" fmla="*/ 2147483647 w 117"/>
              <a:gd name="T27" fmla="*/ 2147483647 h 109"/>
              <a:gd name="T28" fmla="*/ 2147483647 w 117"/>
              <a:gd name="T29" fmla="*/ 2147483647 h 109"/>
              <a:gd name="T30" fmla="*/ 2147483647 w 117"/>
              <a:gd name="T31" fmla="*/ 2147483647 h 109"/>
              <a:gd name="T32" fmla="*/ 2147483647 w 117"/>
              <a:gd name="T33" fmla="*/ 2147483647 h 109"/>
              <a:gd name="T34" fmla="*/ 2147483647 w 117"/>
              <a:gd name="T35" fmla="*/ 2147483647 h 109"/>
              <a:gd name="T36" fmla="*/ 2147483647 w 117"/>
              <a:gd name="T37" fmla="*/ 2147483647 h 109"/>
              <a:gd name="T38" fmla="*/ 2147483647 w 117"/>
              <a:gd name="T39" fmla="*/ 2147483647 h 109"/>
              <a:gd name="T40" fmla="*/ 2147483647 w 117"/>
              <a:gd name="T41" fmla="*/ 2147483647 h 109"/>
              <a:gd name="T42" fmla="*/ 2147483647 w 117"/>
              <a:gd name="T43" fmla="*/ 2147483647 h 109"/>
              <a:gd name="T44" fmla="*/ 0 w 117"/>
              <a:gd name="T45" fmla="*/ 2147483647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7"/>
              <a:gd name="T70" fmla="*/ 0 h 109"/>
              <a:gd name="T71" fmla="*/ 117 w 117"/>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7" h="109">
                <a:moveTo>
                  <a:pt x="0" y="54"/>
                </a:moveTo>
                <a:lnTo>
                  <a:pt x="1" y="39"/>
                </a:lnTo>
                <a:lnTo>
                  <a:pt x="9" y="25"/>
                </a:lnTo>
                <a:lnTo>
                  <a:pt x="20" y="13"/>
                </a:lnTo>
                <a:lnTo>
                  <a:pt x="34" y="5"/>
                </a:lnTo>
                <a:lnTo>
                  <a:pt x="50" y="0"/>
                </a:lnTo>
                <a:lnTo>
                  <a:pt x="67" y="0"/>
                </a:lnTo>
                <a:lnTo>
                  <a:pt x="83" y="5"/>
                </a:lnTo>
                <a:lnTo>
                  <a:pt x="97" y="13"/>
                </a:lnTo>
                <a:lnTo>
                  <a:pt x="108" y="25"/>
                </a:lnTo>
                <a:lnTo>
                  <a:pt x="114" y="39"/>
                </a:lnTo>
                <a:lnTo>
                  <a:pt x="117" y="54"/>
                </a:lnTo>
                <a:lnTo>
                  <a:pt x="114" y="69"/>
                </a:lnTo>
                <a:lnTo>
                  <a:pt x="108" y="85"/>
                </a:lnTo>
                <a:lnTo>
                  <a:pt x="97" y="96"/>
                </a:lnTo>
                <a:lnTo>
                  <a:pt x="83" y="105"/>
                </a:lnTo>
                <a:lnTo>
                  <a:pt x="67" y="109"/>
                </a:lnTo>
                <a:lnTo>
                  <a:pt x="50" y="109"/>
                </a:lnTo>
                <a:lnTo>
                  <a:pt x="34" y="105"/>
                </a:lnTo>
                <a:lnTo>
                  <a:pt x="20" y="96"/>
                </a:lnTo>
                <a:lnTo>
                  <a:pt x="9" y="85"/>
                </a:lnTo>
                <a:lnTo>
                  <a:pt x="1" y="69"/>
                </a:lnTo>
                <a:lnTo>
                  <a:pt x="0" y="54"/>
                </a:lnTo>
                <a:close/>
              </a:path>
            </a:pathLst>
          </a:custGeom>
          <a:solidFill>
            <a:srgbClr val="00FFFF"/>
          </a:solidFill>
          <a:ln w="9525">
            <a:noFill/>
            <a:round/>
            <a:headEnd/>
            <a:tailEnd/>
          </a:ln>
        </p:spPr>
        <p:txBody>
          <a:bodyPr lIns="82058" tIns="41029" rIns="82058" bIns="41029"/>
          <a:lstStyle/>
          <a:p>
            <a:endParaRPr lang="en-US"/>
          </a:p>
        </p:txBody>
      </p:sp>
      <p:sp>
        <p:nvSpPr>
          <p:cNvPr id="24663" name="Rectangle 90"/>
          <p:cNvSpPr>
            <a:spLocks noChangeArrowheads="1"/>
          </p:cNvSpPr>
          <p:nvPr/>
        </p:nvSpPr>
        <p:spPr bwMode="auto">
          <a:xfrm>
            <a:off x="7091363" y="3516313"/>
            <a:ext cx="46037" cy="107950"/>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3</a:t>
            </a:r>
            <a:endParaRPr lang="en-US">
              <a:cs typeface="Arial" charset="0"/>
            </a:endParaRPr>
          </a:p>
        </p:txBody>
      </p:sp>
      <p:sp>
        <p:nvSpPr>
          <p:cNvPr id="24664" name="Freeform 91"/>
          <p:cNvSpPr>
            <a:spLocks/>
          </p:cNvSpPr>
          <p:nvPr/>
        </p:nvSpPr>
        <p:spPr bwMode="auto">
          <a:xfrm>
            <a:off x="1970088" y="4310063"/>
            <a:ext cx="5629275" cy="379412"/>
          </a:xfrm>
          <a:custGeom>
            <a:avLst/>
            <a:gdLst>
              <a:gd name="T0" fmla="*/ 2147483647 w 3546"/>
              <a:gd name="T1" fmla="*/ 0 h 239"/>
              <a:gd name="T2" fmla="*/ 2147483647 w 3546"/>
              <a:gd name="T3" fmla="*/ 2147483647 h 239"/>
              <a:gd name="T4" fmla="*/ 0 w 3546"/>
              <a:gd name="T5" fmla="*/ 2147483647 h 239"/>
              <a:gd name="T6" fmla="*/ 0 w 3546"/>
              <a:gd name="T7" fmla="*/ 2147483647 h 239"/>
              <a:gd name="T8" fmla="*/ 0 60000 65536"/>
              <a:gd name="T9" fmla="*/ 0 60000 65536"/>
              <a:gd name="T10" fmla="*/ 0 60000 65536"/>
              <a:gd name="T11" fmla="*/ 0 60000 65536"/>
              <a:gd name="T12" fmla="*/ 0 w 3546"/>
              <a:gd name="T13" fmla="*/ 0 h 239"/>
              <a:gd name="T14" fmla="*/ 3546 w 3546"/>
              <a:gd name="T15" fmla="*/ 239 h 239"/>
            </a:gdLst>
            <a:ahLst/>
            <a:cxnLst>
              <a:cxn ang="T8">
                <a:pos x="T0" y="T1"/>
              </a:cxn>
              <a:cxn ang="T9">
                <a:pos x="T2" y="T3"/>
              </a:cxn>
              <a:cxn ang="T10">
                <a:pos x="T4" y="T5"/>
              </a:cxn>
              <a:cxn ang="T11">
                <a:pos x="T6" y="T7"/>
              </a:cxn>
            </a:cxnLst>
            <a:rect l="T12" t="T13" r="T14" b="T15"/>
            <a:pathLst>
              <a:path w="3546" h="239">
                <a:moveTo>
                  <a:pt x="3546" y="0"/>
                </a:moveTo>
                <a:lnTo>
                  <a:pt x="3546" y="132"/>
                </a:lnTo>
                <a:lnTo>
                  <a:pt x="0" y="132"/>
                </a:lnTo>
                <a:lnTo>
                  <a:pt x="0" y="239"/>
                </a:lnTo>
              </a:path>
            </a:pathLst>
          </a:custGeom>
          <a:noFill/>
          <a:ln w="4763">
            <a:solidFill>
              <a:srgbClr val="000000"/>
            </a:solidFill>
            <a:prstDash val="solid"/>
            <a:round/>
            <a:headEnd/>
            <a:tailEnd/>
          </a:ln>
        </p:spPr>
        <p:txBody>
          <a:bodyPr lIns="82058" tIns="41029" rIns="82058" bIns="41029"/>
          <a:lstStyle/>
          <a:p>
            <a:endParaRPr lang="en-US"/>
          </a:p>
        </p:txBody>
      </p:sp>
      <p:sp>
        <p:nvSpPr>
          <p:cNvPr id="24665" name="Freeform 92"/>
          <p:cNvSpPr>
            <a:spLocks/>
          </p:cNvSpPr>
          <p:nvPr/>
        </p:nvSpPr>
        <p:spPr bwMode="auto">
          <a:xfrm>
            <a:off x="1924050" y="4678363"/>
            <a:ext cx="92075" cy="85725"/>
          </a:xfrm>
          <a:custGeom>
            <a:avLst/>
            <a:gdLst>
              <a:gd name="T0" fmla="*/ 2147483647 w 58"/>
              <a:gd name="T1" fmla="*/ 0 h 54"/>
              <a:gd name="T2" fmla="*/ 2147483647 w 58"/>
              <a:gd name="T3" fmla="*/ 2147483647 h 54"/>
              <a:gd name="T4" fmla="*/ 0 w 58"/>
              <a:gd name="T5" fmla="*/ 0 h 54"/>
              <a:gd name="T6" fmla="*/ 2147483647 w 58"/>
              <a:gd name="T7" fmla="*/ 0 h 54"/>
              <a:gd name="T8" fmla="*/ 0 60000 65536"/>
              <a:gd name="T9" fmla="*/ 0 60000 65536"/>
              <a:gd name="T10" fmla="*/ 0 60000 65536"/>
              <a:gd name="T11" fmla="*/ 0 60000 65536"/>
              <a:gd name="T12" fmla="*/ 0 w 58"/>
              <a:gd name="T13" fmla="*/ 0 h 54"/>
              <a:gd name="T14" fmla="*/ 58 w 58"/>
              <a:gd name="T15" fmla="*/ 54 h 54"/>
            </a:gdLst>
            <a:ahLst/>
            <a:cxnLst>
              <a:cxn ang="T8">
                <a:pos x="T0" y="T1"/>
              </a:cxn>
              <a:cxn ang="T9">
                <a:pos x="T2" y="T3"/>
              </a:cxn>
              <a:cxn ang="T10">
                <a:pos x="T4" y="T5"/>
              </a:cxn>
              <a:cxn ang="T11">
                <a:pos x="T6" y="T7"/>
              </a:cxn>
            </a:cxnLst>
            <a:rect l="T12" t="T13" r="T14" b="T15"/>
            <a:pathLst>
              <a:path w="58" h="54">
                <a:moveTo>
                  <a:pt x="58" y="0"/>
                </a:moveTo>
                <a:lnTo>
                  <a:pt x="29" y="54"/>
                </a:lnTo>
                <a:lnTo>
                  <a:pt x="0" y="0"/>
                </a:lnTo>
                <a:lnTo>
                  <a:pt x="58" y="0"/>
                </a:lnTo>
                <a:close/>
              </a:path>
            </a:pathLst>
          </a:custGeom>
          <a:solidFill>
            <a:srgbClr val="000000"/>
          </a:solidFill>
          <a:ln w="9525">
            <a:noFill/>
            <a:round/>
            <a:headEnd/>
            <a:tailEnd/>
          </a:ln>
        </p:spPr>
        <p:txBody>
          <a:bodyPr lIns="82058" tIns="41029" rIns="82058" bIns="41029"/>
          <a:lstStyle/>
          <a:p>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idx="4294967295"/>
          </p:nvPr>
        </p:nvSpPr>
        <p:spPr/>
        <p:txBody>
          <a:bodyPr/>
          <a:lstStyle/>
          <a:p>
            <a:pPr marL="495300" indent="-495300" eaLnBrk="1" hangingPunct="1"/>
            <a:r>
              <a:rPr lang="en-US" sz="2400" smtClean="0">
                <a:latin typeface="Arial" charset="0"/>
              </a:rPr>
              <a:t>Calculations – Key Points</a:t>
            </a:r>
          </a:p>
        </p:txBody>
      </p:sp>
      <p:sp>
        <p:nvSpPr>
          <p:cNvPr id="26626" name="Rectangle 3"/>
          <p:cNvSpPr>
            <a:spLocks noGrp="1" noChangeArrowheads="1"/>
          </p:cNvSpPr>
          <p:nvPr>
            <p:ph idx="4294967295"/>
          </p:nvPr>
        </p:nvSpPr>
        <p:spPr>
          <a:xfrm>
            <a:off x="457200" y="1295400"/>
            <a:ext cx="7908925" cy="3538538"/>
          </a:xfrm>
        </p:spPr>
        <p:txBody>
          <a:bodyPr/>
          <a:lstStyle/>
          <a:p>
            <a:pPr marL="374650" indent="-374650" defTabSz="819150" eaLnBrk="1" hangingPunct="1">
              <a:buClr>
                <a:schemeClr val="tx1"/>
              </a:buClr>
              <a:buFont typeface="Wingdings" pitchFamily="2" charset="2"/>
              <a:buChar char="§"/>
            </a:pPr>
            <a:r>
              <a:rPr lang="en-US" sz="1800" smtClean="0">
                <a:latin typeface="Arial" charset="0"/>
              </a:rPr>
              <a:t>Considerations:</a:t>
            </a:r>
          </a:p>
          <a:p>
            <a:pPr marL="700088" lvl="1" indent="-341313" defTabSz="819150" eaLnBrk="1" hangingPunct="1">
              <a:buClr>
                <a:schemeClr val="tx1"/>
              </a:buClr>
              <a:buFontTx/>
              <a:buChar char="•"/>
            </a:pPr>
            <a:r>
              <a:rPr lang="en-US" sz="1800" smtClean="0">
                <a:latin typeface="Arial" charset="0"/>
              </a:rPr>
              <a:t>Supplier data availability</a:t>
            </a:r>
          </a:p>
          <a:p>
            <a:pPr marL="700088" lvl="1" indent="-341313" defTabSz="819150" eaLnBrk="1" hangingPunct="1">
              <a:buClr>
                <a:schemeClr val="tx1"/>
              </a:buClr>
              <a:buFontTx/>
              <a:buChar char="•"/>
            </a:pPr>
            <a:r>
              <a:rPr lang="en-US" sz="1800" smtClean="0">
                <a:latin typeface="Arial" charset="0"/>
              </a:rPr>
              <a:t>Compliance with Engineering Contractor’s standard engineering practices</a:t>
            </a:r>
          </a:p>
          <a:p>
            <a:pPr marL="700088" lvl="1" indent="-341313" defTabSz="819150" eaLnBrk="1" hangingPunct="1">
              <a:buClr>
                <a:schemeClr val="tx1"/>
              </a:buClr>
              <a:buFontTx/>
              <a:buChar char="•"/>
            </a:pPr>
            <a:r>
              <a:rPr lang="en-US" sz="1800" smtClean="0">
                <a:latin typeface="Arial" charset="0"/>
              </a:rPr>
              <a:t>Limited in scope</a:t>
            </a:r>
          </a:p>
          <a:p>
            <a:pPr marL="700088" lvl="1" indent="-341313" defTabSz="819150" eaLnBrk="1" hangingPunct="1">
              <a:buClr>
                <a:schemeClr val="tx1"/>
              </a:buClr>
              <a:buFontTx/>
              <a:buChar char="•"/>
            </a:pPr>
            <a:r>
              <a:rPr lang="en-US" sz="1800" smtClean="0">
                <a:latin typeface="Arial" charset="0"/>
              </a:rPr>
              <a:t>Results from revised calculations must be shared</a:t>
            </a:r>
          </a:p>
          <a:p>
            <a:pPr marL="374650" indent="-374650" defTabSz="819150" eaLnBrk="1" hangingPunct="1">
              <a:buClr>
                <a:schemeClr val="tx1"/>
              </a:buClr>
              <a:buFont typeface="Wingdings" pitchFamily="2" charset="2"/>
              <a:buChar char="§"/>
            </a:pPr>
            <a:r>
              <a:rPr lang="en-US" sz="1800" smtClean="0">
                <a:latin typeface="Arial" charset="0"/>
              </a:rPr>
              <a:t>Validation of software / calculation processes</a:t>
            </a:r>
          </a:p>
          <a:p>
            <a:pPr marL="374650" indent="-374650" defTabSz="819150" eaLnBrk="1" hangingPunct="1">
              <a:buClr>
                <a:schemeClr val="tx1"/>
              </a:buClr>
              <a:buFont typeface="Wingdings" pitchFamily="2" charset="2"/>
              <a:buChar char="§"/>
            </a:pPr>
            <a:r>
              <a:rPr lang="en-GB" sz="1800" smtClean="0">
                <a:latin typeface="Arial" charset="0"/>
              </a:rPr>
              <a:t>Calculations not normally issued to </a:t>
            </a:r>
            <a:r>
              <a:rPr lang="en-US" sz="1800" smtClean="0">
                <a:latin typeface="Arial" charset="0"/>
              </a:rPr>
              <a:t>PMT</a:t>
            </a:r>
          </a:p>
          <a:p>
            <a:pPr marL="374650" indent="-374650" defTabSz="819150" eaLnBrk="1" hangingPunct="1">
              <a:buClr>
                <a:schemeClr val="tx1"/>
              </a:buClr>
              <a:buFont typeface="Wingdings" pitchFamily="2" charset="2"/>
              <a:buChar char="§"/>
            </a:pPr>
            <a:endParaRPr lang="en-US" sz="1800" b="1" smtClean="0">
              <a:solidFill>
                <a:srgbClr val="3366CC"/>
              </a:solidFill>
              <a:latin typeface="Arial"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idx="4294967295"/>
          </p:nvPr>
        </p:nvSpPr>
        <p:spPr/>
        <p:txBody>
          <a:bodyPr/>
          <a:lstStyle/>
          <a:p>
            <a:pPr eaLnBrk="1" hangingPunct="1"/>
            <a:r>
              <a:rPr lang="en-US" sz="2400" smtClean="0">
                <a:latin typeface="Arial" charset="0"/>
              </a:rPr>
              <a:t>Engineering Study Reports</a:t>
            </a:r>
          </a:p>
        </p:txBody>
      </p:sp>
      <p:sp>
        <p:nvSpPr>
          <p:cNvPr id="27650" name="Rectangle 3"/>
          <p:cNvSpPr>
            <a:spLocks noGrp="1" noChangeArrowheads="1"/>
          </p:cNvSpPr>
          <p:nvPr>
            <p:ph type="body" idx="4294967295"/>
          </p:nvPr>
        </p:nvSpPr>
        <p:spPr>
          <a:xfrm>
            <a:off x="381000" y="838200"/>
            <a:ext cx="8382000" cy="4857750"/>
          </a:xfrm>
        </p:spPr>
        <p:txBody>
          <a:bodyPr/>
          <a:lstStyle/>
          <a:p>
            <a:pPr algn="just" eaLnBrk="1" hangingPunct="1">
              <a:buFont typeface="Monotype Sorts"/>
              <a:buNone/>
            </a:pPr>
            <a:endParaRPr lang="en-US" smtClean="0">
              <a:latin typeface="Arial" charset="0"/>
            </a:endParaRPr>
          </a:p>
          <a:p>
            <a:pPr algn="just" eaLnBrk="1" hangingPunct="1">
              <a:buClr>
                <a:schemeClr val="tx1"/>
              </a:buClr>
              <a:buFont typeface="Wingdings" pitchFamily="2" charset="2"/>
              <a:buChar char="§"/>
            </a:pPr>
            <a:r>
              <a:rPr lang="en-US" sz="1800" smtClean="0">
                <a:latin typeface="Arial" charset="0"/>
              </a:rPr>
              <a:t>Licensors and DECs will perform studies and prepare reports as defined in the Scope of Work. These shall be issued to the PMT/Reliance Reviewed and Approved in line with the requirements set out in the TRAM. </a:t>
            </a:r>
          </a:p>
          <a:p>
            <a:pPr lvl="1" algn="just" eaLnBrk="1" hangingPunct="1">
              <a:buClr>
                <a:schemeClr val="tx1"/>
              </a:buClr>
              <a:buFontTx/>
              <a:buChar char="•"/>
            </a:pPr>
            <a:r>
              <a:rPr lang="en-US" sz="1800" smtClean="0">
                <a:latin typeface="Arial" charset="0"/>
              </a:rPr>
              <a:t>Engineering studies will be prepared in a standard format established for the project. </a:t>
            </a:r>
          </a:p>
          <a:p>
            <a:pPr lvl="1" algn="just" eaLnBrk="1" hangingPunct="1">
              <a:buClr>
                <a:schemeClr val="tx1"/>
              </a:buClr>
              <a:buFontTx/>
              <a:buChar char="•"/>
            </a:pPr>
            <a:r>
              <a:rPr lang="en-US" sz="1800" smtClean="0">
                <a:latin typeface="Arial" charset="0"/>
              </a:rPr>
              <a:t>Studies will be turned over to PMT/Reliance for issue and file retention. </a:t>
            </a:r>
          </a:p>
          <a:p>
            <a:pPr algn="just" eaLnBrk="1" hangingPunct="1">
              <a:buClr>
                <a:schemeClr val="tx1"/>
              </a:buClr>
              <a:buFont typeface="Wingdings" pitchFamily="2" charset="2"/>
              <a:buChar char="§"/>
            </a:pPr>
            <a:endParaRPr lang="en-US" sz="1800" smtClean="0">
              <a:latin typeface="Arial"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pPr eaLnBrk="1" hangingPunct="1"/>
            <a:r>
              <a:rPr lang="en-US" sz="2400" smtClean="0">
                <a:latin typeface="Arial" charset="0"/>
              </a:rPr>
              <a:t>Reports and Studies</a:t>
            </a:r>
          </a:p>
        </p:txBody>
      </p:sp>
      <p:sp>
        <p:nvSpPr>
          <p:cNvPr id="28674" name="Rectangle 3"/>
          <p:cNvSpPr>
            <a:spLocks noGrp="1" noChangeArrowheads="1"/>
          </p:cNvSpPr>
          <p:nvPr>
            <p:ph idx="1"/>
          </p:nvPr>
        </p:nvSpPr>
        <p:spPr>
          <a:xfrm>
            <a:off x="612775" y="1162050"/>
            <a:ext cx="7883525" cy="1925638"/>
          </a:xfrm>
        </p:spPr>
        <p:txBody>
          <a:bodyPr/>
          <a:lstStyle/>
          <a:p>
            <a:pPr marL="374650" indent="-374650" defTabSz="819150" eaLnBrk="1" hangingPunct="1">
              <a:lnSpc>
                <a:spcPct val="85000"/>
              </a:lnSpc>
              <a:buClr>
                <a:schemeClr val="tx1"/>
              </a:buClr>
              <a:buFont typeface="Wingdings" pitchFamily="2" charset="2"/>
              <a:buChar char="§"/>
            </a:pPr>
            <a:r>
              <a:rPr lang="en-US" sz="1800" smtClean="0">
                <a:latin typeface="Arial" charset="0"/>
              </a:rPr>
              <a:t>Required for special needs such as:</a:t>
            </a:r>
          </a:p>
          <a:p>
            <a:pPr marL="700088" lvl="1" indent="-341313" defTabSz="819150" eaLnBrk="1" hangingPunct="1">
              <a:lnSpc>
                <a:spcPct val="90000"/>
              </a:lnSpc>
              <a:buClr>
                <a:schemeClr val="tx1"/>
              </a:buClr>
              <a:buFontTx/>
              <a:buChar char="•"/>
            </a:pPr>
            <a:r>
              <a:rPr lang="en-US" sz="1800" smtClean="0">
                <a:solidFill>
                  <a:srgbClr val="3366CC"/>
                </a:solidFill>
                <a:latin typeface="Arial" charset="0"/>
              </a:rPr>
              <a:t>Process / Utility studies</a:t>
            </a:r>
          </a:p>
          <a:p>
            <a:pPr marL="700088" lvl="1" indent="-341313" defTabSz="819150" eaLnBrk="1" hangingPunct="1">
              <a:lnSpc>
                <a:spcPct val="90000"/>
              </a:lnSpc>
              <a:buClr>
                <a:schemeClr val="tx1"/>
              </a:buClr>
              <a:buFontTx/>
              <a:buChar char="•"/>
            </a:pPr>
            <a:r>
              <a:rPr lang="en-US" sz="1800" smtClean="0">
                <a:solidFill>
                  <a:srgbClr val="3366CC"/>
                </a:solidFill>
                <a:latin typeface="Arial" charset="0"/>
              </a:rPr>
              <a:t>Environmental permit report</a:t>
            </a:r>
          </a:p>
          <a:p>
            <a:pPr marL="374650" indent="-374650" defTabSz="819150" eaLnBrk="1" hangingPunct="1">
              <a:lnSpc>
                <a:spcPct val="90000"/>
              </a:lnSpc>
              <a:buClr>
                <a:schemeClr val="tx1"/>
              </a:buClr>
              <a:buFont typeface="Wingdings" pitchFamily="2" charset="2"/>
              <a:buChar char="§"/>
            </a:pPr>
            <a:r>
              <a:rPr lang="en-GB" sz="1800" smtClean="0">
                <a:latin typeface="Arial" charset="0"/>
              </a:rPr>
              <a:t>Key Steps:</a:t>
            </a:r>
            <a:endParaRPr lang="en-US" sz="1800" smtClean="0">
              <a:latin typeface="Arial" charset="0"/>
            </a:endParaRPr>
          </a:p>
        </p:txBody>
      </p:sp>
      <p:grpSp>
        <p:nvGrpSpPr>
          <p:cNvPr id="28675" name="Group 4"/>
          <p:cNvGrpSpPr>
            <a:grpSpLocks noChangeAspect="1"/>
          </p:cNvGrpSpPr>
          <p:nvPr/>
        </p:nvGrpSpPr>
        <p:grpSpPr bwMode="auto">
          <a:xfrm>
            <a:off x="685800" y="3260725"/>
            <a:ext cx="8229600" cy="2606675"/>
            <a:chOff x="480" y="2160"/>
            <a:chExt cx="4848" cy="1536"/>
          </a:xfrm>
        </p:grpSpPr>
        <p:sp>
          <p:nvSpPr>
            <p:cNvPr id="28676" name="AutoShape 5"/>
            <p:cNvSpPr>
              <a:spLocks noChangeAspect="1" noChangeArrowheads="1" noTextEdit="1"/>
            </p:cNvSpPr>
            <p:nvPr/>
          </p:nvSpPr>
          <p:spPr bwMode="auto">
            <a:xfrm>
              <a:off x="480" y="2160"/>
              <a:ext cx="4848" cy="1536"/>
            </a:xfrm>
            <a:prstGeom prst="rect">
              <a:avLst/>
            </a:prstGeom>
            <a:noFill/>
            <a:ln w="9525">
              <a:noFill/>
              <a:miter lim="800000"/>
              <a:headEnd/>
              <a:tailEnd/>
            </a:ln>
          </p:spPr>
          <p:txBody>
            <a:bodyPr/>
            <a:lstStyle/>
            <a:p>
              <a:endParaRPr lang="en-US"/>
            </a:p>
          </p:txBody>
        </p:sp>
        <p:sp>
          <p:nvSpPr>
            <p:cNvPr id="28677" name="Rectangle 6"/>
            <p:cNvSpPr>
              <a:spLocks noChangeArrowheads="1"/>
            </p:cNvSpPr>
            <p:nvPr/>
          </p:nvSpPr>
          <p:spPr bwMode="auto">
            <a:xfrm>
              <a:off x="568" y="2245"/>
              <a:ext cx="4746" cy="1443"/>
            </a:xfrm>
            <a:prstGeom prst="rect">
              <a:avLst/>
            </a:prstGeom>
            <a:solidFill>
              <a:srgbClr val="99CCFF"/>
            </a:solidFill>
            <a:ln w="9525">
              <a:noFill/>
              <a:miter lim="800000"/>
              <a:headEnd/>
              <a:tailEnd/>
            </a:ln>
          </p:spPr>
          <p:txBody>
            <a:bodyPr/>
            <a:lstStyle/>
            <a:p>
              <a:endParaRPr lang="en-US"/>
            </a:p>
          </p:txBody>
        </p:sp>
        <p:sp>
          <p:nvSpPr>
            <p:cNvPr id="28678" name="Rectangle 7"/>
            <p:cNvSpPr>
              <a:spLocks noChangeArrowheads="1"/>
            </p:cNvSpPr>
            <p:nvPr/>
          </p:nvSpPr>
          <p:spPr bwMode="auto">
            <a:xfrm>
              <a:off x="492" y="2171"/>
              <a:ext cx="4746" cy="1465"/>
            </a:xfrm>
            <a:prstGeom prst="rect">
              <a:avLst/>
            </a:prstGeom>
            <a:solidFill>
              <a:srgbClr val="D2E9FF"/>
            </a:solidFill>
            <a:ln w="9525">
              <a:noFill/>
              <a:miter lim="800000"/>
              <a:headEnd/>
              <a:tailEnd/>
            </a:ln>
          </p:spPr>
          <p:txBody>
            <a:bodyPr/>
            <a:lstStyle/>
            <a:p>
              <a:endParaRPr lang="en-US"/>
            </a:p>
          </p:txBody>
        </p:sp>
        <p:sp>
          <p:nvSpPr>
            <p:cNvPr id="28679" name="Freeform 8"/>
            <p:cNvSpPr>
              <a:spLocks/>
            </p:cNvSpPr>
            <p:nvPr/>
          </p:nvSpPr>
          <p:spPr bwMode="auto">
            <a:xfrm>
              <a:off x="1405" y="2772"/>
              <a:ext cx="2901" cy="234"/>
            </a:xfrm>
            <a:custGeom>
              <a:avLst/>
              <a:gdLst>
                <a:gd name="T0" fmla="*/ 2901 w 2901"/>
                <a:gd name="T1" fmla="*/ 0 h 234"/>
                <a:gd name="T2" fmla="*/ 2901 w 2901"/>
                <a:gd name="T3" fmla="*/ 120 h 234"/>
                <a:gd name="T4" fmla="*/ 0 w 2901"/>
                <a:gd name="T5" fmla="*/ 120 h 234"/>
                <a:gd name="T6" fmla="*/ 0 w 2901"/>
                <a:gd name="T7" fmla="*/ 234 h 234"/>
                <a:gd name="T8" fmla="*/ 0 60000 65536"/>
                <a:gd name="T9" fmla="*/ 0 60000 65536"/>
                <a:gd name="T10" fmla="*/ 0 60000 65536"/>
                <a:gd name="T11" fmla="*/ 0 60000 65536"/>
                <a:gd name="T12" fmla="*/ 0 w 2901"/>
                <a:gd name="T13" fmla="*/ 0 h 234"/>
                <a:gd name="T14" fmla="*/ 2901 w 2901"/>
                <a:gd name="T15" fmla="*/ 234 h 234"/>
              </a:gdLst>
              <a:ahLst/>
              <a:cxnLst>
                <a:cxn ang="T8">
                  <a:pos x="T0" y="T1"/>
                </a:cxn>
                <a:cxn ang="T9">
                  <a:pos x="T2" y="T3"/>
                </a:cxn>
                <a:cxn ang="T10">
                  <a:pos x="T4" y="T5"/>
                </a:cxn>
                <a:cxn ang="T11">
                  <a:pos x="T6" y="T7"/>
                </a:cxn>
              </a:cxnLst>
              <a:rect l="T12" t="T13" r="T14" b="T15"/>
              <a:pathLst>
                <a:path w="2901" h="234">
                  <a:moveTo>
                    <a:pt x="2901" y="0"/>
                  </a:moveTo>
                  <a:lnTo>
                    <a:pt x="2901" y="120"/>
                  </a:lnTo>
                  <a:lnTo>
                    <a:pt x="0" y="120"/>
                  </a:lnTo>
                  <a:lnTo>
                    <a:pt x="0" y="234"/>
                  </a:lnTo>
                </a:path>
              </a:pathLst>
            </a:custGeom>
            <a:noFill/>
            <a:ln w="4763">
              <a:solidFill>
                <a:srgbClr val="000000"/>
              </a:solidFill>
              <a:prstDash val="solid"/>
              <a:round/>
              <a:headEnd/>
              <a:tailEnd/>
            </a:ln>
          </p:spPr>
          <p:txBody>
            <a:bodyPr/>
            <a:lstStyle/>
            <a:p>
              <a:endParaRPr lang="en-US"/>
            </a:p>
          </p:txBody>
        </p:sp>
        <p:sp>
          <p:nvSpPr>
            <p:cNvPr id="28680" name="Freeform 9"/>
            <p:cNvSpPr>
              <a:spLocks/>
            </p:cNvSpPr>
            <p:nvPr/>
          </p:nvSpPr>
          <p:spPr bwMode="auto">
            <a:xfrm>
              <a:off x="1374" y="3000"/>
              <a:ext cx="61" cy="52"/>
            </a:xfrm>
            <a:custGeom>
              <a:avLst/>
              <a:gdLst>
                <a:gd name="T0" fmla="*/ 61 w 61"/>
                <a:gd name="T1" fmla="*/ 0 h 52"/>
                <a:gd name="T2" fmla="*/ 31 w 61"/>
                <a:gd name="T3" fmla="*/ 52 h 52"/>
                <a:gd name="T4" fmla="*/ 0 w 61"/>
                <a:gd name="T5" fmla="*/ 0 h 52"/>
                <a:gd name="T6" fmla="*/ 61 w 61"/>
                <a:gd name="T7" fmla="*/ 0 h 52"/>
                <a:gd name="T8" fmla="*/ 0 60000 65536"/>
                <a:gd name="T9" fmla="*/ 0 60000 65536"/>
                <a:gd name="T10" fmla="*/ 0 60000 65536"/>
                <a:gd name="T11" fmla="*/ 0 60000 65536"/>
                <a:gd name="T12" fmla="*/ 0 w 61"/>
                <a:gd name="T13" fmla="*/ 0 h 52"/>
                <a:gd name="T14" fmla="*/ 61 w 61"/>
                <a:gd name="T15" fmla="*/ 52 h 52"/>
              </a:gdLst>
              <a:ahLst/>
              <a:cxnLst>
                <a:cxn ang="T8">
                  <a:pos x="T0" y="T1"/>
                </a:cxn>
                <a:cxn ang="T9">
                  <a:pos x="T2" y="T3"/>
                </a:cxn>
                <a:cxn ang="T10">
                  <a:pos x="T4" y="T5"/>
                </a:cxn>
                <a:cxn ang="T11">
                  <a:pos x="T6" y="T7"/>
                </a:cxn>
              </a:cxnLst>
              <a:rect l="T12" t="T13" r="T14" b="T15"/>
              <a:pathLst>
                <a:path w="61" h="52">
                  <a:moveTo>
                    <a:pt x="61" y="0"/>
                  </a:moveTo>
                  <a:lnTo>
                    <a:pt x="31" y="52"/>
                  </a:lnTo>
                  <a:lnTo>
                    <a:pt x="0" y="0"/>
                  </a:lnTo>
                  <a:lnTo>
                    <a:pt x="61" y="0"/>
                  </a:lnTo>
                  <a:close/>
                </a:path>
              </a:pathLst>
            </a:custGeom>
            <a:solidFill>
              <a:srgbClr val="000000"/>
            </a:solidFill>
            <a:ln w="9525">
              <a:noFill/>
              <a:round/>
              <a:headEnd/>
              <a:tailEnd/>
            </a:ln>
          </p:spPr>
          <p:txBody>
            <a:bodyPr/>
            <a:lstStyle/>
            <a:p>
              <a:endParaRPr lang="en-US"/>
            </a:p>
          </p:txBody>
        </p:sp>
        <p:sp>
          <p:nvSpPr>
            <p:cNvPr id="28681" name="Rectangle 10"/>
            <p:cNvSpPr>
              <a:spLocks noChangeArrowheads="1"/>
            </p:cNvSpPr>
            <p:nvPr/>
          </p:nvSpPr>
          <p:spPr bwMode="auto">
            <a:xfrm>
              <a:off x="2005" y="3048"/>
              <a:ext cx="850" cy="128"/>
            </a:xfrm>
            <a:prstGeom prst="rect">
              <a:avLst/>
            </a:prstGeom>
            <a:solidFill>
              <a:srgbClr val="FFFFFF"/>
            </a:solidFill>
            <a:ln w="4763">
              <a:solidFill>
                <a:srgbClr val="0000FF"/>
              </a:solidFill>
              <a:miter lim="800000"/>
              <a:headEnd/>
              <a:tailEnd/>
            </a:ln>
          </p:spPr>
          <p:txBody>
            <a:bodyPr/>
            <a:lstStyle/>
            <a:p>
              <a:endParaRPr lang="en-US"/>
            </a:p>
          </p:txBody>
        </p:sp>
        <p:sp>
          <p:nvSpPr>
            <p:cNvPr id="28682" name="Rectangle 11"/>
            <p:cNvSpPr>
              <a:spLocks noChangeArrowheads="1"/>
            </p:cNvSpPr>
            <p:nvPr/>
          </p:nvSpPr>
          <p:spPr bwMode="auto">
            <a:xfrm>
              <a:off x="2260" y="3072"/>
              <a:ext cx="550"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Discipline Lead</a:t>
              </a:r>
              <a:endParaRPr lang="en-US">
                <a:cs typeface="Arial" charset="0"/>
              </a:endParaRPr>
            </a:p>
          </p:txBody>
        </p:sp>
        <p:sp>
          <p:nvSpPr>
            <p:cNvPr id="28683" name="Rectangle 12"/>
            <p:cNvSpPr>
              <a:spLocks noChangeArrowheads="1"/>
            </p:cNvSpPr>
            <p:nvPr/>
          </p:nvSpPr>
          <p:spPr bwMode="auto">
            <a:xfrm>
              <a:off x="2005" y="3176"/>
              <a:ext cx="850" cy="381"/>
            </a:xfrm>
            <a:prstGeom prst="rect">
              <a:avLst/>
            </a:prstGeom>
            <a:solidFill>
              <a:srgbClr val="FFFFFF"/>
            </a:solidFill>
            <a:ln w="4763">
              <a:solidFill>
                <a:srgbClr val="0000FF"/>
              </a:solidFill>
              <a:miter lim="800000"/>
              <a:headEnd/>
              <a:tailEnd/>
            </a:ln>
          </p:spPr>
          <p:txBody>
            <a:bodyPr/>
            <a:lstStyle/>
            <a:p>
              <a:endParaRPr lang="en-US"/>
            </a:p>
          </p:txBody>
        </p:sp>
        <p:sp>
          <p:nvSpPr>
            <p:cNvPr id="28684" name="Rectangle 13"/>
            <p:cNvSpPr>
              <a:spLocks noChangeArrowheads="1"/>
            </p:cNvSpPr>
            <p:nvPr/>
          </p:nvSpPr>
          <p:spPr bwMode="auto">
            <a:xfrm>
              <a:off x="2124" y="3276"/>
              <a:ext cx="513"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Obtain required</a:t>
              </a:r>
              <a:endParaRPr lang="en-US">
                <a:cs typeface="Arial" charset="0"/>
              </a:endParaRPr>
            </a:p>
          </p:txBody>
        </p:sp>
        <p:sp>
          <p:nvSpPr>
            <p:cNvPr id="28685" name="Rectangle 14"/>
            <p:cNvSpPr>
              <a:spLocks noChangeArrowheads="1"/>
            </p:cNvSpPr>
            <p:nvPr/>
          </p:nvSpPr>
          <p:spPr bwMode="auto">
            <a:xfrm>
              <a:off x="2238" y="3366"/>
              <a:ext cx="356" cy="179"/>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approvals</a:t>
              </a:r>
            </a:p>
            <a:p>
              <a:r>
                <a:rPr lang="en-US" sz="1000">
                  <a:solidFill>
                    <a:srgbClr val="000000"/>
                  </a:solidFill>
                  <a:cs typeface="Arial" charset="0"/>
                </a:rPr>
                <a:t>and record</a:t>
              </a:r>
              <a:endParaRPr lang="en-US">
                <a:cs typeface="Arial" charset="0"/>
              </a:endParaRPr>
            </a:p>
          </p:txBody>
        </p:sp>
        <p:sp>
          <p:nvSpPr>
            <p:cNvPr id="28686" name="Rectangle 15"/>
            <p:cNvSpPr>
              <a:spLocks noChangeArrowheads="1"/>
            </p:cNvSpPr>
            <p:nvPr/>
          </p:nvSpPr>
          <p:spPr bwMode="auto">
            <a:xfrm>
              <a:off x="3082" y="3048"/>
              <a:ext cx="951" cy="128"/>
            </a:xfrm>
            <a:prstGeom prst="rect">
              <a:avLst/>
            </a:prstGeom>
            <a:solidFill>
              <a:srgbClr val="FFFFFF"/>
            </a:solidFill>
            <a:ln w="4763">
              <a:solidFill>
                <a:srgbClr val="0000FF"/>
              </a:solidFill>
              <a:miter lim="800000"/>
              <a:headEnd/>
              <a:tailEnd/>
            </a:ln>
          </p:spPr>
          <p:txBody>
            <a:bodyPr/>
            <a:lstStyle/>
            <a:p>
              <a:endParaRPr lang="en-US"/>
            </a:p>
          </p:txBody>
        </p:sp>
        <p:sp>
          <p:nvSpPr>
            <p:cNvPr id="28687" name="Rectangle 16"/>
            <p:cNvSpPr>
              <a:spLocks noChangeArrowheads="1"/>
            </p:cNvSpPr>
            <p:nvPr/>
          </p:nvSpPr>
          <p:spPr bwMode="auto">
            <a:xfrm>
              <a:off x="3355" y="3072"/>
              <a:ext cx="694"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Disc  Lead / Doc Ctrl</a:t>
              </a:r>
              <a:endParaRPr lang="en-US">
                <a:cs typeface="Arial" charset="0"/>
              </a:endParaRPr>
            </a:p>
          </p:txBody>
        </p:sp>
        <p:sp>
          <p:nvSpPr>
            <p:cNvPr id="28688" name="Rectangle 17"/>
            <p:cNvSpPr>
              <a:spLocks noChangeArrowheads="1"/>
            </p:cNvSpPr>
            <p:nvPr/>
          </p:nvSpPr>
          <p:spPr bwMode="auto">
            <a:xfrm>
              <a:off x="3082" y="3176"/>
              <a:ext cx="951" cy="381"/>
            </a:xfrm>
            <a:prstGeom prst="rect">
              <a:avLst/>
            </a:prstGeom>
            <a:solidFill>
              <a:srgbClr val="FFFFFF"/>
            </a:solidFill>
            <a:ln w="4763">
              <a:solidFill>
                <a:srgbClr val="0000FF"/>
              </a:solidFill>
              <a:miter lim="800000"/>
              <a:headEnd/>
              <a:tailEnd/>
            </a:ln>
          </p:spPr>
          <p:txBody>
            <a:bodyPr/>
            <a:lstStyle/>
            <a:p>
              <a:endParaRPr lang="en-US"/>
            </a:p>
          </p:txBody>
        </p:sp>
        <p:sp>
          <p:nvSpPr>
            <p:cNvPr id="28689" name="Rectangle 18"/>
            <p:cNvSpPr>
              <a:spLocks noChangeArrowheads="1"/>
            </p:cNvSpPr>
            <p:nvPr/>
          </p:nvSpPr>
          <p:spPr bwMode="auto">
            <a:xfrm>
              <a:off x="3131" y="3230"/>
              <a:ext cx="707"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Issue reports /studies</a:t>
              </a:r>
              <a:endParaRPr lang="en-US">
                <a:cs typeface="Arial" charset="0"/>
              </a:endParaRPr>
            </a:p>
          </p:txBody>
        </p:sp>
        <p:sp>
          <p:nvSpPr>
            <p:cNvPr id="28690" name="Rectangle 19"/>
            <p:cNvSpPr>
              <a:spLocks noChangeArrowheads="1"/>
            </p:cNvSpPr>
            <p:nvPr/>
          </p:nvSpPr>
          <p:spPr bwMode="auto">
            <a:xfrm>
              <a:off x="3122" y="3321"/>
              <a:ext cx="724"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and maintain originals</a:t>
              </a:r>
              <a:endParaRPr lang="en-US">
                <a:cs typeface="Arial" charset="0"/>
              </a:endParaRPr>
            </a:p>
          </p:txBody>
        </p:sp>
        <p:sp>
          <p:nvSpPr>
            <p:cNvPr id="28691" name="Rectangle 20"/>
            <p:cNvSpPr>
              <a:spLocks noChangeArrowheads="1"/>
            </p:cNvSpPr>
            <p:nvPr/>
          </p:nvSpPr>
          <p:spPr bwMode="auto">
            <a:xfrm>
              <a:off x="3283" y="3411"/>
              <a:ext cx="455" cy="89"/>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in project files</a:t>
              </a:r>
              <a:endParaRPr lang="en-US">
                <a:cs typeface="Arial" charset="0"/>
              </a:endParaRPr>
            </a:p>
          </p:txBody>
        </p:sp>
        <p:sp>
          <p:nvSpPr>
            <p:cNvPr id="28692" name="Line 21"/>
            <p:cNvSpPr>
              <a:spLocks noChangeShapeType="1"/>
            </p:cNvSpPr>
            <p:nvPr/>
          </p:nvSpPr>
          <p:spPr bwMode="auto">
            <a:xfrm>
              <a:off x="2855" y="3303"/>
              <a:ext cx="179" cy="1"/>
            </a:xfrm>
            <a:prstGeom prst="line">
              <a:avLst/>
            </a:prstGeom>
            <a:noFill/>
            <a:ln w="4763">
              <a:solidFill>
                <a:srgbClr val="000000"/>
              </a:solidFill>
              <a:round/>
              <a:headEnd/>
              <a:tailEnd/>
            </a:ln>
          </p:spPr>
          <p:txBody>
            <a:bodyPr/>
            <a:lstStyle/>
            <a:p>
              <a:endParaRPr lang="en-US"/>
            </a:p>
          </p:txBody>
        </p:sp>
        <p:sp>
          <p:nvSpPr>
            <p:cNvPr id="28693" name="Freeform 22"/>
            <p:cNvSpPr>
              <a:spLocks/>
            </p:cNvSpPr>
            <p:nvPr/>
          </p:nvSpPr>
          <p:spPr bwMode="auto">
            <a:xfrm>
              <a:off x="3019" y="3277"/>
              <a:ext cx="63" cy="52"/>
            </a:xfrm>
            <a:custGeom>
              <a:avLst/>
              <a:gdLst>
                <a:gd name="T0" fmla="*/ 63 w 63"/>
                <a:gd name="T1" fmla="*/ 26 h 52"/>
                <a:gd name="T2" fmla="*/ 0 w 63"/>
                <a:gd name="T3" fmla="*/ 52 h 52"/>
                <a:gd name="T4" fmla="*/ 1 w 63"/>
                <a:gd name="T5" fmla="*/ 49 h 52"/>
                <a:gd name="T6" fmla="*/ 3 w 63"/>
                <a:gd name="T7" fmla="*/ 46 h 52"/>
                <a:gd name="T8" fmla="*/ 4 w 63"/>
                <a:gd name="T9" fmla="*/ 43 h 52"/>
                <a:gd name="T10" fmla="*/ 5 w 63"/>
                <a:gd name="T11" fmla="*/ 41 h 52"/>
                <a:gd name="T12" fmla="*/ 5 w 63"/>
                <a:gd name="T13" fmla="*/ 37 h 52"/>
                <a:gd name="T14" fmla="*/ 7 w 63"/>
                <a:gd name="T15" fmla="*/ 34 h 52"/>
                <a:gd name="T16" fmla="*/ 7 w 63"/>
                <a:gd name="T17" fmla="*/ 18 h 52"/>
                <a:gd name="T18" fmla="*/ 5 w 63"/>
                <a:gd name="T19" fmla="*/ 15 h 52"/>
                <a:gd name="T20" fmla="*/ 5 w 63"/>
                <a:gd name="T21" fmla="*/ 12 h 52"/>
                <a:gd name="T22" fmla="*/ 3 w 63"/>
                <a:gd name="T23" fmla="*/ 6 h 52"/>
                <a:gd name="T24" fmla="*/ 1 w 63"/>
                <a:gd name="T25" fmla="*/ 3 h 52"/>
                <a:gd name="T26" fmla="*/ 0 w 63"/>
                <a:gd name="T27" fmla="*/ 0 h 52"/>
                <a:gd name="T28" fmla="*/ 63 w 63"/>
                <a:gd name="T29" fmla="*/ 26 h 5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3"/>
                <a:gd name="T46" fmla="*/ 0 h 52"/>
                <a:gd name="T47" fmla="*/ 63 w 63"/>
                <a:gd name="T48" fmla="*/ 52 h 5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3" h="52">
                  <a:moveTo>
                    <a:pt x="63" y="26"/>
                  </a:moveTo>
                  <a:lnTo>
                    <a:pt x="0" y="52"/>
                  </a:lnTo>
                  <a:lnTo>
                    <a:pt x="1" y="49"/>
                  </a:lnTo>
                  <a:lnTo>
                    <a:pt x="3" y="46"/>
                  </a:lnTo>
                  <a:lnTo>
                    <a:pt x="4" y="43"/>
                  </a:lnTo>
                  <a:lnTo>
                    <a:pt x="5" y="41"/>
                  </a:lnTo>
                  <a:lnTo>
                    <a:pt x="5" y="37"/>
                  </a:lnTo>
                  <a:lnTo>
                    <a:pt x="7" y="34"/>
                  </a:lnTo>
                  <a:lnTo>
                    <a:pt x="7" y="18"/>
                  </a:lnTo>
                  <a:lnTo>
                    <a:pt x="5" y="15"/>
                  </a:lnTo>
                  <a:lnTo>
                    <a:pt x="5" y="12"/>
                  </a:lnTo>
                  <a:lnTo>
                    <a:pt x="3" y="6"/>
                  </a:lnTo>
                  <a:lnTo>
                    <a:pt x="1" y="3"/>
                  </a:lnTo>
                  <a:lnTo>
                    <a:pt x="0" y="0"/>
                  </a:lnTo>
                  <a:lnTo>
                    <a:pt x="63" y="26"/>
                  </a:lnTo>
                  <a:close/>
                </a:path>
              </a:pathLst>
            </a:custGeom>
            <a:solidFill>
              <a:srgbClr val="000000"/>
            </a:solidFill>
            <a:ln w="9525">
              <a:noFill/>
              <a:round/>
              <a:headEnd/>
              <a:tailEnd/>
            </a:ln>
          </p:spPr>
          <p:txBody>
            <a:bodyPr/>
            <a:lstStyle/>
            <a:p>
              <a:endParaRPr lang="en-US"/>
            </a:p>
          </p:txBody>
        </p:sp>
        <p:sp>
          <p:nvSpPr>
            <p:cNvPr id="28694" name="Freeform 23"/>
            <p:cNvSpPr>
              <a:spLocks/>
            </p:cNvSpPr>
            <p:nvPr/>
          </p:nvSpPr>
          <p:spPr bwMode="auto">
            <a:xfrm>
              <a:off x="3107" y="3060"/>
              <a:ext cx="124" cy="105"/>
            </a:xfrm>
            <a:custGeom>
              <a:avLst/>
              <a:gdLst>
                <a:gd name="T0" fmla="*/ 0 w 124"/>
                <a:gd name="T1" fmla="*/ 52 h 105"/>
                <a:gd name="T2" fmla="*/ 3 w 124"/>
                <a:gd name="T3" fmla="*/ 37 h 105"/>
                <a:gd name="T4" fmla="*/ 9 w 124"/>
                <a:gd name="T5" fmla="*/ 23 h 105"/>
                <a:gd name="T6" fmla="*/ 21 w 124"/>
                <a:gd name="T7" fmla="*/ 12 h 105"/>
                <a:gd name="T8" fmla="*/ 36 w 124"/>
                <a:gd name="T9" fmla="*/ 4 h 105"/>
                <a:gd name="T10" fmla="*/ 53 w 124"/>
                <a:gd name="T11" fmla="*/ 0 h 105"/>
                <a:gd name="T12" fmla="*/ 71 w 124"/>
                <a:gd name="T13" fmla="*/ 0 h 105"/>
                <a:gd name="T14" fmla="*/ 88 w 124"/>
                <a:gd name="T15" fmla="*/ 4 h 105"/>
                <a:gd name="T16" fmla="*/ 103 w 124"/>
                <a:gd name="T17" fmla="*/ 12 h 105"/>
                <a:gd name="T18" fmla="*/ 115 w 124"/>
                <a:gd name="T19" fmla="*/ 23 h 105"/>
                <a:gd name="T20" fmla="*/ 123 w 124"/>
                <a:gd name="T21" fmla="*/ 37 h 105"/>
                <a:gd name="T22" fmla="*/ 124 w 124"/>
                <a:gd name="T23" fmla="*/ 52 h 105"/>
                <a:gd name="T24" fmla="*/ 123 w 124"/>
                <a:gd name="T25" fmla="*/ 66 h 105"/>
                <a:gd name="T26" fmla="*/ 115 w 124"/>
                <a:gd name="T27" fmla="*/ 81 h 105"/>
                <a:gd name="T28" fmla="*/ 103 w 124"/>
                <a:gd name="T29" fmla="*/ 92 h 105"/>
                <a:gd name="T30" fmla="*/ 88 w 124"/>
                <a:gd name="T31" fmla="*/ 100 h 105"/>
                <a:gd name="T32" fmla="*/ 71 w 124"/>
                <a:gd name="T33" fmla="*/ 105 h 105"/>
                <a:gd name="T34" fmla="*/ 53 w 124"/>
                <a:gd name="T35" fmla="*/ 105 h 105"/>
                <a:gd name="T36" fmla="*/ 36 w 124"/>
                <a:gd name="T37" fmla="*/ 100 h 105"/>
                <a:gd name="T38" fmla="*/ 21 w 124"/>
                <a:gd name="T39" fmla="*/ 92 h 105"/>
                <a:gd name="T40" fmla="*/ 9 w 124"/>
                <a:gd name="T41" fmla="*/ 81 h 105"/>
                <a:gd name="T42" fmla="*/ 3 w 124"/>
                <a:gd name="T43" fmla="*/ 66 h 105"/>
                <a:gd name="T44" fmla="*/ 0 w 124"/>
                <a:gd name="T45" fmla="*/ 5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105"/>
                <a:gd name="T71" fmla="*/ 124 w 124"/>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105">
                  <a:moveTo>
                    <a:pt x="0" y="52"/>
                  </a:moveTo>
                  <a:lnTo>
                    <a:pt x="3" y="37"/>
                  </a:lnTo>
                  <a:lnTo>
                    <a:pt x="9" y="23"/>
                  </a:lnTo>
                  <a:lnTo>
                    <a:pt x="21" y="12"/>
                  </a:lnTo>
                  <a:lnTo>
                    <a:pt x="36" y="4"/>
                  </a:lnTo>
                  <a:lnTo>
                    <a:pt x="53" y="0"/>
                  </a:lnTo>
                  <a:lnTo>
                    <a:pt x="71" y="0"/>
                  </a:lnTo>
                  <a:lnTo>
                    <a:pt x="88" y="4"/>
                  </a:lnTo>
                  <a:lnTo>
                    <a:pt x="103" y="12"/>
                  </a:lnTo>
                  <a:lnTo>
                    <a:pt x="115" y="23"/>
                  </a:lnTo>
                  <a:lnTo>
                    <a:pt x="123" y="37"/>
                  </a:lnTo>
                  <a:lnTo>
                    <a:pt x="124" y="52"/>
                  </a:lnTo>
                  <a:lnTo>
                    <a:pt x="123" y="66"/>
                  </a:lnTo>
                  <a:lnTo>
                    <a:pt x="115" y="81"/>
                  </a:lnTo>
                  <a:lnTo>
                    <a:pt x="103" y="92"/>
                  </a:lnTo>
                  <a:lnTo>
                    <a:pt x="88" y="100"/>
                  </a:lnTo>
                  <a:lnTo>
                    <a:pt x="71" y="105"/>
                  </a:lnTo>
                  <a:lnTo>
                    <a:pt x="53" y="105"/>
                  </a:lnTo>
                  <a:lnTo>
                    <a:pt x="36" y="100"/>
                  </a:lnTo>
                  <a:lnTo>
                    <a:pt x="21" y="92"/>
                  </a:lnTo>
                  <a:lnTo>
                    <a:pt x="9" y="81"/>
                  </a:lnTo>
                  <a:lnTo>
                    <a:pt x="3" y="66"/>
                  </a:lnTo>
                  <a:lnTo>
                    <a:pt x="0" y="52"/>
                  </a:lnTo>
                  <a:close/>
                </a:path>
              </a:pathLst>
            </a:custGeom>
            <a:solidFill>
              <a:srgbClr val="00FFFF"/>
            </a:solidFill>
            <a:ln w="9525">
              <a:noFill/>
              <a:round/>
              <a:headEnd/>
              <a:tailEnd/>
            </a:ln>
          </p:spPr>
          <p:txBody>
            <a:bodyPr/>
            <a:lstStyle/>
            <a:p>
              <a:endParaRPr lang="en-US"/>
            </a:p>
          </p:txBody>
        </p:sp>
        <p:sp>
          <p:nvSpPr>
            <p:cNvPr id="28695" name="Rectangle 24"/>
            <p:cNvSpPr>
              <a:spLocks noChangeArrowheads="1"/>
            </p:cNvSpPr>
            <p:nvPr/>
          </p:nvSpPr>
          <p:spPr bwMode="auto">
            <a:xfrm>
              <a:off x="3151" y="3077"/>
              <a:ext cx="29"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7</a:t>
              </a:r>
              <a:endParaRPr lang="en-US">
                <a:cs typeface="Arial" charset="0"/>
              </a:endParaRPr>
            </a:p>
          </p:txBody>
        </p:sp>
        <p:sp>
          <p:nvSpPr>
            <p:cNvPr id="28696" name="Freeform 25"/>
            <p:cNvSpPr>
              <a:spLocks/>
            </p:cNvSpPr>
            <p:nvPr/>
          </p:nvSpPr>
          <p:spPr bwMode="auto">
            <a:xfrm>
              <a:off x="2017" y="3060"/>
              <a:ext cx="126" cy="105"/>
            </a:xfrm>
            <a:custGeom>
              <a:avLst/>
              <a:gdLst>
                <a:gd name="T0" fmla="*/ 0 w 126"/>
                <a:gd name="T1" fmla="*/ 52 h 105"/>
                <a:gd name="T2" fmla="*/ 3 w 126"/>
                <a:gd name="T3" fmla="*/ 37 h 105"/>
                <a:gd name="T4" fmla="*/ 10 w 126"/>
                <a:gd name="T5" fmla="*/ 23 h 105"/>
                <a:gd name="T6" fmla="*/ 22 w 126"/>
                <a:gd name="T7" fmla="*/ 12 h 105"/>
                <a:gd name="T8" fmla="*/ 36 w 126"/>
                <a:gd name="T9" fmla="*/ 4 h 105"/>
                <a:gd name="T10" fmla="*/ 54 w 126"/>
                <a:gd name="T11" fmla="*/ 0 h 105"/>
                <a:gd name="T12" fmla="*/ 72 w 126"/>
                <a:gd name="T13" fmla="*/ 0 h 105"/>
                <a:gd name="T14" fmla="*/ 88 w 126"/>
                <a:gd name="T15" fmla="*/ 4 h 105"/>
                <a:gd name="T16" fmla="*/ 104 w 126"/>
                <a:gd name="T17" fmla="*/ 12 h 105"/>
                <a:gd name="T18" fmla="*/ 115 w 126"/>
                <a:gd name="T19" fmla="*/ 23 h 105"/>
                <a:gd name="T20" fmla="*/ 123 w 126"/>
                <a:gd name="T21" fmla="*/ 37 h 105"/>
                <a:gd name="T22" fmla="*/ 126 w 126"/>
                <a:gd name="T23" fmla="*/ 52 h 105"/>
                <a:gd name="T24" fmla="*/ 123 w 126"/>
                <a:gd name="T25" fmla="*/ 66 h 105"/>
                <a:gd name="T26" fmla="*/ 115 w 126"/>
                <a:gd name="T27" fmla="*/ 81 h 105"/>
                <a:gd name="T28" fmla="*/ 104 w 126"/>
                <a:gd name="T29" fmla="*/ 92 h 105"/>
                <a:gd name="T30" fmla="*/ 88 w 126"/>
                <a:gd name="T31" fmla="*/ 100 h 105"/>
                <a:gd name="T32" fmla="*/ 72 w 126"/>
                <a:gd name="T33" fmla="*/ 105 h 105"/>
                <a:gd name="T34" fmla="*/ 54 w 126"/>
                <a:gd name="T35" fmla="*/ 105 h 105"/>
                <a:gd name="T36" fmla="*/ 36 w 126"/>
                <a:gd name="T37" fmla="*/ 100 h 105"/>
                <a:gd name="T38" fmla="*/ 22 w 126"/>
                <a:gd name="T39" fmla="*/ 92 h 105"/>
                <a:gd name="T40" fmla="*/ 10 w 126"/>
                <a:gd name="T41" fmla="*/ 81 h 105"/>
                <a:gd name="T42" fmla="*/ 3 w 126"/>
                <a:gd name="T43" fmla="*/ 66 h 105"/>
                <a:gd name="T44" fmla="*/ 0 w 126"/>
                <a:gd name="T45" fmla="*/ 5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6"/>
                <a:gd name="T70" fmla="*/ 0 h 105"/>
                <a:gd name="T71" fmla="*/ 126 w 126"/>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6" h="105">
                  <a:moveTo>
                    <a:pt x="0" y="52"/>
                  </a:moveTo>
                  <a:lnTo>
                    <a:pt x="3" y="37"/>
                  </a:lnTo>
                  <a:lnTo>
                    <a:pt x="10" y="23"/>
                  </a:lnTo>
                  <a:lnTo>
                    <a:pt x="22" y="12"/>
                  </a:lnTo>
                  <a:lnTo>
                    <a:pt x="36" y="4"/>
                  </a:lnTo>
                  <a:lnTo>
                    <a:pt x="54" y="0"/>
                  </a:lnTo>
                  <a:lnTo>
                    <a:pt x="72" y="0"/>
                  </a:lnTo>
                  <a:lnTo>
                    <a:pt x="88" y="4"/>
                  </a:lnTo>
                  <a:lnTo>
                    <a:pt x="104" y="12"/>
                  </a:lnTo>
                  <a:lnTo>
                    <a:pt x="115" y="23"/>
                  </a:lnTo>
                  <a:lnTo>
                    <a:pt x="123" y="37"/>
                  </a:lnTo>
                  <a:lnTo>
                    <a:pt x="126" y="52"/>
                  </a:lnTo>
                  <a:lnTo>
                    <a:pt x="123" y="66"/>
                  </a:lnTo>
                  <a:lnTo>
                    <a:pt x="115" y="81"/>
                  </a:lnTo>
                  <a:lnTo>
                    <a:pt x="104" y="92"/>
                  </a:lnTo>
                  <a:lnTo>
                    <a:pt x="88" y="100"/>
                  </a:lnTo>
                  <a:lnTo>
                    <a:pt x="72" y="105"/>
                  </a:lnTo>
                  <a:lnTo>
                    <a:pt x="54" y="105"/>
                  </a:lnTo>
                  <a:lnTo>
                    <a:pt x="36" y="100"/>
                  </a:lnTo>
                  <a:lnTo>
                    <a:pt x="22" y="92"/>
                  </a:lnTo>
                  <a:lnTo>
                    <a:pt x="10" y="81"/>
                  </a:lnTo>
                  <a:lnTo>
                    <a:pt x="3" y="66"/>
                  </a:lnTo>
                  <a:lnTo>
                    <a:pt x="0" y="52"/>
                  </a:lnTo>
                  <a:close/>
                </a:path>
              </a:pathLst>
            </a:custGeom>
            <a:solidFill>
              <a:srgbClr val="00FFFF"/>
            </a:solidFill>
            <a:ln w="9525">
              <a:noFill/>
              <a:round/>
              <a:headEnd/>
              <a:tailEnd/>
            </a:ln>
          </p:spPr>
          <p:txBody>
            <a:bodyPr/>
            <a:lstStyle/>
            <a:p>
              <a:endParaRPr lang="en-US"/>
            </a:p>
          </p:txBody>
        </p:sp>
        <p:sp>
          <p:nvSpPr>
            <p:cNvPr id="28697" name="Rectangle 26"/>
            <p:cNvSpPr>
              <a:spLocks noChangeArrowheads="1"/>
            </p:cNvSpPr>
            <p:nvPr/>
          </p:nvSpPr>
          <p:spPr bwMode="auto">
            <a:xfrm>
              <a:off x="2061" y="3077"/>
              <a:ext cx="29"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6</a:t>
              </a:r>
              <a:endParaRPr lang="en-US">
                <a:cs typeface="Arial" charset="0"/>
              </a:endParaRPr>
            </a:p>
          </p:txBody>
        </p:sp>
        <p:sp>
          <p:nvSpPr>
            <p:cNvPr id="28698" name="Rectangle 27"/>
            <p:cNvSpPr>
              <a:spLocks noChangeArrowheads="1"/>
            </p:cNvSpPr>
            <p:nvPr/>
          </p:nvSpPr>
          <p:spPr bwMode="auto">
            <a:xfrm>
              <a:off x="677" y="2264"/>
              <a:ext cx="803" cy="127"/>
            </a:xfrm>
            <a:prstGeom prst="rect">
              <a:avLst/>
            </a:prstGeom>
            <a:solidFill>
              <a:srgbClr val="FFFFFF"/>
            </a:solidFill>
            <a:ln w="4763">
              <a:solidFill>
                <a:srgbClr val="0000FF"/>
              </a:solidFill>
              <a:miter lim="800000"/>
              <a:headEnd/>
              <a:tailEnd/>
            </a:ln>
          </p:spPr>
          <p:txBody>
            <a:bodyPr/>
            <a:lstStyle/>
            <a:p>
              <a:endParaRPr lang="en-US"/>
            </a:p>
          </p:txBody>
        </p:sp>
        <p:sp>
          <p:nvSpPr>
            <p:cNvPr id="28699" name="Rectangle 28"/>
            <p:cNvSpPr>
              <a:spLocks noChangeArrowheads="1"/>
            </p:cNvSpPr>
            <p:nvPr/>
          </p:nvSpPr>
          <p:spPr bwMode="auto">
            <a:xfrm>
              <a:off x="888" y="2288"/>
              <a:ext cx="307"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PMT Leads</a:t>
              </a:r>
              <a:endParaRPr lang="en-US">
                <a:cs typeface="Arial" charset="0"/>
              </a:endParaRPr>
            </a:p>
          </p:txBody>
        </p:sp>
        <p:sp>
          <p:nvSpPr>
            <p:cNvPr id="28700" name="Rectangle 29"/>
            <p:cNvSpPr>
              <a:spLocks noChangeArrowheads="1"/>
            </p:cNvSpPr>
            <p:nvPr/>
          </p:nvSpPr>
          <p:spPr bwMode="auto">
            <a:xfrm>
              <a:off x="677" y="2391"/>
              <a:ext cx="803" cy="382"/>
            </a:xfrm>
            <a:prstGeom prst="rect">
              <a:avLst/>
            </a:prstGeom>
            <a:solidFill>
              <a:srgbClr val="FFFFFF"/>
            </a:solidFill>
            <a:ln w="4763">
              <a:solidFill>
                <a:srgbClr val="0000FF"/>
              </a:solidFill>
              <a:miter lim="800000"/>
              <a:headEnd/>
              <a:tailEnd/>
            </a:ln>
          </p:spPr>
          <p:txBody>
            <a:bodyPr/>
            <a:lstStyle/>
            <a:p>
              <a:endParaRPr lang="en-US"/>
            </a:p>
          </p:txBody>
        </p:sp>
        <p:sp>
          <p:nvSpPr>
            <p:cNvPr id="28701" name="Rectangle 30"/>
            <p:cNvSpPr>
              <a:spLocks noChangeArrowheads="1"/>
            </p:cNvSpPr>
            <p:nvPr/>
          </p:nvSpPr>
          <p:spPr bwMode="auto">
            <a:xfrm>
              <a:off x="742" y="2491"/>
              <a:ext cx="558"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Establish report /</a:t>
              </a:r>
              <a:endParaRPr lang="en-US">
                <a:cs typeface="Arial" charset="0"/>
              </a:endParaRPr>
            </a:p>
          </p:txBody>
        </p:sp>
        <p:sp>
          <p:nvSpPr>
            <p:cNvPr id="28702" name="Rectangle 31"/>
            <p:cNvSpPr>
              <a:spLocks noChangeArrowheads="1"/>
            </p:cNvSpPr>
            <p:nvPr/>
          </p:nvSpPr>
          <p:spPr bwMode="auto">
            <a:xfrm>
              <a:off x="832" y="2582"/>
              <a:ext cx="409"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study format</a:t>
              </a:r>
              <a:endParaRPr lang="en-US">
                <a:cs typeface="Arial" charset="0"/>
              </a:endParaRPr>
            </a:p>
          </p:txBody>
        </p:sp>
        <p:sp>
          <p:nvSpPr>
            <p:cNvPr id="28703" name="Rectangle 32"/>
            <p:cNvSpPr>
              <a:spLocks noChangeArrowheads="1"/>
            </p:cNvSpPr>
            <p:nvPr/>
          </p:nvSpPr>
          <p:spPr bwMode="auto">
            <a:xfrm>
              <a:off x="1680" y="2264"/>
              <a:ext cx="901" cy="127"/>
            </a:xfrm>
            <a:prstGeom prst="rect">
              <a:avLst/>
            </a:prstGeom>
            <a:solidFill>
              <a:srgbClr val="FFFFFF"/>
            </a:solidFill>
            <a:ln w="4763">
              <a:solidFill>
                <a:srgbClr val="0000FF"/>
              </a:solidFill>
              <a:miter lim="800000"/>
              <a:headEnd/>
              <a:tailEnd/>
            </a:ln>
          </p:spPr>
          <p:txBody>
            <a:bodyPr/>
            <a:lstStyle/>
            <a:p>
              <a:endParaRPr lang="en-US"/>
            </a:p>
          </p:txBody>
        </p:sp>
        <p:sp>
          <p:nvSpPr>
            <p:cNvPr id="28704" name="Rectangle 33"/>
            <p:cNvSpPr>
              <a:spLocks noChangeArrowheads="1"/>
            </p:cNvSpPr>
            <p:nvPr/>
          </p:nvSpPr>
          <p:spPr bwMode="auto">
            <a:xfrm>
              <a:off x="1959" y="2288"/>
              <a:ext cx="551"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Discipline Lead</a:t>
              </a:r>
              <a:endParaRPr lang="en-US">
                <a:cs typeface="Arial" charset="0"/>
              </a:endParaRPr>
            </a:p>
          </p:txBody>
        </p:sp>
        <p:sp>
          <p:nvSpPr>
            <p:cNvPr id="28705" name="Rectangle 34"/>
            <p:cNvSpPr>
              <a:spLocks noChangeArrowheads="1"/>
            </p:cNvSpPr>
            <p:nvPr/>
          </p:nvSpPr>
          <p:spPr bwMode="auto">
            <a:xfrm>
              <a:off x="1680" y="2391"/>
              <a:ext cx="901" cy="382"/>
            </a:xfrm>
            <a:prstGeom prst="rect">
              <a:avLst/>
            </a:prstGeom>
            <a:solidFill>
              <a:srgbClr val="FFFFFF"/>
            </a:solidFill>
            <a:ln w="4763">
              <a:solidFill>
                <a:srgbClr val="0000FF"/>
              </a:solidFill>
              <a:miter lim="800000"/>
              <a:headEnd/>
              <a:tailEnd/>
            </a:ln>
          </p:spPr>
          <p:txBody>
            <a:bodyPr/>
            <a:lstStyle/>
            <a:p>
              <a:endParaRPr lang="en-US"/>
            </a:p>
          </p:txBody>
        </p:sp>
        <p:sp>
          <p:nvSpPr>
            <p:cNvPr id="28706" name="Rectangle 35"/>
            <p:cNvSpPr>
              <a:spLocks noChangeArrowheads="1"/>
            </p:cNvSpPr>
            <p:nvPr/>
          </p:nvSpPr>
          <p:spPr bwMode="auto">
            <a:xfrm>
              <a:off x="1849" y="2446"/>
              <a:ext cx="467"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Assign unique</a:t>
              </a:r>
              <a:endParaRPr lang="en-US">
                <a:cs typeface="Arial" charset="0"/>
              </a:endParaRPr>
            </a:p>
          </p:txBody>
        </p:sp>
        <p:sp>
          <p:nvSpPr>
            <p:cNvPr id="28707" name="Rectangle 36"/>
            <p:cNvSpPr>
              <a:spLocks noChangeArrowheads="1"/>
            </p:cNvSpPr>
            <p:nvPr/>
          </p:nvSpPr>
          <p:spPr bwMode="auto">
            <a:xfrm>
              <a:off x="1820" y="2537"/>
              <a:ext cx="516"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number to each</a:t>
              </a:r>
              <a:endParaRPr lang="en-US">
                <a:cs typeface="Arial" charset="0"/>
              </a:endParaRPr>
            </a:p>
          </p:txBody>
        </p:sp>
        <p:sp>
          <p:nvSpPr>
            <p:cNvPr id="28708" name="Rectangle 37"/>
            <p:cNvSpPr>
              <a:spLocks noChangeArrowheads="1"/>
            </p:cNvSpPr>
            <p:nvPr/>
          </p:nvSpPr>
          <p:spPr bwMode="auto">
            <a:xfrm>
              <a:off x="1869" y="2627"/>
              <a:ext cx="434"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report / study</a:t>
              </a:r>
              <a:endParaRPr lang="en-US">
                <a:cs typeface="Arial" charset="0"/>
              </a:endParaRPr>
            </a:p>
          </p:txBody>
        </p:sp>
        <p:sp>
          <p:nvSpPr>
            <p:cNvPr id="28709" name="Rectangle 38"/>
            <p:cNvSpPr>
              <a:spLocks noChangeArrowheads="1"/>
            </p:cNvSpPr>
            <p:nvPr/>
          </p:nvSpPr>
          <p:spPr bwMode="auto">
            <a:xfrm>
              <a:off x="2806" y="2264"/>
              <a:ext cx="801" cy="127"/>
            </a:xfrm>
            <a:prstGeom prst="rect">
              <a:avLst/>
            </a:prstGeom>
            <a:solidFill>
              <a:srgbClr val="FFFFFF"/>
            </a:solidFill>
            <a:ln w="4763">
              <a:solidFill>
                <a:srgbClr val="0000FF"/>
              </a:solidFill>
              <a:miter lim="800000"/>
              <a:headEnd/>
              <a:tailEnd/>
            </a:ln>
          </p:spPr>
          <p:txBody>
            <a:bodyPr/>
            <a:lstStyle/>
            <a:p>
              <a:endParaRPr lang="en-US"/>
            </a:p>
          </p:txBody>
        </p:sp>
        <p:sp>
          <p:nvSpPr>
            <p:cNvPr id="28710" name="Rectangle 39"/>
            <p:cNvSpPr>
              <a:spLocks noChangeArrowheads="1"/>
            </p:cNvSpPr>
            <p:nvPr/>
          </p:nvSpPr>
          <p:spPr bwMode="auto">
            <a:xfrm>
              <a:off x="3032" y="2288"/>
              <a:ext cx="414"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Engineers</a:t>
              </a:r>
              <a:endParaRPr lang="en-US">
                <a:cs typeface="Arial" charset="0"/>
              </a:endParaRPr>
            </a:p>
          </p:txBody>
        </p:sp>
        <p:sp>
          <p:nvSpPr>
            <p:cNvPr id="28711" name="Rectangle 40"/>
            <p:cNvSpPr>
              <a:spLocks noChangeArrowheads="1"/>
            </p:cNvSpPr>
            <p:nvPr/>
          </p:nvSpPr>
          <p:spPr bwMode="auto">
            <a:xfrm>
              <a:off x="2806" y="2391"/>
              <a:ext cx="801" cy="382"/>
            </a:xfrm>
            <a:prstGeom prst="rect">
              <a:avLst/>
            </a:prstGeom>
            <a:solidFill>
              <a:srgbClr val="FFFFFF"/>
            </a:solidFill>
            <a:ln w="4763">
              <a:solidFill>
                <a:srgbClr val="0000FF"/>
              </a:solidFill>
              <a:miter lim="800000"/>
              <a:headEnd/>
              <a:tailEnd/>
            </a:ln>
          </p:spPr>
          <p:txBody>
            <a:bodyPr/>
            <a:lstStyle/>
            <a:p>
              <a:endParaRPr lang="en-US"/>
            </a:p>
          </p:txBody>
        </p:sp>
        <p:sp>
          <p:nvSpPr>
            <p:cNvPr id="28712" name="Rectangle 41"/>
            <p:cNvSpPr>
              <a:spLocks noChangeArrowheads="1"/>
            </p:cNvSpPr>
            <p:nvPr/>
          </p:nvSpPr>
          <p:spPr bwMode="auto">
            <a:xfrm>
              <a:off x="2882" y="2446"/>
              <a:ext cx="692" cy="27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Prepare Report and</a:t>
              </a:r>
            </a:p>
            <a:p>
              <a:r>
                <a:rPr lang="en-US" sz="1000">
                  <a:solidFill>
                    <a:srgbClr val="000000"/>
                  </a:solidFill>
                  <a:cs typeface="Arial" charset="0"/>
                </a:rPr>
                <a:t>Name electronic files</a:t>
              </a:r>
            </a:p>
            <a:p>
              <a:r>
                <a:rPr lang="en-US" sz="1000">
                  <a:solidFill>
                    <a:srgbClr val="000000"/>
                  </a:solidFill>
                  <a:cs typeface="Arial" charset="0"/>
                </a:rPr>
                <a:t>In consistent manner</a:t>
              </a:r>
              <a:endParaRPr lang="en-US">
                <a:cs typeface="Arial" charset="0"/>
              </a:endParaRPr>
            </a:p>
          </p:txBody>
        </p:sp>
        <p:sp>
          <p:nvSpPr>
            <p:cNvPr id="28713" name="Rectangle 42"/>
            <p:cNvSpPr>
              <a:spLocks noChangeArrowheads="1"/>
            </p:cNvSpPr>
            <p:nvPr/>
          </p:nvSpPr>
          <p:spPr bwMode="auto">
            <a:xfrm>
              <a:off x="2863" y="2537"/>
              <a:ext cx="1" cy="162"/>
            </a:xfrm>
            <a:prstGeom prst="rect">
              <a:avLst/>
            </a:prstGeom>
            <a:noFill/>
            <a:ln w="9525">
              <a:noFill/>
              <a:miter lim="800000"/>
              <a:headEnd/>
              <a:tailEnd/>
            </a:ln>
          </p:spPr>
          <p:txBody>
            <a:bodyPr wrap="none" lIns="0" tIns="0" rIns="0" bIns="0">
              <a:spAutoFit/>
            </a:bodyPr>
            <a:lstStyle/>
            <a:p>
              <a:endParaRPr lang="en-US">
                <a:cs typeface="Arial" charset="0"/>
              </a:endParaRPr>
            </a:p>
          </p:txBody>
        </p:sp>
        <p:sp>
          <p:nvSpPr>
            <p:cNvPr id="28714" name="Rectangle 43"/>
            <p:cNvSpPr>
              <a:spLocks noChangeArrowheads="1"/>
            </p:cNvSpPr>
            <p:nvPr/>
          </p:nvSpPr>
          <p:spPr bwMode="auto">
            <a:xfrm>
              <a:off x="3054" y="2627"/>
              <a:ext cx="1" cy="162"/>
            </a:xfrm>
            <a:prstGeom prst="rect">
              <a:avLst/>
            </a:prstGeom>
            <a:noFill/>
            <a:ln w="9525">
              <a:noFill/>
              <a:miter lim="800000"/>
              <a:headEnd/>
              <a:tailEnd/>
            </a:ln>
          </p:spPr>
          <p:txBody>
            <a:bodyPr wrap="none" lIns="0" tIns="0" rIns="0" bIns="0">
              <a:spAutoFit/>
            </a:bodyPr>
            <a:lstStyle/>
            <a:p>
              <a:endParaRPr lang="en-US">
                <a:cs typeface="Arial" charset="0"/>
              </a:endParaRPr>
            </a:p>
          </p:txBody>
        </p:sp>
        <p:sp>
          <p:nvSpPr>
            <p:cNvPr id="28715" name="Line 44"/>
            <p:cNvSpPr>
              <a:spLocks noChangeShapeType="1"/>
            </p:cNvSpPr>
            <p:nvPr/>
          </p:nvSpPr>
          <p:spPr bwMode="auto">
            <a:xfrm>
              <a:off x="1480" y="2519"/>
              <a:ext cx="154" cy="1"/>
            </a:xfrm>
            <a:prstGeom prst="line">
              <a:avLst/>
            </a:prstGeom>
            <a:noFill/>
            <a:ln w="4763">
              <a:solidFill>
                <a:srgbClr val="000000"/>
              </a:solidFill>
              <a:round/>
              <a:headEnd/>
              <a:tailEnd/>
            </a:ln>
          </p:spPr>
          <p:txBody>
            <a:bodyPr/>
            <a:lstStyle/>
            <a:p>
              <a:endParaRPr lang="en-US"/>
            </a:p>
          </p:txBody>
        </p:sp>
        <p:sp>
          <p:nvSpPr>
            <p:cNvPr id="28716" name="Freeform 45"/>
            <p:cNvSpPr>
              <a:spLocks/>
            </p:cNvSpPr>
            <p:nvPr/>
          </p:nvSpPr>
          <p:spPr bwMode="auto">
            <a:xfrm>
              <a:off x="1619" y="2493"/>
              <a:ext cx="61" cy="52"/>
            </a:xfrm>
            <a:custGeom>
              <a:avLst/>
              <a:gdLst>
                <a:gd name="T0" fmla="*/ 61 w 61"/>
                <a:gd name="T1" fmla="*/ 26 h 52"/>
                <a:gd name="T2" fmla="*/ 0 w 61"/>
                <a:gd name="T3" fmla="*/ 52 h 52"/>
                <a:gd name="T4" fmla="*/ 1 w 61"/>
                <a:gd name="T5" fmla="*/ 48 h 52"/>
                <a:gd name="T6" fmla="*/ 3 w 61"/>
                <a:gd name="T7" fmla="*/ 46 h 52"/>
                <a:gd name="T8" fmla="*/ 5 w 61"/>
                <a:gd name="T9" fmla="*/ 39 h 52"/>
                <a:gd name="T10" fmla="*/ 5 w 61"/>
                <a:gd name="T11" fmla="*/ 37 h 52"/>
                <a:gd name="T12" fmla="*/ 7 w 61"/>
                <a:gd name="T13" fmla="*/ 34 h 52"/>
                <a:gd name="T14" fmla="*/ 7 w 61"/>
                <a:gd name="T15" fmla="*/ 18 h 52"/>
                <a:gd name="T16" fmla="*/ 5 w 61"/>
                <a:gd name="T17" fmla="*/ 14 h 52"/>
                <a:gd name="T18" fmla="*/ 5 w 61"/>
                <a:gd name="T19" fmla="*/ 11 h 52"/>
                <a:gd name="T20" fmla="*/ 4 w 61"/>
                <a:gd name="T21" fmla="*/ 9 h 52"/>
                <a:gd name="T22" fmla="*/ 3 w 61"/>
                <a:gd name="T23" fmla="*/ 5 h 52"/>
                <a:gd name="T24" fmla="*/ 1 w 61"/>
                <a:gd name="T25" fmla="*/ 3 h 52"/>
                <a:gd name="T26" fmla="*/ 0 w 61"/>
                <a:gd name="T27" fmla="*/ 0 h 52"/>
                <a:gd name="T28" fmla="*/ 61 w 61"/>
                <a:gd name="T29" fmla="*/ 26 h 5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
                <a:gd name="T46" fmla="*/ 0 h 52"/>
                <a:gd name="T47" fmla="*/ 61 w 61"/>
                <a:gd name="T48" fmla="*/ 52 h 5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 h="52">
                  <a:moveTo>
                    <a:pt x="61" y="26"/>
                  </a:moveTo>
                  <a:lnTo>
                    <a:pt x="0" y="52"/>
                  </a:lnTo>
                  <a:lnTo>
                    <a:pt x="1" y="48"/>
                  </a:lnTo>
                  <a:lnTo>
                    <a:pt x="3" y="46"/>
                  </a:lnTo>
                  <a:lnTo>
                    <a:pt x="5" y="39"/>
                  </a:lnTo>
                  <a:lnTo>
                    <a:pt x="5" y="37"/>
                  </a:lnTo>
                  <a:lnTo>
                    <a:pt x="7" y="34"/>
                  </a:lnTo>
                  <a:lnTo>
                    <a:pt x="7" y="18"/>
                  </a:lnTo>
                  <a:lnTo>
                    <a:pt x="5" y="14"/>
                  </a:lnTo>
                  <a:lnTo>
                    <a:pt x="5" y="11"/>
                  </a:lnTo>
                  <a:lnTo>
                    <a:pt x="4" y="9"/>
                  </a:lnTo>
                  <a:lnTo>
                    <a:pt x="3" y="5"/>
                  </a:lnTo>
                  <a:lnTo>
                    <a:pt x="1" y="3"/>
                  </a:lnTo>
                  <a:lnTo>
                    <a:pt x="0" y="0"/>
                  </a:lnTo>
                  <a:lnTo>
                    <a:pt x="61" y="26"/>
                  </a:lnTo>
                  <a:close/>
                </a:path>
              </a:pathLst>
            </a:custGeom>
            <a:solidFill>
              <a:srgbClr val="000000"/>
            </a:solidFill>
            <a:ln w="9525">
              <a:noFill/>
              <a:round/>
              <a:headEnd/>
              <a:tailEnd/>
            </a:ln>
          </p:spPr>
          <p:txBody>
            <a:bodyPr/>
            <a:lstStyle/>
            <a:p>
              <a:endParaRPr lang="en-US"/>
            </a:p>
          </p:txBody>
        </p:sp>
        <p:sp>
          <p:nvSpPr>
            <p:cNvPr id="28717" name="Line 46"/>
            <p:cNvSpPr>
              <a:spLocks noChangeShapeType="1"/>
            </p:cNvSpPr>
            <p:nvPr/>
          </p:nvSpPr>
          <p:spPr bwMode="auto">
            <a:xfrm>
              <a:off x="2581" y="2519"/>
              <a:ext cx="178" cy="1"/>
            </a:xfrm>
            <a:prstGeom prst="line">
              <a:avLst/>
            </a:prstGeom>
            <a:noFill/>
            <a:ln w="4763">
              <a:solidFill>
                <a:srgbClr val="000000"/>
              </a:solidFill>
              <a:round/>
              <a:headEnd/>
              <a:tailEnd/>
            </a:ln>
          </p:spPr>
          <p:txBody>
            <a:bodyPr/>
            <a:lstStyle/>
            <a:p>
              <a:endParaRPr lang="en-US"/>
            </a:p>
          </p:txBody>
        </p:sp>
        <p:sp>
          <p:nvSpPr>
            <p:cNvPr id="28718" name="Freeform 47"/>
            <p:cNvSpPr>
              <a:spLocks/>
            </p:cNvSpPr>
            <p:nvPr/>
          </p:nvSpPr>
          <p:spPr bwMode="auto">
            <a:xfrm>
              <a:off x="2745" y="2493"/>
              <a:ext cx="61" cy="52"/>
            </a:xfrm>
            <a:custGeom>
              <a:avLst/>
              <a:gdLst>
                <a:gd name="T0" fmla="*/ 61 w 61"/>
                <a:gd name="T1" fmla="*/ 26 h 52"/>
                <a:gd name="T2" fmla="*/ 0 w 61"/>
                <a:gd name="T3" fmla="*/ 52 h 52"/>
                <a:gd name="T4" fmla="*/ 1 w 61"/>
                <a:gd name="T5" fmla="*/ 48 h 52"/>
                <a:gd name="T6" fmla="*/ 2 w 61"/>
                <a:gd name="T7" fmla="*/ 46 h 52"/>
                <a:gd name="T8" fmla="*/ 5 w 61"/>
                <a:gd name="T9" fmla="*/ 39 h 52"/>
                <a:gd name="T10" fmla="*/ 5 w 61"/>
                <a:gd name="T11" fmla="*/ 37 h 52"/>
                <a:gd name="T12" fmla="*/ 6 w 61"/>
                <a:gd name="T13" fmla="*/ 34 h 52"/>
                <a:gd name="T14" fmla="*/ 6 w 61"/>
                <a:gd name="T15" fmla="*/ 18 h 52"/>
                <a:gd name="T16" fmla="*/ 5 w 61"/>
                <a:gd name="T17" fmla="*/ 14 h 52"/>
                <a:gd name="T18" fmla="*/ 5 w 61"/>
                <a:gd name="T19" fmla="*/ 11 h 52"/>
                <a:gd name="T20" fmla="*/ 4 w 61"/>
                <a:gd name="T21" fmla="*/ 9 h 52"/>
                <a:gd name="T22" fmla="*/ 2 w 61"/>
                <a:gd name="T23" fmla="*/ 5 h 52"/>
                <a:gd name="T24" fmla="*/ 1 w 61"/>
                <a:gd name="T25" fmla="*/ 3 h 52"/>
                <a:gd name="T26" fmla="*/ 0 w 61"/>
                <a:gd name="T27" fmla="*/ 0 h 52"/>
                <a:gd name="T28" fmla="*/ 61 w 61"/>
                <a:gd name="T29" fmla="*/ 26 h 5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
                <a:gd name="T46" fmla="*/ 0 h 52"/>
                <a:gd name="T47" fmla="*/ 61 w 61"/>
                <a:gd name="T48" fmla="*/ 52 h 5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 h="52">
                  <a:moveTo>
                    <a:pt x="61" y="26"/>
                  </a:moveTo>
                  <a:lnTo>
                    <a:pt x="0" y="52"/>
                  </a:lnTo>
                  <a:lnTo>
                    <a:pt x="1" y="48"/>
                  </a:lnTo>
                  <a:lnTo>
                    <a:pt x="2" y="46"/>
                  </a:lnTo>
                  <a:lnTo>
                    <a:pt x="5" y="39"/>
                  </a:lnTo>
                  <a:lnTo>
                    <a:pt x="5" y="37"/>
                  </a:lnTo>
                  <a:lnTo>
                    <a:pt x="6" y="34"/>
                  </a:lnTo>
                  <a:lnTo>
                    <a:pt x="6" y="18"/>
                  </a:lnTo>
                  <a:lnTo>
                    <a:pt x="5" y="14"/>
                  </a:lnTo>
                  <a:lnTo>
                    <a:pt x="5" y="11"/>
                  </a:lnTo>
                  <a:lnTo>
                    <a:pt x="4" y="9"/>
                  </a:lnTo>
                  <a:lnTo>
                    <a:pt x="2" y="5"/>
                  </a:lnTo>
                  <a:lnTo>
                    <a:pt x="1" y="3"/>
                  </a:lnTo>
                  <a:lnTo>
                    <a:pt x="0" y="0"/>
                  </a:lnTo>
                  <a:lnTo>
                    <a:pt x="61" y="26"/>
                  </a:lnTo>
                  <a:close/>
                </a:path>
              </a:pathLst>
            </a:custGeom>
            <a:solidFill>
              <a:srgbClr val="000000"/>
            </a:solidFill>
            <a:ln w="9525">
              <a:noFill/>
              <a:round/>
              <a:headEnd/>
              <a:tailEnd/>
            </a:ln>
          </p:spPr>
          <p:txBody>
            <a:bodyPr/>
            <a:lstStyle/>
            <a:p>
              <a:endParaRPr lang="en-US"/>
            </a:p>
          </p:txBody>
        </p:sp>
        <p:sp>
          <p:nvSpPr>
            <p:cNvPr id="28719" name="Rectangle 48"/>
            <p:cNvSpPr>
              <a:spLocks noChangeArrowheads="1"/>
            </p:cNvSpPr>
            <p:nvPr/>
          </p:nvSpPr>
          <p:spPr bwMode="auto">
            <a:xfrm>
              <a:off x="3806" y="2264"/>
              <a:ext cx="977" cy="127"/>
            </a:xfrm>
            <a:prstGeom prst="rect">
              <a:avLst/>
            </a:prstGeom>
            <a:solidFill>
              <a:srgbClr val="FFFFFF"/>
            </a:solidFill>
            <a:ln w="4763">
              <a:solidFill>
                <a:srgbClr val="0000FF"/>
              </a:solidFill>
              <a:miter lim="800000"/>
              <a:headEnd/>
              <a:tailEnd/>
            </a:ln>
          </p:spPr>
          <p:txBody>
            <a:bodyPr/>
            <a:lstStyle/>
            <a:p>
              <a:endParaRPr lang="en-US"/>
            </a:p>
          </p:txBody>
        </p:sp>
        <p:sp>
          <p:nvSpPr>
            <p:cNvPr id="28720" name="Rectangle 49"/>
            <p:cNvSpPr>
              <a:spLocks noChangeArrowheads="1"/>
            </p:cNvSpPr>
            <p:nvPr/>
          </p:nvSpPr>
          <p:spPr bwMode="auto">
            <a:xfrm>
              <a:off x="4122" y="2288"/>
              <a:ext cx="414"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Engineers</a:t>
              </a:r>
              <a:endParaRPr lang="en-US">
                <a:cs typeface="Arial" charset="0"/>
              </a:endParaRPr>
            </a:p>
          </p:txBody>
        </p:sp>
        <p:sp>
          <p:nvSpPr>
            <p:cNvPr id="28721" name="Rectangle 50"/>
            <p:cNvSpPr>
              <a:spLocks noChangeArrowheads="1"/>
            </p:cNvSpPr>
            <p:nvPr/>
          </p:nvSpPr>
          <p:spPr bwMode="auto">
            <a:xfrm>
              <a:off x="3806" y="2391"/>
              <a:ext cx="977" cy="382"/>
            </a:xfrm>
            <a:prstGeom prst="rect">
              <a:avLst/>
            </a:prstGeom>
            <a:solidFill>
              <a:srgbClr val="FFFFFF"/>
            </a:solidFill>
            <a:ln w="4763">
              <a:solidFill>
                <a:srgbClr val="0000FF"/>
              </a:solidFill>
              <a:miter lim="800000"/>
              <a:headEnd/>
              <a:tailEnd/>
            </a:ln>
          </p:spPr>
          <p:txBody>
            <a:bodyPr/>
            <a:lstStyle/>
            <a:p>
              <a:endParaRPr lang="en-US"/>
            </a:p>
          </p:txBody>
        </p:sp>
        <p:sp>
          <p:nvSpPr>
            <p:cNvPr id="28722" name="Rectangle 51"/>
            <p:cNvSpPr>
              <a:spLocks noChangeArrowheads="1"/>
            </p:cNvSpPr>
            <p:nvPr/>
          </p:nvSpPr>
          <p:spPr bwMode="auto">
            <a:xfrm>
              <a:off x="3977" y="2446"/>
              <a:ext cx="529"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Ensure reports /</a:t>
              </a:r>
              <a:endParaRPr lang="en-US">
                <a:cs typeface="Arial" charset="0"/>
              </a:endParaRPr>
            </a:p>
          </p:txBody>
        </p:sp>
        <p:sp>
          <p:nvSpPr>
            <p:cNvPr id="28723" name="Rectangle 52"/>
            <p:cNvSpPr>
              <a:spLocks noChangeArrowheads="1"/>
            </p:cNvSpPr>
            <p:nvPr/>
          </p:nvSpPr>
          <p:spPr bwMode="auto">
            <a:xfrm>
              <a:off x="3960" y="2537"/>
              <a:ext cx="557"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studies contain a</a:t>
              </a:r>
              <a:endParaRPr lang="en-US">
                <a:cs typeface="Arial" charset="0"/>
              </a:endParaRPr>
            </a:p>
          </p:txBody>
        </p:sp>
        <p:sp>
          <p:nvSpPr>
            <p:cNvPr id="28724" name="Rectangle 53"/>
            <p:cNvSpPr>
              <a:spLocks noChangeArrowheads="1"/>
            </p:cNvSpPr>
            <p:nvPr/>
          </p:nvSpPr>
          <p:spPr bwMode="auto">
            <a:xfrm>
              <a:off x="3830" y="2627"/>
              <a:ext cx="773"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unique revision number</a:t>
              </a:r>
              <a:endParaRPr lang="en-US">
                <a:cs typeface="Arial" charset="0"/>
              </a:endParaRPr>
            </a:p>
          </p:txBody>
        </p:sp>
        <p:sp>
          <p:nvSpPr>
            <p:cNvPr id="28725" name="Line 54"/>
            <p:cNvSpPr>
              <a:spLocks noChangeShapeType="1"/>
            </p:cNvSpPr>
            <p:nvPr/>
          </p:nvSpPr>
          <p:spPr bwMode="auto">
            <a:xfrm>
              <a:off x="3607" y="2519"/>
              <a:ext cx="153" cy="1"/>
            </a:xfrm>
            <a:prstGeom prst="line">
              <a:avLst/>
            </a:prstGeom>
            <a:noFill/>
            <a:ln w="4763">
              <a:solidFill>
                <a:srgbClr val="000000"/>
              </a:solidFill>
              <a:round/>
              <a:headEnd/>
              <a:tailEnd/>
            </a:ln>
          </p:spPr>
          <p:txBody>
            <a:bodyPr/>
            <a:lstStyle/>
            <a:p>
              <a:endParaRPr lang="en-US"/>
            </a:p>
          </p:txBody>
        </p:sp>
        <p:sp>
          <p:nvSpPr>
            <p:cNvPr id="28726" name="Freeform 55"/>
            <p:cNvSpPr>
              <a:spLocks/>
            </p:cNvSpPr>
            <p:nvPr/>
          </p:nvSpPr>
          <p:spPr bwMode="auto">
            <a:xfrm>
              <a:off x="3745" y="2493"/>
              <a:ext cx="61" cy="52"/>
            </a:xfrm>
            <a:custGeom>
              <a:avLst/>
              <a:gdLst>
                <a:gd name="T0" fmla="*/ 61 w 61"/>
                <a:gd name="T1" fmla="*/ 26 h 52"/>
                <a:gd name="T2" fmla="*/ 0 w 61"/>
                <a:gd name="T3" fmla="*/ 52 h 52"/>
                <a:gd name="T4" fmla="*/ 1 w 61"/>
                <a:gd name="T5" fmla="*/ 48 h 52"/>
                <a:gd name="T6" fmla="*/ 3 w 61"/>
                <a:gd name="T7" fmla="*/ 46 h 52"/>
                <a:gd name="T8" fmla="*/ 5 w 61"/>
                <a:gd name="T9" fmla="*/ 39 h 52"/>
                <a:gd name="T10" fmla="*/ 5 w 61"/>
                <a:gd name="T11" fmla="*/ 37 h 52"/>
                <a:gd name="T12" fmla="*/ 7 w 61"/>
                <a:gd name="T13" fmla="*/ 34 h 52"/>
                <a:gd name="T14" fmla="*/ 7 w 61"/>
                <a:gd name="T15" fmla="*/ 18 h 52"/>
                <a:gd name="T16" fmla="*/ 5 w 61"/>
                <a:gd name="T17" fmla="*/ 14 h 52"/>
                <a:gd name="T18" fmla="*/ 5 w 61"/>
                <a:gd name="T19" fmla="*/ 11 h 52"/>
                <a:gd name="T20" fmla="*/ 4 w 61"/>
                <a:gd name="T21" fmla="*/ 9 h 52"/>
                <a:gd name="T22" fmla="*/ 3 w 61"/>
                <a:gd name="T23" fmla="*/ 5 h 52"/>
                <a:gd name="T24" fmla="*/ 1 w 61"/>
                <a:gd name="T25" fmla="*/ 3 h 52"/>
                <a:gd name="T26" fmla="*/ 0 w 61"/>
                <a:gd name="T27" fmla="*/ 0 h 52"/>
                <a:gd name="T28" fmla="*/ 61 w 61"/>
                <a:gd name="T29" fmla="*/ 26 h 5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
                <a:gd name="T46" fmla="*/ 0 h 52"/>
                <a:gd name="T47" fmla="*/ 61 w 61"/>
                <a:gd name="T48" fmla="*/ 52 h 5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 h="52">
                  <a:moveTo>
                    <a:pt x="61" y="26"/>
                  </a:moveTo>
                  <a:lnTo>
                    <a:pt x="0" y="52"/>
                  </a:lnTo>
                  <a:lnTo>
                    <a:pt x="1" y="48"/>
                  </a:lnTo>
                  <a:lnTo>
                    <a:pt x="3" y="46"/>
                  </a:lnTo>
                  <a:lnTo>
                    <a:pt x="5" y="39"/>
                  </a:lnTo>
                  <a:lnTo>
                    <a:pt x="5" y="37"/>
                  </a:lnTo>
                  <a:lnTo>
                    <a:pt x="7" y="34"/>
                  </a:lnTo>
                  <a:lnTo>
                    <a:pt x="7" y="18"/>
                  </a:lnTo>
                  <a:lnTo>
                    <a:pt x="5" y="14"/>
                  </a:lnTo>
                  <a:lnTo>
                    <a:pt x="5" y="11"/>
                  </a:lnTo>
                  <a:lnTo>
                    <a:pt x="4" y="9"/>
                  </a:lnTo>
                  <a:lnTo>
                    <a:pt x="3" y="5"/>
                  </a:lnTo>
                  <a:lnTo>
                    <a:pt x="1" y="3"/>
                  </a:lnTo>
                  <a:lnTo>
                    <a:pt x="0" y="0"/>
                  </a:lnTo>
                  <a:lnTo>
                    <a:pt x="61" y="26"/>
                  </a:lnTo>
                  <a:close/>
                </a:path>
              </a:pathLst>
            </a:custGeom>
            <a:solidFill>
              <a:srgbClr val="000000"/>
            </a:solidFill>
            <a:ln w="9525">
              <a:noFill/>
              <a:round/>
              <a:headEnd/>
              <a:tailEnd/>
            </a:ln>
          </p:spPr>
          <p:txBody>
            <a:bodyPr/>
            <a:lstStyle/>
            <a:p>
              <a:endParaRPr lang="en-US"/>
            </a:p>
          </p:txBody>
        </p:sp>
        <p:sp>
          <p:nvSpPr>
            <p:cNvPr id="28727" name="Freeform 56"/>
            <p:cNvSpPr>
              <a:spLocks/>
            </p:cNvSpPr>
            <p:nvPr/>
          </p:nvSpPr>
          <p:spPr bwMode="auto">
            <a:xfrm>
              <a:off x="705" y="2275"/>
              <a:ext cx="124" cy="106"/>
            </a:xfrm>
            <a:custGeom>
              <a:avLst/>
              <a:gdLst>
                <a:gd name="T0" fmla="*/ 0 w 124"/>
                <a:gd name="T1" fmla="*/ 52 h 106"/>
                <a:gd name="T2" fmla="*/ 3 w 124"/>
                <a:gd name="T3" fmla="*/ 38 h 106"/>
                <a:gd name="T4" fmla="*/ 9 w 124"/>
                <a:gd name="T5" fmla="*/ 24 h 106"/>
                <a:gd name="T6" fmla="*/ 21 w 124"/>
                <a:gd name="T7" fmla="*/ 13 h 106"/>
                <a:gd name="T8" fmla="*/ 36 w 124"/>
                <a:gd name="T9" fmla="*/ 5 h 106"/>
                <a:gd name="T10" fmla="*/ 53 w 124"/>
                <a:gd name="T11" fmla="*/ 0 h 106"/>
                <a:gd name="T12" fmla="*/ 71 w 124"/>
                <a:gd name="T13" fmla="*/ 0 h 106"/>
                <a:gd name="T14" fmla="*/ 88 w 124"/>
                <a:gd name="T15" fmla="*/ 5 h 106"/>
                <a:gd name="T16" fmla="*/ 103 w 124"/>
                <a:gd name="T17" fmla="*/ 13 h 106"/>
                <a:gd name="T18" fmla="*/ 115 w 124"/>
                <a:gd name="T19" fmla="*/ 24 h 106"/>
                <a:gd name="T20" fmla="*/ 121 w 124"/>
                <a:gd name="T21" fmla="*/ 38 h 106"/>
                <a:gd name="T22" fmla="*/ 124 w 124"/>
                <a:gd name="T23" fmla="*/ 52 h 106"/>
                <a:gd name="T24" fmla="*/ 121 w 124"/>
                <a:gd name="T25" fmla="*/ 67 h 106"/>
                <a:gd name="T26" fmla="*/ 115 w 124"/>
                <a:gd name="T27" fmla="*/ 82 h 106"/>
                <a:gd name="T28" fmla="*/ 103 w 124"/>
                <a:gd name="T29" fmla="*/ 93 h 106"/>
                <a:gd name="T30" fmla="*/ 88 w 124"/>
                <a:gd name="T31" fmla="*/ 101 h 106"/>
                <a:gd name="T32" fmla="*/ 71 w 124"/>
                <a:gd name="T33" fmla="*/ 106 h 106"/>
                <a:gd name="T34" fmla="*/ 53 w 124"/>
                <a:gd name="T35" fmla="*/ 106 h 106"/>
                <a:gd name="T36" fmla="*/ 36 w 124"/>
                <a:gd name="T37" fmla="*/ 101 h 106"/>
                <a:gd name="T38" fmla="*/ 21 w 124"/>
                <a:gd name="T39" fmla="*/ 93 h 106"/>
                <a:gd name="T40" fmla="*/ 9 w 124"/>
                <a:gd name="T41" fmla="*/ 82 h 106"/>
                <a:gd name="T42" fmla="*/ 3 w 124"/>
                <a:gd name="T43" fmla="*/ 67 h 106"/>
                <a:gd name="T44" fmla="*/ 0 w 124"/>
                <a:gd name="T45" fmla="*/ 52 h 10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
                <a:gd name="T70" fmla="*/ 0 h 106"/>
                <a:gd name="T71" fmla="*/ 124 w 124"/>
                <a:gd name="T72" fmla="*/ 106 h 10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 h="106">
                  <a:moveTo>
                    <a:pt x="0" y="52"/>
                  </a:moveTo>
                  <a:lnTo>
                    <a:pt x="3" y="38"/>
                  </a:lnTo>
                  <a:lnTo>
                    <a:pt x="9" y="24"/>
                  </a:lnTo>
                  <a:lnTo>
                    <a:pt x="21" y="13"/>
                  </a:lnTo>
                  <a:lnTo>
                    <a:pt x="36" y="5"/>
                  </a:lnTo>
                  <a:lnTo>
                    <a:pt x="53" y="0"/>
                  </a:lnTo>
                  <a:lnTo>
                    <a:pt x="71" y="0"/>
                  </a:lnTo>
                  <a:lnTo>
                    <a:pt x="88" y="5"/>
                  </a:lnTo>
                  <a:lnTo>
                    <a:pt x="103" y="13"/>
                  </a:lnTo>
                  <a:lnTo>
                    <a:pt x="115" y="24"/>
                  </a:lnTo>
                  <a:lnTo>
                    <a:pt x="121" y="38"/>
                  </a:lnTo>
                  <a:lnTo>
                    <a:pt x="124" y="52"/>
                  </a:lnTo>
                  <a:lnTo>
                    <a:pt x="121" y="67"/>
                  </a:lnTo>
                  <a:lnTo>
                    <a:pt x="115" y="82"/>
                  </a:lnTo>
                  <a:lnTo>
                    <a:pt x="103" y="93"/>
                  </a:lnTo>
                  <a:lnTo>
                    <a:pt x="88" y="101"/>
                  </a:lnTo>
                  <a:lnTo>
                    <a:pt x="71" y="106"/>
                  </a:lnTo>
                  <a:lnTo>
                    <a:pt x="53" y="106"/>
                  </a:lnTo>
                  <a:lnTo>
                    <a:pt x="36" y="101"/>
                  </a:lnTo>
                  <a:lnTo>
                    <a:pt x="21" y="93"/>
                  </a:lnTo>
                  <a:lnTo>
                    <a:pt x="9" y="82"/>
                  </a:lnTo>
                  <a:lnTo>
                    <a:pt x="3" y="67"/>
                  </a:lnTo>
                  <a:lnTo>
                    <a:pt x="0" y="52"/>
                  </a:lnTo>
                  <a:close/>
                </a:path>
              </a:pathLst>
            </a:custGeom>
            <a:solidFill>
              <a:srgbClr val="00FFFF"/>
            </a:solidFill>
            <a:ln w="9525">
              <a:noFill/>
              <a:round/>
              <a:headEnd/>
              <a:tailEnd/>
            </a:ln>
          </p:spPr>
          <p:txBody>
            <a:bodyPr/>
            <a:lstStyle/>
            <a:p>
              <a:endParaRPr lang="en-US"/>
            </a:p>
          </p:txBody>
        </p:sp>
        <p:sp>
          <p:nvSpPr>
            <p:cNvPr id="28728" name="Rectangle 57"/>
            <p:cNvSpPr>
              <a:spLocks noChangeArrowheads="1"/>
            </p:cNvSpPr>
            <p:nvPr/>
          </p:nvSpPr>
          <p:spPr bwMode="auto">
            <a:xfrm>
              <a:off x="749" y="2292"/>
              <a:ext cx="29" cy="63"/>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1</a:t>
              </a:r>
              <a:endParaRPr lang="en-US">
                <a:cs typeface="Arial" charset="0"/>
              </a:endParaRPr>
            </a:p>
          </p:txBody>
        </p:sp>
        <p:sp>
          <p:nvSpPr>
            <p:cNvPr id="28729" name="Freeform 58"/>
            <p:cNvSpPr>
              <a:spLocks/>
            </p:cNvSpPr>
            <p:nvPr/>
          </p:nvSpPr>
          <p:spPr bwMode="auto">
            <a:xfrm>
              <a:off x="2818" y="2275"/>
              <a:ext cx="125" cy="106"/>
            </a:xfrm>
            <a:custGeom>
              <a:avLst/>
              <a:gdLst>
                <a:gd name="T0" fmla="*/ 0 w 125"/>
                <a:gd name="T1" fmla="*/ 52 h 106"/>
                <a:gd name="T2" fmla="*/ 3 w 125"/>
                <a:gd name="T3" fmla="*/ 38 h 106"/>
                <a:gd name="T4" fmla="*/ 11 w 125"/>
                <a:gd name="T5" fmla="*/ 24 h 106"/>
                <a:gd name="T6" fmla="*/ 21 w 125"/>
                <a:gd name="T7" fmla="*/ 13 h 106"/>
                <a:gd name="T8" fmla="*/ 36 w 125"/>
                <a:gd name="T9" fmla="*/ 5 h 106"/>
                <a:gd name="T10" fmla="*/ 53 w 125"/>
                <a:gd name="T11" fmla="*/ 0 h 106"/>
                <a:gd name="T12" fmla="*/ 72 w 125"/>
                <a:gd name="T13" fmla="*/ 0 h 106"/>
                <a:gd name="T14" fmla="*/ 88 w 125"/>
                <a:gd name="T15" fmla="*/ 5 h 106"/>
                <a:gd name="T16" fmla="*/ 104 w 125"/>
                <a:gd name="T17" fmla="*/ 13 h 106"/>
                <a:gd name="T18" fmla="*/ 114 w 125"/>
                <a:gd name="T19" fmla="*/ 24 h 106"/>
                <a:gd name="T20" fmla="*/ 122 w 125"/>
                <a:gd name="T21" fmla="*/ 38 h 106"/>
                <a:gd name="T22" fmla="*/ 125 w 125"/>
                <a:gd name="T23" fmla="*/ 52 h 106"/>
                <a:gd name="T24" fmla="*/ 122 w 125"/>
                <a:gd name="T25" fmla="*/ 67 h 106"/>
                <a:gd name="T26" fmla="*/ 114 w 125"/>
                <a:gd name="T27" fmla="*/ 82 h 106"/>
                <a:gd name="T28" fmla="*/ 104 w 125"/>
                <a:gd name="T29" fmla="*/ 93 h 106"/>
                <a:gd name="T30" fmla="*/ 88 w 125"/>
                <a:gd name="T31" fmla="*/ 101 h 106"/>
                <a:gd name="T32" fmla="*/ 72 w 125"/>
                <a:gd name="T33" fmla="*/ 106 h 106"/>
                <a:gd name="T34" fmla="*/ 53 w 125"/>
                <a:gd name="T35" fmla="*/ 106 h 106"/>
                <a:gd name="T36" fmla="*/ 36 w 125"/>
                <a:gd name="T37" fmla="*/ 101 h 106"/>
                <a:gd name="T38" fmla="*/ 21 w 125"/>
                <a:gd name="T39" fmla="*/ 93 h 106"/>
                <a:gd name="T40" fmla="*/ 11 w 125"/>
                <a:gd name="T41" fmla="*/ 82 h 106"/>
                <a:gd name="T42" fmla="*/ 3 w 125"/>
                <a:gd name="T43" fmla="*/ 67 h 106"/>
                <a:gd name="T44" fmla="*/ 0 w 125"/>
                <a:gd name="T45" fmla="*/ 52 h 10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5"/>
                <a:gd name="T70" fmla="*/ 0 h 106"/>
                <a:gd name="T71" fmla="*/ 125 w 125"/>
                <a:gd name="T72" fmla="*/ 106 h 10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5" h="106">
                  <a:moveTo>
                    <a:pt x="0" y="52"/>
                  </a:moveTo>
                  <a:lnTo>
                    <a:pt x="3" y="38"/>
                  </a:lnTo>
                  <a:lnTo>
                    <a:pt x="11" y="24"/>
                  </a:lnTo>
                  <a:lnTo>
                    <a:pt x="21" y="13"/>
                  </a:lnTo>
                  <a:lnTo>
                    <a:pt x="36" y="5"/>
                  </a:lnTo>
                  <a:lnTo>
                    <a:pt x="53" y="0"/>
                  </a:lnTo>
                  <a:lnTo>
                    <a:pt x="72" y="0"/>
                  </a:lnTo>
                  <a:lnTo>
                    <a:pt x="88" y="5"/>
                  </a:lnTo>
                  <a:lnTo>
                    <a:pt x="104" y="13"/>
                  </a:lnTo>
                  <a:lnTo>
                    <a:pt x="114" y="24"/>
                  </a:lnTo>
                  <a:lnTo>
                    <a:pt x="122" y="38"/>
                  </a:lnTo>
                  <a:lnTo>
                    <a:pt x="125" y="52"/>
                  </a:lnTo>
                  <a:lnTo>
                    <a:pt x="122" y="67"/>
                  </a:lnTo>
                  <a:lnTo>
                    <a:pt x="114" y="82"/>
                  </a:lnTo>
                  <a:lnTo>
                    <a:pt x="104" y="93"/>
                  </a:lnTo>
                  <a:lnTo>
                    <a:pt x="88" y="101"/>
                  </a:lnTo>
                  <a:lnTo>
                    <a:pt x="72" y="106"/>
                  </a:lnTo>
                  <a:lnTo>
                    <a:pt x="53" y="106"/>
                  </a:lnTo>
                  <a:lnTo>
                    <a:pt x="36" y="101"/>
                  </a:lnTo>
                  <a:lnTo>
                    <a:pt x="21" y="93"/>
                  </a:lnTo>
                  <a:lnTo>
                    <a:pt x="11" y="82"/>
                  </a:lnTo>
                  <a:lnTo>
                    <a:pt x="3" y="67"/>
                  </a:lnTo>
                  <a:lnTo>
                    <a:pt x="0" y="52"/>
                  </a:lnTo>
                  <a:close/>
                </a:path>
              </a:pathLst>
            </a:custGeom>
            <a:solidFill>
              <a:srgbClr val="00FFFF"/>
            </a:solidFill>
            <a:ln w="9525">
              <a:noFill/>
              <a:round/>
              <a:headEnd/>
              <a:tailEnd/>
            </a:ln>
          </p:spPr>
          <p:txBody>
            <a:bodyPr/>
            <a:lstStyle/>
            <a:p>
              <a:endParaRPr lang="en-US"/>
            </a:p>
          </p:txBody>
        </p:sp>
        <p:sp>
          <p:nvSpPr>
            <p:cNvPr id="28730" name="Rectangle 59"/>
            <p:cNvSpPr>
              <a:spLocks noChangeArrowheads="1"/>
            </p:cNvSpPr>
            <p:nvPr/>
          </p:nvSpPr>
          <p:spPr bwMode="auto">
            <a:xfrm>
              <a:off x="2862" y="2292"/>
              <a:ext cx="29" cy="63"/>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3</a:t>
              </a:r>
              <a:endParaRPr lang="en-US">
                <a:cs typeface="Arial" charset="0"/>
              </a:endParaRPr>
            </a:p>
          </p:txBody>
        </p:sp>
        <p:sp>
          <p:nvSpPr>
            <p:cNvPr id="28731" name="Freeform 60"/>
            <p:cNvSpPr>
              <a:spLocks/>
            </p:cNvSpPr>
            <p:nvPr/>
          </p:nvSpPr>
          <p:spPr bwMode="auto">
            <a:xfrm>
              <a:off x="3832" y="2275"/>
              <a:ext cx="125" cy="106"/>
            </a:xfrm>
            <a:custGeom>
              <a:avLst/>
              <a:gdLst>
                <a:gd name="T0" fmla="*/ 0 w 125"/>
                <a:gd name="T1" fmla="*/ 52 h 106"/>
                <a:gd name="T2" fmla="*/ 1 w 125"/>
                <a:gd name="T3" fmla="*/ 38 h 106"/>
                <a:gd name="T4" fmla="*/ 9 w 125"/>
                <a:gd name="T5" fmla="*/ 24 h 106"/>
                <a:gd name="T6" fmla="*/ 21 w 125"/>
                <a:gd name="T7" fmla="*/ 13 h 106"/>
                <a:gd name="T8" fmla="*/ 36 w 125"/>
                <a:gd name="T9" fmla="*/ 5 h 106"/>
                <a:gd name="T10" fmla="*/ 53 w 125"/>
                <a:gd name="T11" fmla="*/ 0 h 106"/>
                <a:gd name="T12" fmla="*/ 72 w 125"/>
                <a:gd name="T13" fmla="*/ 0 h 106"/>
                <a:gd name="T14" fmla="*/ 89 w 125"/>
                <a:gd name="T15" fmla="*/ 5 h 106"/>
                <a:gd name="T16" fmla="*/ 104 w 125"/>
                <a:gd name="T17" fmla="*/ 13 h 106"/>
                <a:gd name="T18" fmla="*/ 116 w 125"/>
                <a:gd name="T19" fmla="*/ 24 h 106"/>
                <a:gd name="T20" fmla="*/ 122 w 125"/>
                <a:gd name="T21" fmla="*/ 38 h 106"/>
                <a:gd name="T22" fmla="*/ 125 w 125"/>
                <a:gd name="T23" fmla="*/ 52 h 106"/>
                <a:gd name="T24" fmla="*/ 122 w 125"/>
                <a:gd name="T25" fmla="*/ 67 h 106"/>
                <a:gd name="T26" fmla="*/ 116 w 125"/>
                <a:gd name="T27" fmla="*/ 82 h 106"/>
                <a:gd name="T28" fmla="*/ 104 w 125"/>
                <a:gd name="T29" fmla="*/ 93 h 106"/>
                <a:gd name="T30" fmla="*/ 89 w 125"/>
                <a:gd name="T31" fmla="*/ 101 h 106"/>
                <a:gd name="T32" fmla="*/ 72 w 125"/>
                <a:gd name="T33" fmla="*/ 106 h 106"/>
                <a:gd name="T34" fmla="*/ 53 w 125"/>
                <a:gd name="T35" fmla="*/ 106 h 106"/>
                <a:gd name="T36" fmla="*/ 36 w 125"/>
                <a:gd name="T37" fmla="*/ 101 h 106"/>
                <a:gd name="T38" fmla="*/ 21 w 125"/>
                <a:gd name="T39" fmla="*/ 93 h 106"/>
                <a:gd name="T40" fmla="*/ 9 w 125"/>
                <a:gd name="T41" fmla="*/ 82 h 106"/>
                <a:gd name="T42" fmla="*/ 1 w 125"/>
                <a:gd name="T43" fmla="*/ 67 h 106"/>
                <a:gd name="T44" fmla="*/ 0 w 125"/>
                <a:gd name="T45" fmla="*/ 52 h 10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5"/>
                <a:gd name="T70" fmla="*/ 0 h 106"/>
                <a:gd name="T71" fmla="*/ 125 w 125"/>
                <a:gd name="T72" fmla="*/ 106 h 10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5" h="106">
                  <a:moveTo>
                    <a:pt x="0" y="52"/>
                  </a:moveTo>
                  <a:lnTo>
                    <a:pt x="1" y="38"/>
                  </a:lnTo>
                  <a:lnTo>
                    <a:pt x="9" y="24"/>
                  </a:lnTo>
                  <a:lnTo>
                    <a:pt x="21" y="13"/>
                  </a:lnTo>
                  <a:lnTo>
                    <a:pt x="36" y="5"/>
                  </a:lnTo>
                  <a:lnTo>
                    <a:pt x="53" y="0"/>
                  </a:lnTo>
                  <a:lnTo>
                    <a:pt x="72" y="0"/>
                  </a:lnTo>
                  <a:lnTo>
                    <a:pt x="89" y="5"/>
                  </a:lnTo>
                  <a:lnTo>
                    <a:pt x="104" y="13"/>
                  </a:lnTo>
                  <a:lnTo>
                    <a:pt x="116" y="24"/>
                  </a:lnTo>
                  <a:lnTo>
                    <a:pt x="122" y="38"/>
                  </a:lnTo>
                  <a:lnTo>
                    <a:pt x="125" y="52"/>
                  </a:lnTo>
                  <a:lnTo>
                    <a:pt x="122" y="67"/>
                  </a:lnTo>
                  <a:lnTo>
                    <a:pt x="116" y="82"/>
                  </a:lnTo>
                  <a:lnTo>
                    <a:pt x="104" y="93"/>
                  </a:lnTo>
                  <a:lnTo>
                    <a:pt x="89" y="101"/>
                  </a:lnTo>
                  <a:lnTo>
                    <a:pt x="72" y="106"/>
                  </a:lnTo>
                  <a:lnTo>
                    <a:pt x="53" y="106"/>
                  </a:lnTo>
                  <a:lnTo>
                    <a:pt x="36" y="101"/>
                  </a:lnTo>
                  <a:lnTo>
                    <a:pt x="21" y="93"/>
                  </a:lnTo>
                  <a:lnTo>
                    <a:pt x="9" y="82"/>
                  </a:lnTo>
                  <a:lnTo>
                    <a:pt x="1" y="67"/>
                  </a:lnTo>
                  <a:lnTo>
                    <a:pt x="0" y="52"/>
                  </a:lnTo>
                  <a:close/>
                </a:path>
              </a:pathLst>
            </a:custGeom>
            <a:solidFill>
              <a:srgbClr val="00FFFF"/>
            </a:solidFill>
            <a:ln w="9525">
              <a:noFill/>
              <a:round/>
              <a:headEnd/>
              <a:tailEnd/>
            </a:ln>
          </p:spPr>
          <p:txBody>
            <a:bodyPr/>
            <a:lstStyle/>
            <a:p>
              <a:endParaRPr lang="en-US"/>
            </a:p>
          </p:txBody>
        </p:sp>
        <p:sp>
          <p:nvSpPr>
            <p:cNvPr id="28732" name="Rectangle 61"/>
            <p:cNvSpPr>
              <a:spLocks noChangeArrowheads="1"/>
            </p:cNvSpPr>
            <p:nvPr/>
          </p:nvSpPr>
          <p:spPr bwMode="auto">
            <a:xfrm>
              <a:off x="3874" y="2292"/>
              <a:ext cx="29" cy="63"/>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4</a:t>
              </a:r>
              <a:endParaRPr lang="en-US">
                <a:cs typeface="Arial" charset="0"/>
              </a:endParaRPr>
            </a:p>
          </p:txBody>
        </p:sp>
        <p:sp>
          <p:nvSpPr>
            <p:cNvPr id="28733" name="Freeform 62"/>
            <p:cNvSpPr>
              <a:spLocks/>
            </p:cNvSpPr>
            <p:nvPr/>
          </p:nvSpPr>
          <p:spPr bwMode="auto">
            <a:xfrm>
              <a:off x="1706" y="2275"/>
              <a:ext cx="123" cy="106"/>
            </a:xfrm>
            <a:custGeom>
              <a:avLst/>
              <a:gdLst>
                <a:gd name="T0" fmla="*/ 0 w 123"/>
                <a:gd name="T1" fmla="*/ 52 h 106"/>
                <a:gd name="T2" fmla="*/ 2 w 123"/>
                <a:gd name="T3" fmla="*/ 38 h 106"/>
                <a:gd name="T4" fmla="*/ 9 w 123"/>
                <a:gd name="T5" fmla="*/ 24 h 106"/>
                <a:gd name="T6" fmla="*/ 21 w 123"/>
                <a:gd name="T7" fmla="*/ 13 h 106"/>
                <a:gd name="T8" fmla="*/ 36 w 123"/>
                <a:gd name="T9" fmla="*/ 5 h 106"/>
                <a:gd name="T10" fmla="*/ 53 w 123"/>
                <a:gd name="T11" fmla="*/ 0 h 106"/>
                <a:gd name="T12" fmla="*/ 70 w 123"/>
                <a:gd name="T13" fmla="*/ 0 h 106"/>
                <a:gd name="T14" fmla="*/ 88 w 123"/>
                <a:gd name="T15" fmla="*/ 5 h 106"/>
                <a:gd name="T16" fmla="*/ 102 w 123"/>
                <a:gd name="T17" fmla="*/ 13 h 106"/>
                <a:gd name="T18" fmla="*/ 114 w 123"/>
                <a:gd name="T19" fmla="*/ 24 h 106"/>
                <a:gd name="T20" fmla="*/ 122 w 123"/>
                <a:gd name="T21" fmla="*/ 38 h 106"/>
                <a:gd name="T22" fmla="*/ 123 w 123"/>
                <a:gd name="T23" fmla="*/ 52 h 106"/>
                <a:gd name="T24" fmla="*/ 122 w 123"/>
                <a:gd name="T25" fmla="*/ 67 h 106"/>
                <a:gd name="T26" fmla="*/ 114 w 123"/>
                <a:gd name="T27" fmla="*/ 82 h 106"/>
                <a:gd name="T28" fmla="*/ 102 w 123"/>
                <a:gd name="T29" fmla="*/ 93 h 106"/>
                <a:gd name="T30" fmla="*/ 88 w 123"/>
                <a:gd name="T31" fmla="*/ 101 h 106"/>
                <a:gd name="T32" fmla="*/ 70 w 123"/>
                <a:gd name="T33" fmla="*/ 106 h 106"/>
                <a:gd name="T34" fmla="*/ 53 w 123"/>
                <a:gd name="T35" fmla="*/ 106 h 106"/>
                <a:gd name="T36" fmla="*/ 36 w 123"/>
                <a:gd name="T37" fmla="*/ 101 h 106"/>
                <a:gd name="T38" fmla="*/ 21 w 123"/>
                <a:gd name="T39" fmla="*/ 93 h 106"/>
                <a:gd name="T40" fmla="*/ 9 w 123"/>
                <a:gd name="T41" fmla="*/ 82 h 106"/>
                <a:gd name="T42" fmla="*/ 2 w 123"/>
                <a:gd name="T43" fmla="*/ 67 h 106"/>
                <a:gd name="T44" fmla="*/ 0 w 123"/>
                <a:gd name="T45" fmla="*/ 52 h 10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3"/>
                <a:gd name="T70" fmla="*/ 0 h 106"/>
                <a:gd name="T71" fmla="*/ 123 w 123"/>
                <a:gd name="T72" fmla="*/ 106 h 10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3" h="106">
                  <a:moveTo>
                    <a:pt x="0" y="52"/>
                  </a:moveTo>
                  <a:lnTo>
                    <a:pt x="2" y="38"/>
                  </a:lnTo>
                  <a:lnTo>
                    <a:pt x="9" y="24"/>
                  </a:lnTo>
                  <a:lnTo>
                    <a:pt x="21" y="13"/>
                  </a:lnTo>
                  <a:lnTo>
                    <a:pt x="36" y="5"/>
                  </a:lnTo>
                  <a:lnTo>
                    <a:pt x="53" y="0"/>
                  </a:lnTo>
                  <a:lnTo>
                    <a:pt x="70" y="0"/>
                  </a:lnTo>
                  <a:lnTo>
                    <a:pt x="88" y="5"/>
                  </a:lnTo>
                  <a:lnTo>
                    <a:pt x="102" y="13"/>
                  </a:lnTo>
                  <a:lnTo>
                    <a:pt x="114" y="24"/>
                  </a:lnTo>
                  <a:lnTo>
                    <a:pt x="122" y="38"/>
                  </a:lnTo>
                  <a:lnTo>
                    <a:pt x="123" y="52"/>
                  </a:lnTo>
                  <a:lnTo>
                    <a:pt x="122" y="67"/>
                  </a:lnTo>
                  <a:lnTo>
                    <a:pt x="114" y="82"/>
                  </a:lnTo>
                  <a:lnTo>
                    <a:pt x="102" y="93"/>
                  </a:lnTo>
                  <a:lnTo>
                    <a:pt x="88" y="101"/>
                  </a:lnTo>
                  <a:lnTo>
                    <a:pt x="70" y="106"/>
                  </a:lnTo>
                  <a:lnTo>
                    <a:pt x="53" y="106"/>
                  </a:lnTo>
                  <a:lnTo>
                    <a:pt x="36" y="101"/>
                  </a:lnTo>
                  <a:lnTo>
                    <a:pt x="21" y="93"/>
                  </a:lnTo>
                  <a:lnTo>
                    <a:pt x="9" y="82"/>
                  </a:lnTo>
                  <a:lnTo>
                    <a:pt x="2" y="67"/>
                  </a:lnTo>
                  <a:lnTo>
                    <a:pt x="0" y="52"/>
                  </a:lnTo>
                  <a:close/>
                </a:path>
              </a:pathLst>
            </a:custGeom>
            <a:solidFill>
              <a:srgbClr val="00FFFF"/>
            </a:solidFill>
            <a:ln w="9525">
              <a:noFill/>
              <a:round/>
              <a:headEnd/>
              <a:tailEnd/>
            </a:ln>
          </p:spPr>
          <p:txBody>
            <a:bodyPr/>
            <a:lstStyle/>
            <a:p>
              <a:endParaRPr lang="en-US"/>
            </a:p>
          </p:txBody>
        </p:sp>
        <p:sp>
          <p:nvSpPr>
            <p:cNvPr id="28734" name="Rectangle 63"/>
            <p:cNvSpPr>
              <a:spLocks noChangeArrowheads="1"/>
            </p:cNvSpPr>
            <p:nvPr/>
          </p:nvSpPr>
          <p:spPr bwMode="auto">
            <a:xfrm>
              <a:off x="1750" y="2292"/>
              <a:ext cx="29" cy="63"/>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2</a:t>
              </a:r>
              <a:endParaRPr lang="en-US">
                <a:cs typeface="Arial" charset="0"/>
              </a:endParaRPr>
            </a:p>
          </p:txBody>
        </p:sp>
        <p:sp>
          <p:nvSpPr>
            <p:cNvPr id="28735" name="Rectangle 64"/>
            <p:cNvSpPr>
              <a:spLocks noChangeArrowheads="1"/>
            </p:cNvSpPr>
            <p:nvPr/>
          </p:nvSpPr>
          <p:spPr bwMode="auto">
            <a:xfrm>
              <a:off x="1005" y="3051"/>
              <a:ext cx="800" cy="127"/>
            </a:xfrm>
            <a:prstGeom prst="rect">
              <a:avLst/>
            </a:prstGeom>
            <a:solidFill>
              <a:srgbClr val="FFFFFF"/>
            </a:solidFill>
            <a:ln w="4763">
              <a:solidFill>
                <a:srgbClr val="0000FF"/>
              </a:solidFill>
              <a:miter lim="800000"/>
              <a:headEnd/>
              <a:tailEnd/>
            </a:ln>
          </p:spPr>
          <p:txBody>
            <a:bodyPr/>
            <a:lstStyle/>
            <a:p>
              <a:endParaRPr lang="en-US"/>
            </a:p>
          </p:txBody>
        </p:sp>
        <p:sp>
          <p:nvSpPr>
            <p:cNvPr id="28736" name="Rectangle 65"/>
            <p:cNvSpPr>
              <a:spLocks noChangeArrowheads="1"/>
            </p:cNvSpPr>
            <p:nvPr/>
          </p:nvSpPr>
          <p:spPr bwMode="auto">
            <a:xfrm>
              <a:off x="1231" y="3074"/>
              <a:ext cx="414"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Engineers</a:t>
              </a:r>
              <a:endParaRPr lang="en-US">
                <a:cs typeface="Arial" charset="0"/>
              </a:endParaRPr>
            </a:p>
          </p:txBody>
        </p:sp>
        <p:sp>
          <p:nvSpPr>
            <p:cNvPr id="28737" name="Rectangle 66"/>
            <p:cNvSpPr>
              <a:spLocks noChangeArrowheads="1"/>
            </p:cNvSpPr>
            <p:nvPr/>
          </p:nvSpPr>
          <p:spPr bwMode="auto">
            <a:xfrm>
              <a:off x="1005" y="3178"/>
              <a:ext cx="800" cy="382"/>
            </a:xfrm>
            <a:prstGeom prst="rect">
              <a:avLst/>
            </a:prstGeom>
            <a:solidFill>
              <a:srgbClr val="FFFFFF"/>
            </a:solidFill>
            <a:ln w="4763">
              <a:solidFill>
                <a:srgbClr val="0000FF"/>
              </a:solidFill>
              <a:miter lim="800000"/>
              <a:headEnd/>
              <a:tailEnd/>
            </a:ln>
          </p:spPr>
          <p:txBody>
            <a:bodyPr/>
            <a:lstStyle/>
            <a:p>
              <a:endParaRPr lang="en-US"/>
            </a:p>
          </p:txBody>
        </p:sp>
        <p:sp>
          <p:nvSpPr>
            <p:cNvPr id="28738" name="Rectangle 67"/>
            <p:cNvSpPr>
              <a:spLocks noChangeArrowheads="1"/>
            </p:cNvSpPr>
            <p:nvPr/>
          </p:nvSpPr>
          <p:spPr bwMode="auto">
            <a:xfrm>
              <a:off x="1070" y="3233"/>
              <a:ext cx="559"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Perform required</a:t>
              </a:r>
              <a:endParaRPr lang="en-US">
                <a:cs typeface="Arial" charset="0"/>
              </a:endParaRPr>
            </a:p>
          </p:txBody>
        </p:sp>
        <p:sp>
          <p:nvSpPr>
            <p:cNvPr id="28739" name="Rectangle 68"/>
            <p:cNvSpPr>
              <a:spLocks noChangeArrowheads="1"/>
            </p:cNvSpPr>
            <p:nvPr/>
          </p:nvSpPr>
          <p:spPr bwMode="auto">
            <a:xfrm>
              <a:off x="1178" y="3323"/>
              <a:ext cx="376"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checks and</a:t>
              </a:r>
              <a:endParaRPr lang="en-US">
                <a:cs typeface="Arial" charset="0"/>
              </a:endParaRPr>
            </a:p>
          </p:txBody>
        </p:sp>
        <p:sp>
          <p:nvSpPr>
            <p:cNvPr id="28740" name="Rectangle 69"/>
            <p:cNvSpPr>
              <a:spLocks noChangeArrowheads="1"/>
            </p:cNvSpPr>
            <p:nvPr/>
          </p:nvSpPr>
          <p:spPr bwMode="auto">
            <a:xfrm>
              <a:off x="1254" y="3414"/>
              <a:ext cx="254"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reviews</a:t>
              </a:r>
              <a:endParaRPr lang="en-US">
                <a:cs typeface="Arial" charset="0"/>
              </a:endParaRPr>
            </a:p>
          </p:txBody>
        </p:sp>
        <p:sp>
          <p:nvSpPr>
            <p:cNvPr id="28741" name="Freeform 70"/>
            <p:cNvSpPr>
              <a:spLocks/>
            </p:cNvSpPr>
            <p:nvPr/>
          </p:nvSpPr>
          <p:spPr bwMode="auto">
            <a:xfrm>
              <a:off x="1017" y="3062"/>
              <a:ext cx="125" cy="105"/>
            </a:xfrm>
            <a:custGeom>
              <a:avLst/>
              <a:gdLst>
                <a:gd name="T0" fmla="*/ 0 w 125"/>
                <a:gd name="T1" fmla="*/ 52 h 105"/>
                <a:gd name="T2" fmla="*/ 3 w 125"/>
                <a:gd name="T3" fmla="*/ 37 h 105"/>
                <a:gd name="T4" fmla="*/ 9 w 125"/>
                <a:gd name="T5" fmla="*/ 24 h 105"/>
                <a:gd name="T6" fmla="*/ 21 w 125"/>
                <a:gd name="T7" fmla="*/ 12 h 105"/>
                <a:gd name="T8" fmla="*/ 36 w 125"/>
                <a:gd name="T9" fmla="*/ 4 h 105"/>
                <a:gd name="T10" fmla="*/ 53 w 125"/>
                <a:gd name="T11" fmla="*/ 0 h 105"/>
                <a:gd name="T12" fmla="*/ 72 w 125"/>
                <a:gd name="T13" fmla="*/ 0 h 105"/>
                <a:gd name="T14" fmla="*/ 88 w 125"/>
                <a:gd name="T15" fmla="*/ 4 h 105"/>
                <a:gd name="T16" fmla="*/ 104 w 125"/>
                <a:gd name="T17" fmla="*/ 12 h 105"/>
                <a:gd name="T18" fmla="*/ 114 w 125"/>
                <a:gd name="T19" fmla="*/ 24 h 105"/>
                <a:gd name="T20" fmla="*/ 122 w 125"/>
                <a:gd name="T21" fmla="*/ 37 h 105"/>
                <a:gd name="T22" fmla="*/ 125 w 125"/>
                <a:gd name="T23" fmla="*/ 52 h 105"/>
                <a:gd name="T24" fmla="*/ 122 w 125"/>
                <a:gd name="T25" fmla="*/ 67 h 105"/>
                <a:gd name="T26" fmla="*/ 114 w 125"/>
                <a:gd name="T27" fmla="*/ 81 h 105"/>
                <a:gd name="T28" fmla="*/ 104 w 125"/>
                <a:gd name="T29" fmla="*/ 93 h 105"/>
                <a:gd name="T30" fmla="*/ 88 w 125"/>
                <a:gd name="T31" fmla="*/ 101 h 105"/>
                <a:gd name="T32" fmla="*/ 72 w 125"/>
                <a:gd name="T33" fmla="*/ 105 h 105"/>
                <a:gd name="T34" fmla="*/ 53 w 125"/>
                <a:gd name="T35" fmla="*/ 105 h 105"/>
                <a:gd name="T36" fmla="*/ 36 w 125"/>
                <a:gd name="T37" fmla="*/ 101 h 105"/>
                <a:gd name="T38" fmla="*/ 21 w 125"/>
                <a:gd name="T39" fmla="*/ 93 h 105"/>
                <a:gd name="T40" fmla="*/ 9 w 125"/>
                <a:gd name="T41" fmla="*/ 81 h 105"/>
                <a:gd name="T42" fmla="*/ 3 w 125"/>
                <a:gd name="T43" fmla="*/ 67 h 105"/>
                <a:gd name="T44" fmla="*/ 0 w 125"/>
                <a:gd name="T45" fmla="*/ 5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5"/>
                <a:gd name="T70" fmla="*/ 0 h 105"/>
                <a:gd name="T71" fmla="*/ 125 w 125"/>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5" h="105">
                  <a:moveTo>
                    <a:pt x="0" y="52"/>
                  </a:moveTo>
                  <a:lnTo>
                    <a:pt x="3" y="37"/>
                  </a:lnTo>
                  <a:lnTo>
                    <a:pt x="9" y="24"/>
                  </a:lnTo>
                  <a:lnTo>
                    <a:pt x="21" y="12"/>
                  </a:lnTo>
                  <a:lnTo>
                    <a:pt x="36" y="4"/>
                  </a:lnTo>
                  <a:lnTo>
                    <a:pt x="53" y="0"/>
                  </a:lnTo>
                  <a:lnTo>
                    <a:pt x="72" y="0"/>
                  </a:lnTo>
                  <a:lnTo>
                    <a:pt x="88" y="4"/>
                  </a:lnTo>
                  <a:lnTo>
                    <a:pt x="104" y="12"/>
                  </a:lnTo>
                  <a:lnTo>
                    <a:pt x="114" y="24"/>
                  </a:lnTo>
                  <a:lnTo>
                    <a:pt x="122" y="37"/>
                  </a:lnTo>
                  <a:lnTo>
                    <a:pt x="125" y="52"/>
                  </a:lnTo>
                  <a:lnTo>
                    <a:pt x="122" y="67"/>
                  </a:lnTo>
                  <a:lnTo>
                    <a:pt x="114" y="81"/>
                  </a:lnTo>
                  <a:lnTo>
                    <a:pt x="104" y="93"/>
                  </a:lnTo>
                  <a:lnTo>
                    <a:pt x="88" y="101"/>
                  </a:lnTo>
                  <a:lnTo>
                    <a:pt x="72" y="105"/>
                  </a:lnTo>
                  <a:lnTo>
                    <a:pt x="53" y="105"/>
                  </a:lnTo>
                  <a:lnTo>
                    <a:pt x="36" y="101"/>
                  </a:lnTo>
                  <a:lnTo>
                    <a:pt x="21" y="93"/>
                  </a:lnTo>
                  <a:lnTo>
                    <a:pt x="9" y="81"/>
                  </a:lnTo>
                  <a:lnTo>
                    <a:pt x="3" y="67"/>
                  </a:lnTo>
                  <a:lnTo>
                    <a:pt x="0" y="52"/>
                  </a:lnTo>
                  <a:close/>
                </a:path>
              </a:pathLst>
            </a:custGeom>
            <a:solidFill>
              <a:srgbClr val="00FFFF"/>
            </a:solidFill>
            <a:ln w="9525">
              <a:noFill/>
              <a:round/>
              <a:headEnd/>
              <a:tailEnd/>
            </a:ln>
          </p:spPr>
          <p:txBody>
            <a:bodyPr/>
            <a:lstStyle/>
            <a:p>
              <a:endParaRPr lang="en-US"/>
            </a:p>
          </p:txBody>
        </p:sp>
        <p:sp>
          <p:nvSpPr>
            <p:cNvPr id="28742" name="Rectangle 71"/>
            <p:cNvSpPr>
              <a:spLocks noChangeArrowheads="1"/>
            </p:cNvSpPr>
            <p:nvPr/>
          </p:nvSpPr>
          <p:spPr bwMode="auto">
            <a:xfrm>
              <a:off x="1061" y="3079"/>
              <a:ext cx="29"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5</a:t>
              </a:r>
              <a:endParaRPr lang="en-US">
                <a:cs typeface="Arial" charset="0"/>
              </a:endParaRPr>
            </a:p>
          </p:txBody>
        </p:sp>
        <p:sp>
          <p:nvSpPr>
            <p:cNvPr id="28743" name="Line 72"/>
            <p:cNvSpPr>
              <a:spLocks noChangeShapeType="1"/>
            </p:cNvSpPr>
            <p:nvPr/>
          </p:nvSpPr>
          <p:spPr bwMode="auto">
            <a:xfrm>
              <a:off x="1805" y="3305"/>
              <a:ext cx="154" cy="1"/>
            </a:xfrm>
            <a:prstGeom prst="line">
              <a:avLst/>
            </a:prstGeom>
            <a:noFill/>
            <a:ln w="4763">
              <a:solidFill>
                <a:srgbClr val="000000"/>
              </a:solidFill>
              <a:round/>
              <a:headEnd/>
              <a:tailEnd/>
            </a:ln>
          </p:spPr>
          <p:txBody>
            <a:bodyPr/>
            <a:lstStyle/>
            <a:p>
              <a:endParaRPr lang="en-US"/>
            </a:p>
          </p:txBody>
        </p:sp>
        <p:sp>
          <p:nvSpPr>
            <p:cNvPr id="28744" name="Freeform 73"/>
            <p:cNvSpPr>
              <a:spLocks/>
            </p:cNvSpPr>
            <p:nvPr/>
          </p:nvSpPr>
          <p:spPr bwMode="auto">
            <a:xfrm>
              <a:off x="1944" y="3279"/>
              <a:ext cx="61" cy="52"/>
            </a:xfrm>
            <a:custGeom>
              <a:avLst/>
              <a:gdLst>
                <a:gd name="T0" fmla="*/ 61 w 61"/>
                <a:gd name="T1" fmla="*/ 26 h 52"/>
                <a:gd name="T2" fmla="*/ 0 w 61"/>
                <a:gd name="T3" fmla="*/ 52 h 52"/>
                <a:gd name="T4" fmla="*/ 1 w 61"/>
                <a:gd name="T5" fmla="*/ 49 h 52"/>
                <a:gd name="T6" fmla="*/ 3 w 61"/>
                <a:gd name="T7" fmla="*/ 47 h 52"/>
                <a:gd name="T8" fmla="*/ 4 w 61"/>
                <a:gd name="T9" fmla="*/ 43 h 52"/>
                <a:gd name="T10" fmla="*/ 5 w 61"/>
                <a:gd name="T11" fmla="*/ 41 h 52"/>
                <a:gd name="T12" fmla="*/ 5 w 61"/>
                <a:gd name="T13" fmla="*/ 37 h 52"/>
                <a:gd name="T14" fmla="*/ 7 w 61"/>
                <a:gd name="T15" fmla="*/ 34 h 52"/>
                <a:gd name="T16" fmla="*/ 7 w 61"/>
                <a:gd name="T17" fmla="*/ 18 h 52"/>
                <a:gd name="T18" fmla="*/ 5 w 61"/>
                <a:gd name="T19" fmla="*/ 15 h 52"/>
                <a:gd name="T20" fmla="*/ 5 w 61"/>
                <a:gd name="T21" fmla="*/ 13 h 52"/>
                <a:gd name="T22" fmla="*/ 3 w 61"/>
                <a:gd name="T23" fmla="*/ 6 h 52"/>
                <a:gd name="T24" fmla="*/ 1 w 61"/>
                <a:gd name="T25" fmla="*/ 4 h 52"/>
                <a:gd name="T26" fmla="*/ 0 w 61"/>
                <a:gd name="T27" fmla="*/ 0 h 52"/>
                <a:gd name="T28" fmla="*/ 61 w 61"/>
                <a:gd name="T29" fmla="*/ 26 h 5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1"/>
                <a:gd name="T46" fmla="*/ 0 h 52"/>
                <a:gd name="T47" fmla="*/ 61 w 61"/>
                <a:gd name="T48" fmla="*/ 52 h 5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1" h="52">
                  <a:moveTo>
                    <a:pt x="61" y="26"/>
                  </a:moveTo>
                  <a:lnTo>
                    <a:pt x="0" y="52"/>
                  </a:lnTo>
                  <a:lnTo>
                    <a:pt x="1" y="49"/>
                  </a:lnTo>
                  <a:lnTo>
                    <a:pt x="3" y="47"/>
                  </a:lnTo>
                  <a:lnTo>
                    <a:pt x="4" y="43"/>
                  </a:lnTo>
                  <a:lnTo>
                    <a:pt x="5" y="41"/>
                  </a:lnTo>
                  <a:lnTo>
                    <a:pt x="5" y="37"/>
                  </a:lnTo>
                  <a:lnTo>
                    <a:pt x="7" y="34"/>
                  </a:lnTo>
                  <a:lnTo>
                    <a:pt x="7" y="18"/>
                  </a:lnTo>
                  <a:lnTo>
                    <a:pt x="5" y="15"/>
                  </a:lnTo>
                  <a:lnTo>
                    <a:pt x="5" y="13"/>
                  </a:lnTo>
                  <a:lnTo>
                    <a:pt x="3" y="6"/>
                  </a:lnTo>
                  <a:lnTo>
                    <a:pt x="1" y="4"/>
                  </a:lnTo>
                  <a:lnTo>
                    <a:pt x="0" y="0"/>
                  </a:lnTo>
                  <a:lnTo>
                    <a:pt x="61" y="26"/>
                  </a:lnTo>
                  <a:close/>
                </a:path>
              </a:pathLst>
            </a:custGeom>
            <a:solidFill>
              <a:srgbClr val="000000"/>
            </a:solidFill>
            <a:ln w="9525">
              <a:noFill/>
              <a:round/>
              <a:headEnd/>
              <a:tailEnd/>
            </a:ln>
          </p:spPr>
          <p:txBody>
            <a:bodyPr/>
            <a:lstStyle/>
            <a:p>
              <a:endParaRPr lang="en-US"/>
            </a:p>
          </p:txBody>
        </p:sp>
        <p:sp>
          <p:nvSpPr>
            <p:cNvPr id="28745" name="Rectangle 74"/>
            <p:cNvSpPr>
              <a:spLocks noChangeArrowheads="1"/>
            </p:cNvSpPr>
            <p:nvPr/>
          </p:nvSpPr>
          <p:spPr bwMode="auto">
            <a:xfrm>
              <a:off x="4233" y="3051"/>
              <a:ext cx="800" cy="127"/>
            </a:xfrm>
            <a:prstGeom prst="rect">
              <a:avLst/>
            </a:prstGeom>
            <a:solidFill>
              <a:srgbClr val="FFFFFF"/>
            </a:solidFill>
            <a:ln w="4763">
              <a:solidFill>
                <a:srgbClr val="0000FF"/>
              </a:solidFill>
              <a:miter lim="800000"/>
              <a:headEnd/>
              <a:tailEnd/>
            </a:ln>
          </p:spPr>
          <p:txBody>
            <a:bodyPr/>
            <a:lstStyle/>
            <a:p>
              <a:endParaRPr lang="en-US"/>
            </a:p>
          </p:txBody>
        </p:sp>
        <p:sp>
          <p:nvSpPr>
            <p:cNvPr id="28746" name="Rectangle 75"/>
            <p:cNvSpPr>
              <a:spLocks noChangeArrowheads="1"/>
            </p:cNvSpPr>
            <p:nvPr/>
          </p:nvSpPr>
          <p:spPr bwMode="auto">
            <a:xfrm>
              <a:off x="4459" y="3074"/>
              <a:ext cx="415" cy="72"/>
            </a:xfrm>
            <a:prstGeom prst="rect">
              <a:avLst/>
            </a:prstGeom>
            <a:noFill/>
            <a:ln w="9525">
              <a:noFill/>
              <a:miter lim="800000"/>
              <a:headEnd/>
              <a:tailEnd/>
            </a:ln>
          </p:spPr>
          <p:txBody>
            <a:bodyPr wrap="none" lIns="0" tIns="0" rIns="0" bIns="0">
              <a:spAutoFit/>
            </a:bodyPr>
            <a:lstStyle/>
            <a:p>
              <a:r>
                <a:rPr lang="en-US" sz="800">
                  <a:solidFill>
                    <a:srgbClr val="000000"/>
                  </a:solidFill>
                  <a:cs typeface="Arial" charset="0"/>
                </a:rPr>
                <a:t>DEC Engineers</a:t>
              </a:r>
              <a:endParaRPr lang="en-US">
                <a:cs typeface="Arial" charset="0"/>
              </a:endParaRPr>
            </a:p>
          </p:txBody>
        </p:sp>
        <p:sp>
          <p:nvSpPr>
            <p:cNvPr id="28747" name="Rectangle 76"/>
            <p:cNvSpPr>
              <a:spLocks noChangeArrowheads="1"/>
            </p:cNvSpPr>
            <p:nvPr/>
          </p:nvSpPr>
          <p:spPr bwMode="auto">
            <a:xfrm>
              <a:off x="4233" y="3178"/>
              <a:ext cx="800" cy="382"/>
            </a:xfrm>
            <a:prstGeom prst="rect">
              <a:avLst/>
            </a:prstGeom>
            <a:solidFill>
              <a:srgbClr val="FFFFFF"/>
            </a:solidFill>
            <a:ln w="4763">
              <a:solidFill>
                <a:srgbClr val="0000FF"/>
              </a:solidFill>
              <a:miter lim="800000"/>
              <a:headEnd/>
              <a:tailEnd/>
            </a:ln>
          </p:spPr>
          <p:txBody>
            <a:bodyPr/>
            <a:lstStyle/>
            <a:p>
              <a:endParaRPr lang="en-US"/>
            </a:p>
          </p:txBody>
        </p:sp>
        <p:sp>
          <p:nvSpPr>
            <p:cNvPr id="28748" name="Rectangle 77"/>
            <p:cNvSpPr>
              <a:spLocks noChangeArrowheads="1"/>
            </p:cNvSpPr>
            <p:nvPr/>
          </p:nvSpPr>
          <p:spPr bwMode="auto">
            <a:xfrm>
              <a:off x="4319" y="3233"/>
              <a:ext cx="522"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Revise reports /</a:t>
              </a:r>
              <a:endParaRPr lang="en-US">
                <a:cs typeface="Arial" charset="0"/>
              </a:endParaRPr>
            </a:p>
          </p:txBody>
        </p:sp>
        <p:sp>
          <p:nvSpPr>
            <p:cNvPr id="28749" name="Rectangle 78"/>
            <p:cNvSpPr>
              <a:spLocks noChangeArrowheads="1"/>
            </p:cNvSpPr>
            <p:nvPr/>
          </p:nvSpPr>
          <p:spPr bwMode="auto">
            <a:xfrm>
              <a:off x="4490" y="3323"/>
              <a:ext cx="236"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studies</a:t>
              </a:r>
              <a:endParaRPr lang="en-US">
                <a:cs typeface="Arial" charset="0"/>
              </a:endParaRPr>
            </a:p>
          </p:txBody>
        </p:sp>
        <p:sp>
          <p:nvSpPr>
            <p:cNvPr id="28750" name="Rectangle 79"/>
            <p:cNvSpPr>
              <a:spLocks noChangeArrowheads="1"/>
            </p:cNvSpPr>
            <p:nvPr/>
          </p:nvSpPr>
          <p:spPr bwMode="auto">
            <a:xfrm>
              <a:off x="4434" y="3414"/>
              <a:ext cx="331" cy="90"/>
            </a:xfrm>
            <a:prstGeom prst="rect">
              <a:avLst/>
            </a:prstGeom>
            <a:noFill/>
            <a:ln w="9525">
              <a:noFill/>
              <a:miter lim="800000"/>
              <a:headEnd/>
              <a:tailEnd/>
            </a:ln>
          </p:spPr>
          <p:txBody>
            <a:bodyPr wrap="none" lIns="0" tIns="0" rIns="0" bIns="0">
              <a:spAutoFit/>
            </a:bodyPr>
            <a:lstStyle/>
            <a:p>
              <a:r>
                <a:rPr lang="en-US" sz="1000">
                  <a:solidFill>
                    <a:srgbClr val="000000"/>
                  </a:solidFill>
                  <a:cs typeface="Arial" charset="0"/>
                </a:rPr>
                <a:t>if required</a:t>
              </a:r>
              <a:endParaRPr lang="en-US">
                <a:cs typeface="Arial" charset="0"/>
              </a:endParaRPr>
            </a:p>
          </p:txBody>
        </p:sp>
        <p:sp>
          <p:nvSpPr>
            <p:cNvPr id="28751" name="Line 80"/>
            <p:cNvSpPr>
              <a:spLocks noChangeShapeType="1"/>
            </p:cNvSpPr>
            <p:nvPr/>
          </p:nvSpPr>
          <p:spPr bwMode="auto">
            <a:xfrm>
              <a:off x="4033" y="3305"/>
              <a:ext cx="153" cy="1"/>
            </a:xfrm>
            <a:prstGeom prst="line">
              <a:avLst/>
            </a:prstGeom>
            <a:noFill/>
            <a:ln w="4763">
              <a:solidFill>
                <a:srgbClr val="000000"/>
              </a:solidFill>
              <a:round/>
              <a:headEnd/>
              <a:tailEnd/>
            </a:ln>
          </p:spPr>
          <p:txBody>
            <a:bodyPr/>
            <a:lstStyle/>
            <a:p>
              <a:endParaRPr lang="en-US"/>
            </a:p>
          </p:txBody>
        </p:sp>
        <p:sp>
          <p:nvSpPr>
            <p:cNvPr id="28752" name="Freeform 81"/>
            <p:cNvSpPr>
              <a:spLocks/>
            </p:cNvSpPr>
            <p:nvPr/>
          </p:nvSpPr>
          <p:spPr bwMode="auto">
            <a:xfrm>
              <a:off x="4171" y="3279"/>
              <a:ext cx="62" cy="52"/>
            </a:xfrm>
            <a:custGeom>
              <a:avLst/>
              <a:gdLst>
                <a:gd name="T0" fmla="*/ 62 w 62"/>
                <a:gd name="T1" fmla="*/ 26 h 52"/>
                <a:gd name="T2" fmla="*/ 0 w 62"/>
                <a:gd name="T3" fmla="*/ 52 h 52"/>
                <a:gd name="T4" fmla="*/ 2 w 62"/>
                <a:gd name="T5" fmla="*/ 49 h 52"/>
                <a:gd name="T6" fmla="*/ 3 w 62"/>
                <a:gd name="T7" fmla="*/ 47 h 52"/>
                <a:gd name="T8" fmla="*/ 4 w 62"/>
                <a:gd name="T9" fmla="*/ 43 h 52"/>
                <a:gd name="T10" fmla="*/ 4 w 62"/>
                <a:gd name="T11" fmla="*/ 41 h 52"/>
                <a:gd name="T12" fmla="*/ 6 w 62"/>
                <a:gd name="T13" fmla="*/ 37 h 52"/>
                <a:gd name="T14" fmla="*/ 6 w 62"/>
                <a:gd name="T15" fmla="*/ 34 h 52"/>
                <a:gd name="T16" fmla="*/ 7 w 62"/>
                <a:gd name="T17" fmla="*/ 31 h 52"/>
                <a:gd name="T18" fmla="*/ 7 w 62"/>
                <a:gd name="T19" fmla="*/ 22 h 52"/>
                <a:gd name="T20" fmla="*/ 6 w 62"/>
                <a:gd name="T21" fmla="*/ 18 h 52"/>
                <a:gd name="T22" fmla="*/ 6 w 62"/>
                <a:gd name="T23" fmla="*/ 15 h 52"/>
                <a:gd name="T24" fmla="*/ 4 w 62"/>
                <a:gd name="T25" fmla="*/ 13 h 52"/>
                <a:gd name="T26" fmla="*/ 4 w 62"/>
                <a:gd name="T27" fmla="*/ 9 h 52"/>
                <a:gd name="T28" fmla="*/ 3 w 62"/>
                <a:gd name="T29" fmla="*/ 6 h 52"/>
                <a:gd name="T30" fmla="*/ 2 w 62"/>
                <a:gd name="T31" fmla="*/ 4 h 52"/>
                <a:gd name="T32" fmla="*/ 0 w 62"/>
                <a:gd name="T33" fmla="*/ 0 h 52"/>
                <a:gd name="T34" fmla="*/ 62 w 62"/>
                <a:gd name="T35" fmla="*/ 26 h 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2"/>
                <a:gd name="T55" fmla="*/ 0 h 52"/>
                <a:gd name="T56" fmla="*/ 62 w 62"/>
                <a:gd name="T57" fmla="*/ 52 h 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2" h="52">
                  <a:moveTo>
                    <a:pt x="62" y="26"/>
                  </a:moveTo>
                  <a:lnTo>
                    <a:pt x="0" y="52"/>
                  </a:lnTo>
                  <a:lnTo>
                    <a:pt x="2" y="49"/>
                  </a:lnTo>
                  <a:lnTo>
                    <a:pt x="3" y="47"/>
                  </a:lnTo>
                  <a:lnTo>
                    <a:pt x="4" y="43"/>
                  </a:lnTo>
                  <a:lnTo>
                    <a:pt x="4" y="41"/>
                  </a:lnTo>
                  <a:lnTo>
                    <a:pt x="6" y="37"/>
                  </a:lnTo>
                  <a:lnTo>
                    <a:pt x="6" y="34"/>
                  </a:lnTo>
                  <a:lnTo>
                    <a:pt x="7" y="31"/>
                  </a:lnTo>
                  <a:lnTo>
                    <a:pt x="7" y="22"/>
                  </a:lnTo>
                  <a:lnTo>
                    <a:pt x="6" y="18"/>
                  </a:lnTo>
                  <a:lnTo>
                    <a:pt x="6" y="15"/>
                  </a:lnTo>
                  <a:lnTo>
                    <a:pt x="4" y="13"/>
                  </a:lnTo>
                  <a:lnTo>
                    <a:pt x="4" y="9"/>
                  </a:lnTo>
                  <a:lnTo>
                    <a:pt x="3" y="6"/>
                  </a:lnTo>
                  <a:lnTo>
                    <a:pt x="2" y="4"/>
                  </a:lnTo>
                  <a:lnTo>
                    <a:pt x="0" y="0"/>
                  </a:lnTo>
                  <a:lnTo>
                    <a:pt x="62" y="26"/>
                  </a:lnTo>
                  <a:close/>
                </a:path>
              </a:pathLst>
            </a:custGeom>
            <a:solidFill>
              <a:srgbClr val="000000"/>
            </a:solidFill>
            <a:ln w="9525">
              <a:noFill/>
              <a:round/>
              <a:headEnd/>
              <a:tailEnd/>
            </a:ln>
          </p:spPr>
          <p:txBody>
            <a:bodyPr/>
            <a:lstStyle/>
            <a:p>
              <a:endParaRPr lang="en-US"/>
            </a:p>
          </p:txBody>
        </p:sp>
        <p:sp>
          <p:nvSpPr>
            <p:cNvPr id="28753" name="Freeform 82"/>
            <p:cNvSpPr>
              <a:spLocks/>
            </p:cNvSpPr>
            <p:nvPr/>
          </p:nvSpPr>
          <p:spPr bwMode="auto">
            <a:xfrm>
              <a:off x="4245" y="3062"/>
              <a:ext cx="125" cy="105"/>
            </a:xfrm>
            <a:custGeom>
              <a:avLst/>
              <a:gdLst>
                <a:gd name="T0" fmla="*/ 0 w 125"/>
                <a:gd name="T1" fmla="*/ 52 h 105"/>
                <a:gd name="T2" fmla="*/ 2 w 125"/>
                <a:gd name="T3" fmla="*/ 37 h 105"/>
                <a:gd name="T4" fmla="*/ 9 w 125"/>
                <a:gd name="T5" fmla="*/ 24 h 105"/>
                <a:gd name="T6" fmla="*/ 21 w 125"/>
                <a:gd name="T7" fmla="*/ 12 h 105"/>
                <a:gd name="T8" fmla="*/ 36 w 125"/>
                <a:gd name="T9" fmla="*/ 4 h 105"/>
                <a:gd name="T10" fmla="*/ 53 w 125"/>
                <a:gd name="T11" fmla="*/ 0 h 105"/>
                <a:gd name="T12" fmla="*/ 70 w 125"/>
                <a:gd name="T13" fmla="*/ 0 h 105"/>
                <a:gd name="T14" fmla="*/ 88 w 125"/>
                <a:gd name="T15" fmla="*/ 4 h 105"/>
                <a:gd name="T16" fmla="*/ 102 w 125"/>
                <a:gd name="T17" fmla="*/ 12 h 105"/>
                <a:gd name="T18" fmla="*/ 114 w 125"/>
                <a:gd name="T19" fmla="*/ 24 h 105"/>
                <a:gd name="T20" fmla="*/ 122 w 125"/>
                <a:gd name="T21" fmla="*/ 37 h 105"/>
                <a:gd name="T22" fmla="*/ 125 w 125"/>
                <a:gd name="T23" fmla="*/ 52 h 105"/>
                <a:gd name="T24" fmla="*/ 122 w 125"/>
                <a:gd name="T25" fmla="*/ 67 h 105"/>
                <a:gd name="T26" fmla="*/ 114 w 125"/>
                <a:gd name="T27" fmla="*/ 81 h 105"/>
                <a:gd name="T28" fmla="*/ 102 w 125"/>
                <a:gd name="T29" fmla="*/ 93 h 105"/>
                <a:gd name="T30" fmla="*/ 88 w 125"/>
                <a:gd name="T31" fmla="*/ 101 h 105"/>
                <a:gd name="T32" fmla="*/ 70 w 125"/>
                <a:gd name="T33" fmla="*/ 105 h 105"/>
                <a:gd name="T34" fmla="*/ 53 w 125"/>
                <a:gd name="T35" fmla="*/ 105 h 105"/>
                <a:gd name="T36" fmla="*/ 36 w 125"/>
                <a:gd name="T37" fmla="*/ 101 h 105"/>
                <a:gd name="T38" fmla="*/ 21 w 125"/>
                <a:gd name="T39" fmla="*/ 93 h 105"/>
                <a:gd name="T40" fmla="*/ 9 w 125"/>
                <a:gd name="T41" fmla="*/ 81 h 105"/>
                <a:gd name="T42" fmla="*/ 2 w 125"/>
                <a:gd name="T43" fmla="*/ 67 h 105"/>
                <a:gd name="T44" fmla="*/ 0 w 125"/>
                <a:gd name="T45" fmla="*/ 5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5"/>
                <a:gd name="T70" fmla="*/ 0 h 105"/>
                <a:gd name="T71" fmla="*/ 125 w 125"/>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5" h="105">
                  <a:moveTo>
                    <a:pt x="0" y="52"/>
                  </a:moveTo>
                  <a:lnTo>
                    <a:pt x="2" y="37"/>
                  </a:lnTo>
                  <a:lnTo>
                    <a:pt x="9" y="24"/>
                  </a:lnTo>
                  <a:lnTo>
                    <a:pt x="21" y="12"/>
                  </a:lnTo>
                  <a:lnTo>
                    <a:pt x="36" y="4"/>
                  </a:lnTo>
                  <a:lnTo>
                    <a:pt x="53" y="0"/>
                  </a:lnTo>
                  <a:lnTo>
                    <a:pt x="70" y="0"/>
                  </a:lnTo>
                  <a:lnTo>
                    <a:pt x="88" y="4"/>
                  </a:lnTo>
                  <a:lnTo>
                    <a:pt x="102" y="12"/>
                  </a:lnTo>
                  <a:lnTo>
                    <a:pt x="114" y="24"/>
                  </a:lnTo>
                  <a:lnTo>
                    <a:pt x="122" y="37"/>
                  </a:lnTo>
                  <a:lnTo>
                    <a:pt x="125" y="52"/>
                  </a:lnTo>
                  <a:lnTo>
                    <a:pt x="122" y="67"/>
                  </a:lnTo>
                  <a:lnTo>
                    <a:pt x="114" y="81"/>
                  </a:lnTo>
                  <a:lnTo>
                    <a:pt x="102" y="93"/>
                  </a:lnTo>
                  <a:lnTo>
                    <a:pt x="88" y="101"/>
                  </a:lnTo>
                  <a:lnTo>
                    <a:pt x="70" y="105"/>
                  </a:lnTo>
                  <a:lnTo>
                    <a:pt x="53" y="105"/>
                  </a:lnTo>
                  <a:lnTo>
                    <a:pt x="36" y="101"/>
                  </a:lnTo>
                  <a:lnTo>
                    <a:pt x="21" y="93"/>
                  </a:lnTo>
                  <a:lnTo>
                    <a:pt x="9" y="81"/>
                  </a:lnTo>
                  <a:lnTo>
                    <a:pt x="2" y="67"/>
                  </a:lnTo>
                  <a:lnTo>
                    <a:pt x="0" y="52"/>
                  </a:lnTo>
                  <a:close/>
                </a:path>
              </a:pathLst>
            </a:custGeom>
            <a:solidFill>
              <a:srgbClr val="00FFFF"/>
            </a:solidFill>
            <a:ln w="9525">
              <a:noFill/>
              <a:round/>
              <a:headEnd/>
              <a:tailEnd/>
            </a:ln>
          </p:spPr>
          <p:txBody>
            <a:bodyPr/>
            <a:lstStyle/>
            <a:p>
              <a:endParaRPr lang="en-US"/>
            </a:p>
          </p:txBody>
        </p:sp>
        <p:sp>
          <p:nvSpPr>
            <p:cNvPr id="28754" name="Rectangle 83"/>
            <p:cNvSpPr>
              <a:spLocks noChangeArrowheads="1"/>
            </p:cNvSpPr>
            <p:nvPr/>
          </p:nvSpPr>
          <p:spPr bwMode="auto">
            <a:xfrm>
              <a:off x="4289" y="3079"/>
              <a:ext cx="29" cy="62"/>
            </a:xfrm>
            <a:prstGeom prst="rect">
              <a:avLst/>
            </a:prstGeom>
            <a:noFill/>
            <a:ln w="9525">
              <a:noFill/>
              <a:miter lim="800000"/>
              <a:headEnd/>
              <a:tailEnd/>
            </a:ln>
          </p:spPr>
          <p:txBody>
            <a:bodyPr wrap="none" lIns="0" tIns="0" rIns="0" bIns="0">
              <a:spAutoFit/>
            </a:bodyPr>
            <a:lstStyle/>
            <a:p>
              <a:r>
                <a:rPr lang="en-US" sz="700">
                  <a:solidFill>
                    <a:srgbClr val="000000"/>
                  </a:solidFill>
                  <a:cs typeface="Arial" charset="0"/>
                </a:rPr>
                <a:t>8</a:t>
              </a:r>
              <a:endParaRPr lang="en-US">
                <a:cs typeface="Arial" charset="0"/>
              </a:endParaRPr>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idx="4294967295"/>
          </p:nvPr>
        </p:nvSpPr>
        <p:spPr/>
        <p:txBody>
          <a:bodyPr/>
          <a:lstStyle/>
          <a:p>
            <a:r>
              <a:rPr lang="en-US" sz="2400" smtClean="0">
                <a:latin typeface="Arial" charset="0"/>
              </a:rPr>
              <a:t>Study / Report Numbering</a:t>
            </a:r>
            <a:br>
              <a:rPr lang="en-US" sz="2400" smtClean="0">
                <a:latin typeface="Arial" charset="0"/>
              </a:rPr>
            </a:br>
            <a:endParaRPr lang="en-US" sz="2400" smtClean="0">
              <a:latin typeface="Arial" charset="0"/>
            </a:endParaRPr>
          </a:p>
        </p:txBody>
      </p:sp>
      <p:pic>
        <p:nvPicPr>
          <p:cNvPr id="30722" name="Picture 5" descr="Report"/>
          <p:cNvPicPr>
            <a:picLocks noChangeAspect="1" noChangeArrowheads="1"/>
          </p:cNvPicPr>
          <p:nvPr/>
        </p:nvPicPr>
        <p:blipFill>
          <a:blip r:embed="rId2"/>
          <a:srcRect/>
          <a:stretch>
            <a:fillRect/>
          </a:stretch>
        </p:blipFill>
        <p:spPr bwMode="auto">
          <a:xfrm>
            <a:off x="1250950" y="1219200"/>
            <a:ext cx="5607050" cy="2495550"/>
          </a:xfrm>
          <a:prstGeom prst="rect">
            <a:avLst/>
          </a:prstGeom>
          <a:noFill/>
          <a:ln w="9525">
            <a:noFill/>
            <a:miter lim="800000"/>
            <a:headEnd/>
            <a:tailEnd/>
          </a:ln>
        </p:spPr>
      </p:pic>
      <p:graphicFrame>
        <p:nvGraphicFramePr>
          <p:cNvPr id="36909" name="Group 45"/>
          <p:cNvGraphicFramePr>
            <a:graphicFrameLocks noGrp="1"/>
          </p:cNvGraphicFramePr>
          <p:nvPr>
            <p:ph sz="half" idx="4294967295"/>
          </p:nvPr>
        </p:nvGraphicFramePr>
        <p:xfrm>
          <a:off x="457200" y="3962400"/>
          <a:ext cx="8305800" cy="2085975"/>
        </p:xfrm>
        <a:graphic>
          <a:graphicData uri="http://schemas.openxmlformats.org/drawingml/2006/table">
            <a:tbl>
              <a:tblPr/>
              <a:tblGrid>
                <a:gridCol w="1389063"/>
                <a:gridCol w="6916737"/>
              </a:tblGrid>
              <a:tr h="701675">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1</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a:noFill/>
                    </a:lnR>
                    <a:lnT>
                      <a:noFill/>
                    </a:lnT>
                    <a:lnB>
                      <a:noFill/>
                    </a:lnB>
                    <a:lnTlToBr>
                      <a:noFill/>
                    </a:lnTlToBr>
                    <a:lnBlToTr>
                      <a:noFill/>
                    </a:lnBlToTr>
                    <a:noFill/>
                  </a:tcPr>
                </a:tc>
                <a:tc>
                  <a:txBody>
                    <a:bodyPr/>
                    <a:lstStyle/>
                    <a:p>
                      <a:pPr marL="227013" marR="0" lvl="0" indent="-227013" algn="just"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Document Category Code. and Report Identifier suffix </a:t>
                      </a:r>
                      <a:r>
                        <a:rPr kumimoji="0" lang="en-US" sz="1000" b="1" i="0" u="none" strike="noStrike" cap="none" normalizeH="0" baseline="0" smtClean="0">
                          <a:ln>
                            <a:noFill/>
                          </a:ln>
                          <a:solidFill>
                            <a:schemeClr val="tx1"/>
                          </a:solidFill>
                          <a:effectLst/>
                          <a:latin typeface="Arial" charset="0"/>
                          <a:ea typeface="Times New Roman" pitchFamily="18" charset="0"/>
                          <a:cs typeface="Arial" charset="0"/>
                        </a:rPr>
                        <a:t>‘</a:t>
                      </a: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R</a:t>
                      </a:r>
                      <a:r>
                        <a:rPr kumimoji="0" lang="en-US" sz="1000" b="1" i="0" u="none" strike="noStrike" cap="none" normalizeH="0" baseline="0" smtClean="0">
                          <a:ln>
                            <a:noFill/>
                          </a:ln>
                          <a:solidFill>
                            <a:schemeClr val="tx1"/>
                          </a:solidFill>
                          <a:effectLst/>
                          <a:latin typeface="Arial" charset="0"/>
                          <a:ea typeface="Times New Roman" pitchFamily="18" charset="0"/>
                          <a:cs typeface="Arial" charset="0"/>
                        </a:rPr>
                        <a:t>’</a:t>
                      </a: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 </a:t>
                      </a:r>
                      <a:r>
                        <a:rPr kumimoji="0" lang="en-US" sz="1000" b="1" i="0" u="none" strike="noStrike" cap="none" normalizeH="0" baseline="0" smtClean="0">
                          <a:ln>
                            <a:noFill/>
                          </a:ln>
                          <a:solidFill>
                            <a:schemeClr val="tx1"/>
                          </a:solidFill>
                          <a:effectLst/>
                          <a:latin typeface="Arial" charset="0"/>
                          <a:ea typeface="Times New Roman" pitchFamily="18" charset="0"/>
                          <a:cs typeface="Arial" charset="0"/>
                        </a:rPr>
                        <a:t>Various documents produced by DEC shall indicate a code for type / category of drawings. This is required to suit the documentation system in Reliance so that the documents are stored category wise to enable easy and quick retrieval. For example G21 denotes Block Diagram.</a:t>
                      </a:r>
                      <a:endPar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endParaRPr>
                    </a:p>
                  </a:txBody>
                  <a:tcPr horzOverflow="overflow">
                    <a:lnL>
                      <a:noFill/>
                    </a:lnL>
                    <a:lnR>
                      <a:noFill/>
                    </a:lnR>
                    <a:lnT>
                      <a:noFill/>
                    </a:lnT>
                    <a:lnB>
                      <a:noFill/>
                    </a:lnB>
                    <a:lnTlToBr>
                      <a:noFill/>
                    </a:lnTlToBr>
                    <a:lnBlToTr>
                      <a:noFill/>
                    </a:lnBlToTr>
                    <a:noFill/>
                  </a:tcPr>
                </a:tc>
              </a:tr>
              <a:tr h="442913">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2</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a:noFill/>
                    </a:lnR>
                    <a:lnT>
                      <a:noFill/>
                    </a:lnT>
                    <a:lnB>
                      <a:noFill/>
                    </a:lnB>
                    <a:lnTlToBr>
                      <a:noFill/>
                    </a:lnTlToBr>
                    <a:lnBlToTr>
                      <a:noFill/>
                    </a:lnBlToTr>
                    <a:noFill/>
                  </a:tcPr>
                </a:tc>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Project/Complex/Unit identifier and it is a six digit alphanumeric code.  (Refer to Project WBS).</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a:noFill/>
                    </a:lnR>
                    <a:lnT>
                      <a:noFill/>
                    </a:lnT>
                    <a:lnB>
                      <a:noFill/>
                    </a:lnB>
                    <a:lnTlToBr>
                      <a:noFill/>
                    </a:lnTlToBr>
                    <a:lnBlToTr>
                      <a:noFill/>
                    </a:lnBlToTr>
                    <a:noFill/>
                  </a:tcPr>
                </a:tc>
              </a:tr>
              <a:tr h="647700">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3.</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a:noFill/>
                    </a:lnR>
                    <a:lnT>
                      <a:noFill/>
                    </a:lnT>
                    <a:lnB>
                      <a:noFill/>
                    </a:lnB>
                    <a:lnTlToBr>
                      <a:noFill/>
                    </a:lnTlToBr>
                    <a:lnBlToTr>
                      <a:noFill/>
                    </a:lnBlToTr>
                    <a:noFill/>
                  </a:tcPr>
                </a:tc>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Section Number, (This is an Optional field), Contractor to include an additional section number where the Work Breakdown Structure (WBS) does not provide sufficient granularity to fit their work processes.</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a:noFill/>
                    </a:lnR>
                    <a:lnT>
                      <a:noFill/>
                    </a:lnT>
                    <a:lnB>
                      <a:noFill/>
                    </a:lnB>
                    <a:lnTlToBr>
                      <a:noFill/>
                    </a:lnTlToBr>
                    <a:lnBlToTr>
                      <a:noFill/>
                    </a:lnBlToTr>
                    <a:noFill/>
                  </a:tcPr>
                </a:tc>
              </a:tr>
              <a:tr h="293688">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Group 4</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a:noFill/>
                    </a:lnR>
                    <a:lnT>
                      <a:noFill/>
                    </a:lnT>
                    <a:lnB>
                      <a:noFill/>
                    </a:lnB>
                    <a:lnTlToBr>
                      <a:noFill/>
                    </a:lnTlToBr>
                    <a:lnBlToTr>
                      <a:noFill/>
                    </a:lnBlToTr>
                    <a:noFill/>
                  </a:tcPr>
                </a:tc>
                <a:tc>
                  <a:txBody>
                    <a:bodyPr/>
                    <a:lstStyle/>
                    <a:p>
                      <a:pPr marL="227013" marR="0" lvl="0" indent="-227013" algn="l" defTabSz="914400" rtl="0" eaLnBrk="1" fontAlgn="base" latinLnBrk="0" hangingPunct="1">
                        <a:lnSpc>
                          <a:spcPct val="100000"/>
                        </a:lnSpc>
                        <a:spcBef>
                          <a:spcPct val="0"/>
                        </a:spcBef>
                        <a:spcAft>
                          <a:spcPct val="0"/>
                        </a:spcAft>
                        <a:buClrTx/>
                        <a:buSzTx/>
                        <a:buFontTx/>
                        <a:buNone/>
                        <a:tabLst>
                          <a:tab pos="457200" algn="l"/>
                          <a:tab pos="936625" algn="l"/>
                          <a:tab pos="1371600" algn="l"/>
                        </a:tabLst>
                      </a:pPr>
                      <a:r>
                        <a:rPr kumimoji="0" lang="en-US" sz="1000" b="1" i="0" u="none" strike="noStrike" cap="none" normalizeH="0" baseline="0" smtClean="0">
                          <a:ln>
                            <a:noFill/>
                          </a:ln>
                          <a:solidFill>
                            <a:schemeClr val="tx1"/>
                          </a:solidFill>
                          <a:effectLst/>
                          <a:latin typeface="Times New Roman" pitchFamily="18" charset="0"/>
                          <a:ea typeface="Times New Roman" pitchFamily="18" charset="0"/>
                          <a:cs typeface="Arial" charset="0"/>
                        </a:rPr>
                        <a:t>Study Report Sequence Number commencing at 001.</a:t>
                      </a:r>
                      <a:endParaRPr kumimoji="0" lang="en-US" sz="1000" b="1" i="0" u="none" strike="noStrike" cap="none" normalizeH="0" baseline="0" smtClean="0">
                        <a:ln>
                          <a:noFill/>
                        </a:ln>
                        <a:solidFill>
                          <a:schemeClr val="tx1"/>
                        </a:solidFill>
                        <a:effectLst/>
                        <a:latin typeface="Arial" charset="0"/>
                        <a:ea typeface="Times New Roman" pitchFamily="18" charset="0"/>
                        <a:cs typeface="Arial" charset="0"/>
                      </a:endParaRPr>
                    </a:p>
                  </a:txBody>
                  <a:tcPr horzOverflow="overflow">
                    <a:lnL>
                      <a:noFill/>
                    </a:lnL>
                    <a:lnR>
                      <a:noFill/>
                    </a:lnR>
                    <a:lnT>
                      <a:noFill/>
                    </a:lnT>
                    <a:lnB>
                      <a:noFill/>
                    </a:lnB>
                    <a:lnTlToBr>
                      <a:noFill/>
                    </a:lnTlToBr>
                    <a:lnBlToTr>
                      <a:noFill/>
                    </a:lnBlToTr>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p:txBody>
          <a:bodyPr/>
          <a:lstStyle/>
          <a:p>
            <a:pPr eaLnBrk="1" hangingPunct="1"/>
            <a:r>
              <a:rPr lang="en-US" sz="2400" smtClean="0">
                <a:latin typeface="Arial" charset="0"/>
              </a:rPr>
              <a:t>Reports and Studies – Key Points</a:t>
            </a:r>
          </a:p>
        </p:txBody>
      </p:sp>
      <p:sp>
        <p:nvSpPr>
          <p:cNvPr id="31746" name="Rectangle 3"/>
          <p:cNvSpPr>
            <a:spLocks noGrp="1" noChangeArrowheads="1"/>
          </p:cNvSpPr>
          <p:nvPr>
            <p:ph idx="1"/>
          </p:nvPr>
        </p:nvSpPr>
        <p:spPr>
          <a:xfrm>
            <a:off x="381000" y="1295400"/>
            <a:ext cx="7908925" cy="3038475"/>
          </a:xfrm>
        </p:spPr>
        <p:txBody>
          <a:bodyPr/>
          <a:lstStyle/>
          <a:p>
            <a:pPr marL="374650" indent="-374650" defTabSz="819150" eaLnBrk="1" hangingPunct="1">
              <a:buClr>
                <a:schemeClr val="tx1"/>
              </a:buClr>
              <a:buFont typeface="Wingdings" pitchFamily="2" charset="2"/>
              <a:buChar char="§"/>
            </a:pPr>
            <a:r>
              <a:rPr lang="en-US" sz="1800" smtClean="0">
                <a:latin typeface="Arial" charset="0"/>
              </a:rPr>
              <a:t>Engineering Contractor’s internal or RPMG deliverables</a:t>
            </a:r>
          </a:p>
          <a:p>
            <a:pPr marL="374650" indent="-374650" defTabSz="819150" eaLnBrk="1" hangingPunct="1">
              <a:buClr>
                <a:schemeClr val="tx1"/>
              </a:buClr>
              <a:buFont typeface="Wingdings" pitchFamily="2" charset="2"/>
              <a:buChar char="§"/>
            </a:pPr>
            <a:r>
              <a:rPr lang="en-US" sz="1800" smtClean="0">
                <a:latin typeface="Arial" charset="0"/>
              </a:rPr>
              <a:t>General reference software</a:t>
            </a:r>
          </a:p>
          <a:p>
            <a:pPr marL="374650" indent="-374650" defTabSz="819150" eaLnBrk="1" hangingPunct="1">
              <a:buClr>
                <a:schemeClr val="tx1"/>
              </a:buClr>
              <a:buFont typeface="Wingdings" pitchFamily="2" charset="2"/>
              <a:buChar char="§"/>
            </a:pPr>
            <a:r>
              <a:rPr lang="en-US" sz="1800" smtClean="0">
                <a:latin typeface="Arial" charset="0"/>
              </a:rPr>
              <a:t>Checks and reviews</a:t>
            </a:r>
          </a:p>
          <a:p>
            <a:pPr marL="374650" indent="-374650" defTabSz="819150" eaLnBrk="1" hangingPunct="1">
              <a:buClr>
                <a:schemeClr val="tx1"/>
              </a:buClr>
              <a:buFont typeface="Wingdings" pitchFamily="2" charset="2"/>
              <a:buChar char="§"/>
            </a:pPr>
            <a:r>
              <a:rPr lang="en-GB" sz="1800" smtClean="0">
                <a:latin typeface="Arial" charset="0"/>
              </a:rPr>
              <a:t>Numbering system consistent with drawings</a:t>
            </a:r>
          </a:p>
          <a:p>
            <a:pPr marL="374650" indent="-374650" defTabSz="819150" eaLnBrk="1" hangingPunct="1">
              <a:buClr>
                <a:schemeClr val="tx1"/>
              </a:buClr>
              <a:buFont typeface="Wingdings" pitchFamily="2" charset="2"/>
              <a:buChar char="§"/>
            </a:pPr>
            <a:r>
              <a:rPr lang="en-GB" sz="1800" smtClean="0">
                <a:latin typeface="Arial" charset="0"/>
              </a:rPr>
              <a:t>Supporting cost estimates</a:t>
            </a:r>
            <a:endParaRPr lang="en-US" sz="1800" smtClean="0">
              <a:latin typeface="Arial"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idx="4294967295"/>
          </p:nvPr>
        </p:nvSpPr>
        <p:spPr/>
        <p:txBody>
          <a:bodyPr/>
          <a:lstStyle/>
          <a:p>
            <a:pPr eaLnBrk="1" hangingPunct="1"/>
            <a:r>
              <a:rPr lang="en-US" sz="2400" smtClean="0">
                <a:latin typeface="Arial" charset="0"/>
              </a:rPr>
              <a:t>Other Deliverables </a:t>
            </a:r>
            <a:br>
              <a:rPr lang="en-US" sz="2400" smtClean="0">
                <a:latin typeface="Arial" charset="0"/>
              </a:rPr>
            </a:br>
            <a:endParaRPr lang="en-US" sz="2400" smtClean="0">
              <a:latin typeface="Arial" charset="0"/>
            </a:endParaRPr>
          </a:p>
        </p:txBody>
      </p:sp>
      <p:sp>
        <p:nvSpPr>
          <p:cNvPr id="32770" name="Rectangle 3"/>
          <p:cNvSpPr>
            <a:spLocks noGrp="1" noChangeArrowheads="1"/>
          </p:cNvSpPr>
          <p:nvPr>
            <p:ph type="body" idx="4294967295"/>
          </p:nvPr>
        </p:nvSpPr>
        <p:spPr/>
        <p:txBody>
          <a:bodyPr/>
          <a:lstStyle/>
          <a:p>
            <a:pPr eaLnBrk="1" hangingPunct="1"/>
            <a:endParaRPr lang="en-US" smtClean="0">
              <a:latin typeface="Arial" charset="0"/>
            </a:endParaRPr>
          </a:p>
          <a:p>
            <a:pPr algn="just" eaLnBrk="1" hangingPunct="1">
              <a:buClr>
                <a:schemeClr val="tx1"/>
              </a:buClr>
              <a:buFont typeface="Wingdings" pitchFamily="2" charset="2"/>
              <a:buChar char="§"/>
            </a:pPr>
            <a:r>
              <a:rPr lang="en-US" sz="1800" smtClean="0">
                <a:latin typeface="Arial" charset="0"/>
              </a:rPr>
              <a:t>Other deliverables not falling into the categories listed above but required to support the development and construction of the J3 program and prepared by the Licensors and DECs shall be issued to the PMT/Reliance for review and approval in line with the requirements set out in the TRAM.</a:t>
            </a:r>
            <a:r>
              <a:rPr lang="en-US" smtClean="0">
                <a:latin typeface="Arial" charset="0"/>
              </a:rPr>
              <a:t> </a:t>
            </a:r>
          </a:p>
          <a:p>
            <a:pPr eaLnBrk="1" hangingPunct="1"/>
            <a:endParaRPr lang="en-US" smtClean="0">
              <a:latin typeface="Arial"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925513" y="0"/>
            <a:ext cx="7905750" cy="1068388"/>
          </a:xfrm>
        </p:spPr>
        <p:txBody>
          <a:bodyPr/>
          <a:lstStyle/>
          <a:p>
            <a:pPr eaLnBrk="1" hangingPunct="1"/>
            <a:r>
              <a:rPr lang="en-US" sz="2400" smtClean="0">
                <a:latin typeface="Arial" charset="0"/>
              </a:rPr>
              <a:t>Wrap up</a:t>
            </a:r>
          </a:p>
        </p:txBody>
      </p:sp>
      <p:sp>
        <p:nvSpPr>
          <p:cNvPr id="33794" name="Text Box 3"/>
          <p:cNvSpPr txBox="1">
            <a:spLocks noChangeArrowheads="1"/>
          </p:cNvSpPr>
          <p:nvPr/>
        </p:nvSpPr>
        <p:spPr bwMode="auto">
          <a:xfrm>
            <a:off x="592138" y="1035050"/>
            <a:ext cx="8243887" cy="360363"/>
          </a:xfrm>
          <a:prstGeom prst="rect">
            <a:avLst/>
          </a:prstGeom>
          <a:noFill/>
          <a:ln w="9525">
            <a:noFill/>
            <a:miter lim="800000"/>
            <a:headEnd/>
            <a:tailEnd/>
          </a:ln>
        </p:spPr>
        <p:txBody>
          <a:bodyPr wrap="none" lIns="82058" tIns="41029" rIns="82058" bIns="41029">
            <a:spAutoFit/>
          </a:bodyPr>
          <a:lstStyle/>
          <a:p>
            <a:r>
              <a:rPr lang="en-US" b="1"/>
              <a:t>Mandatory bullet input from each group at the conclusion of each module</a:t>
            </a:r>
          </a:p>
        </p:txBody>
      </p:sp>
      <p:sp>
        <p:nvSpPr>
          <p:cNvPr id="33795" name="Text Box 4"/>
          <p:cNvSpPr txBox="1">
            <a:spLocks noChangeArrowheads="1"/>
          </p:cNvSpPr>
          <p:nvPr/>
        </p:nvSpPr>
        <p:spPr bwMode="auto">
          <a:xfrm>
            <a:off x="592138" y="1730375"/>
            <a:ext cx="7847012" cy="2790825"/>
          </a:xfrm>
          <a:prstGeom prst="rect">
            <a:avLst/>
          </a:prstGeom>
          <a:noFill/>
          <a:ln w="9525">
            <a:noFill/>
            <a:miter lim="800000"/>
            <a:headEnd/>
            <a:tailEnd/>
          </a:ln>
        </p:spPr>
        <p:txBody>
          <a:bodyPr lIns="82058" tIns="41029" rIns="82058" bIns="41029">
            <a:spAutoFit/>
          </a:bodyPr>
          <a:lstStyle/>
          <a:p>
            <a:r>
              <a:rPr lang="en-US" sz="1600" b="1"/>
              <a:t>Highlights:</a:t>
            </a:r>
          </a:p>
          <a:p>
            <a:pPr lvl="1"/>
            <a:endParaRPr lang="en-US" sz="1600" b="1"/>
          </a:p>
          <a:p>
            <a:endParaRPr lang="en-US" sz="1600" b="1"/>
          </a:p>
          <a:p>
            <a:r>
              <a:rPr lang="en-US" sz="1600" b="1"/>
              <a:t>Pluses:</a:t>
            </a:r>
          </a:p>
          <a:p>
            <a:pPr lvl="1"/>
            <a:endParaRPr lang="en-US" sz="1600" b="1"/>
          </a:p>
          <a:p>
            <a:endParaRPr lang="en-US" sz="1600" b="1"/>
          </a:p>
          <a:p>
            <a:r>
              <a:rPr lang="en-US" sz="1600" b="1"/>
              <a:t>Deltas:</a:t>
            </a:r>
          </a:p>
          <a:p>
            <a:pPr lvl="1"/>
            <a:endParaRPr lang="en-US" sz="1600" b="1"/>
          </a:p>
          <a:p>
            <a:endParaRPr lang="en-US" sz="1600" b="1"/>
          </a:p>
          <a:p>
            <a:r>
              <a:rPr lang="en-US" sz="1600" b="1"/>
              <a:t>Proposed path forward for future:</a:t>
            </a:r>
          </a:p>
          <a:p>
            <a:pPr lvl="1"/>
            <a:endParaRPr lang="en-US" sz="1600" b="1"/>
          </a:p>
        </p:txBody>
      </p:sp>
      <p:sp>
        <p:nvSpPr>
          <p:cNvPr id="33796" name="Text Box 5"/>
          <p:cNvSpPr txBox="1">
            <a:spLocks noChangeArrowheads="1"/>
          </p:cNvSpPr>
          <p:nvPr/>
        </p:nvSpPr>
        <p:spPr bwMode="auto">
          <a:xfrm>
            <a:off x="2392363" y="5691188"/>
            <a:ext cx="3074987" cy="282575"/>
          </a:xfrm>
          <a:prstGeom prst="rect">
            <a:avLst/>
          </a:prstGeom>
          <a:noFill/>
          <a:ln w="9525">
            <a:noFill/>
            <a:miter lim="800000"/>
            <a:headEnd/>
            <a:tailEnd/>
          </a:ln>
        </p:spPr>
        <p:txBody>
          <a:bodyPr wrap="none" lIns="82058" tIns="41029" rIns="82058" bIns="41029">
            <a:spAutoFit/>
          </a:bodyPr>
          <a:lstStyle/>
          <a:p>
            <a:r>
              <a:rPr lang="en-US" sz="1300" b="1"/>
              <a:t>Instructor shall compile a composite</a:t>
            </a:r>
          </a:p>
        </p:txBody>
      </p:sp>
    </p:spTree>
  </p:cSld>
  <p:clrMapOvr>
    <a:masterClrMapping/>
  </p:clrMapOvr>
</p:sld>
</file>

<file path=ppt/theme/theme1.xml><?xml version="1.0" encoding="utf-8"?>
<a:theme xmlns:a="http://schemas.openxmlformats.org/drawingml/2006/main" name="Theme">
  <a:themeElements>
    <a:clrScheme name="">
      <a:dk1>
        <a:srgbClr val="000000"/>
      </a:dk1>
      <a:lt1>
        <a:srgbClr val="FFFFFF"/>
      </a:lt1>
      <a:dk2>
        <a:srgbClr val="FFFFFF"/>
      </a:dk2>
      <a:lt2>
        <a:srgbClr val="004684"/>
      </a:lt2>
      <a:accent1>
        <a:srgbClr val="0092DD"/>
      </a:accent1>
      <a:accent2>
        <a:srgbClr val="009E60"/>
      </a:accent2>
      <a:accent3>
        <a:srgbClr val="FFFFFF"/>
      </a:accent3>
      <a:accent4>
        <a:srgbClr val="000000"/>
      </a:accent4>
      <a:accent5>
        <a:srgbClr val="AAC7EB"/>
      </a:accent5>
      <a:accent6>
        <a:srgbClr val="008F56"/>
      </a:accent6>
      <a:hlink>
        <a:srgbClr val="9933FF"/>
      </a:hlink>
      <a:folHlink>
        <a:srgbClr val="EEB211"/>
      </a:folHlink>
    </a:clrScheme>
    <a:fontScheme name="3_Powerpoint Template_Reliance PMCA Project">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oval"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r" defTabSz="1019175"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B2B2B2"/>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oval"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r" defTabSz="1019175"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B2B2B2"/>
            </a:solidFill>
            <a:effectLst/>
            <a:latin typeface="Arial" charset="0"/>
          </a:defRPr>
        </a:defPPr>
      </a:lstStyle>
    </a:lnDef>
  </a:objectDefaults>
  <a:extraClrSchemeLst>
    <a:extraClrScheme>
      <a:clrScheme name="Structured Methodology for Implementing COTS Systems in a Large, Globally Diversified Company 1">
        <a:dk1>
          <a:srgbClr val="003366"/>
        </a:dk1>
        <a:lt1>
          <a:srgbClr val="FFFFFF"/>
        </a:lt1>
        <a:dk2>
          <a:srgbClr val="3399FF"/>
        </a:dk2>
        <a:lt2>
          <a:srgbClr val="003366"/>
        </a:lt2>
        <a:accent1>
          <a:srgbClr val="3399FF"/>
        </a:accent1>
        <a:accent2>
          <a:srgbClr val="339933"/>
        </a:accent2>
        <a:accent3>
          <a:srgbClr val="FFFFFF"/>
        </a:accent3>
        <a:accent4>
          <a:srgbClr val="002A56"/>
        </a:accent4>
        <a:accent5>
          <a:srgbClr val="ADCAFF"/>
        </a:accent5>
        <a:accent6>
          <a:srgbClr val="2D8A2D"/>
        </a:accent6>
        <a:hlink>
          <a:srgbClr val="9933FF"/>
        </a:hlink>
        <a:folHlink>
          <a:srgbClr val="FF6600"/>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2">
        <a:dk1>
          <a:srgbClr val="003366"/>
        </a:dk1>
        <a:lt1>
          <a:srgbClr val="FFFFFF"/>
        </a:lt1>
        <a:dk2>
          <a:srgbClr val="339933"/>
        </a:dk2>
        <a:lt2>
          <a:srgbClr val="003366"/>
        </a:lt2>
        <a:accent1>
          <a:srgbClr val="339933"/>
        </a:accent1>
        <a:accent2>
          <a:srgbClr val="3399FF"/>
        </a:accent2>
        <a:accent3>
          <a:srgbClr val="FFFFFF"/>
        </a:accent3>
        <a:accent4>
          <a:srgbClr val="002A56"/>
        </a:accent4>
        <a:accent5>
          <a:srgbClr val="ADCAAD"/>
        </a:accent5>
        <a:accent6>
          <a:srgbClr val="2D8AE7"/>
        </a:accent6>
        <a:hlink>
          <a:srgbClr val="9900FF"/>
        </a:hlink>
        <a:folHlink>
          <a:srgbClr val="FF6600"/>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3">
        <a:dk1>
          <a:srgbClr val="003366"/>
        </a:dk1>
        <a:lt1>
          <a:srgbClr val="FFFFFF"/>
        </a:lt1>
        <a:dk2>
          <a:srgbClr val="9900FF"/>
        </a:dk2>
        <a:lt2>
          <a:srgbClr val="003366"/>
        </a:lt2>
        <a:accent1>
          <a:srgbClr val="9900FF"/>
        </a:accent1>
        <a:accent2>
          <a:srgbClr val="3399FF"/>
        </a:accent2>
        <a:accent3>
          <a:srgbClr val="FFFFFF"/>
        </a:accent3>
        <a:accent4>
          <a:srgbClr val="002A56"/>
        </a:accent4>
        <a:accent5>
          <a:srgbClr val="CAAAFF"/>
        </a:accent5>
        <a:accent6>
          <a:srgbClr val="2D8AE7"/>
        </a:accent6>
        <a:hlink>
          <a:srgbClr val="339933"/>
        </a:hlink>
        <a:folHlink>
          <a:srgbClr val="FF6600"/>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4">
        <a:dk1>
          <a:srgbClr val="003366"/>
        </a:dk1>
        <a:lt1>
          <a:srgbClr val="FFFFFF"/>
        </a:lt1>
        <a:dk2>
          <a:srgbClr val="FF9900"/>
        </a:dk2>
        <a:lt2>
          <a:srgbClr val="003366"/>
        </a:lt2>
        <a:accent1>
          <a:srgbClr val="FF9900"/>
        </a:accent1>
        <a:accent2>
          <a:srgbClr val="3399FF"/>
        </a:accent2>
        <a:accent3>
          <a:srgbClr val="FFFFFF"/>
        </a:accent3>
        <a:accent4>
          <a:srgbClr val="002A56"/>
        </a:accent4>
        <a:accent5>
          <a:srgbClr val="FFCAAA"/>
        </a:accent5>
        <a:accent6>
          <a:srgbClr val="2D8AE7"/>
        </a:accent6>
        <a:hlink>
          <a:srgbClr val="339933"/>
        </a:hlink>
        <a:folHlink>
          <a:srgbClr val="9900FF"/>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5">
        <a:dk1>
          <a:srgbClr val="000000"/>
        </a:dk1>
        <a:lt1>
          <a:srgbClr val="FFFFFF"/>
        </a:lt1>
        <a:dk2>
          <a:srgbClr val="3399FF"/>
        </a:dk2>
        <a:lt2>
          <a:srgbClr val="333399"/>
        </a:lt2>
        <a:accent1>
          <a:srgbClr val="3399FF"/>
        </a:accent1>
        <a:accent2>
          <a:srgbClr val="339933"/>
        </a:accent2>
        <a:accent3>
          <a:srgbClr val="FFFFFF"/>
        </a:accent3>
        <a:accent4>
          <a:srgbClr val="000000"/>
        </a:accent4>
        <a:accent5>
          <a:srgbClr val="ADCAFF"/>
        </a:accent5>
        <a:accent6>
          <a:srgbClr val="2D8A2D"/>
        </a:accent6>
        <a:hlink>
          <a:srgbClr val="9933FF"/>
        </a:hlink>
        <a:folHlink>
          <a:srgbClr val="FF6600"/>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6">
        <a:dk1>
          <a:srgbClr val="000000"/>
        </a:dk1>
        <a:lt1>
          <a:srgbClr val="FFFFFF"/>
        </a:lt1>
        <a:dk2>
          <a:srgbClr val="339933"/>
        </a:dk2>
        <a:lt2>
          <a:srgbClr val="333399"/>
        </a:lt2>
        <a:accent1>
          <a:srgbClr val="339933"/>
        </a:accent1>
        <a:accent2>
          <a:srgbClr val="3399FF"/>
        </a:accent2>
        <a:accent3>
          <a:srgbClr val="FFFFFF"/>
        </a:accent3>
        <a:accent4>
          <a:srgbClr val="000000"/>
        </a:accent4>
        <a:accent5>
          <a:srgbClr val="ADCAAD"/>
        </a:accent5>
        <a:accent6>
          <a:srgbClr val="2D8AE7"/>
        </a:accent6>
        <a:hlink>
          <a:srgbClr val="9900FF"/>
        </a:hlink>
        <a:folHlink>
          <a:srgbClr val="FF6600"/>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7">
        <a:dk1>
          <a:srgbClr val="000000"/>
        </a:dk1>
        <a:lt1>
          <a:srgbClr val="FFFFFF"/>
        </a:lt1>
        <a:dk2>
          <a:srgbClr val="9900FF"/>
        </a:dk2>
        <a:lt2>
          <a:srgbClr val="333399"/>
        </a:lt2>
        <a:accent1>
          <a:srgbClr val="9900FF"/>
        </a:accent1>
        <a:accent2>
          <a:srgbClr val="3399FF"/>
        </a:accent2>
        <a:accent3>
          <a:srgbClr val="FFFFFF"/>
        </a:accent3>
        <a:accent4>
          <a:srgbClr val="000000"/>
        </a:accent4>
        <a:accent5>
          <a:srgbClr val="CAAAFF"/>
        </a:accent5>
        <a:accent6>
          <a:srgbClr val="2D8AE7"/>
        </a:accent6>
        <a:hlink>
          <a:srgbClr val="339933"/>
        </a:hlink>
        <a:folHlink>
          <a:srgbClr val="FF6600"/>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8">
        <a:dk1>
          <a:srgbClr val="000000"/>
        </a:dk1>
        <a:lt1>
          <a:srgbClr val="FFFFFF"/>
        </a:lt1>
        <a:dk2>
          <a:srgbClr val="FF9900"/>
        </a:dk2>
        <a:lt2>
          <a:srgbClr val="333399"/>
        </a:lt2>
        <a:accent1>
          <a:srgbClr val="FF9900"/>
        </a:accent1>
        <a:accent2>
          <a:srgbClr val="3399FF"/>
        </a:accent2>
        <a:accent3>
          <a:srgbClr val="FFFFFF"/>
        </a:accent3>
        <a:accent4>
          <a:srgbClr val="000000"/>
        </a:accent4>
        <a:accent5>
          <a:srgbClr val="FFCAAA"/>
        </a:accent5>
        <a:accent6>
          <a:srgbClr val="2D8AE7"/>
        </a:accent6>
        <a:hlink>
          <a:srgbClr val="339933"/>
        </a:hlink>
        <a:folHlink>
          <a:srgbClr val="9900FF"/>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9">
        <a:dk1>
          <a:srgbClr val="000000"/>
        </a:dk1>
        <a:lt1>
          <a:srgbClr val="FFFFFF"/>
        </a:lt1>
        <a:dk2>
          <a:srgbClr val="800080"/>
        </a:dk2>
        <a:lt2>
          <a:srgbClr val="333399"/>
        </a:lt2>
        <a:accent1>
          <a:srgbClr val="800080"/>
        </a:accent1>
        <a:accent2>
          <a:srgbClr val="3399FF"/>
        </a:accent2>
        <a:accent3>
          <a:srgbClr val="FFFFFF"/>
        </a:accent3>
        <a:accent4>
          <a:srgbClr val="000000"/>
        </a:accent4>
        <a:accent5>
          <a:srgbClr val="C0AAC0"/>
        </a:accent5>
        <a:accent6>
          <a:srgbClr val="2D8AE7"/>
        </a:accent6>
        <a:hlink>
          <a:srgbClr val="339933"/>
        </a:hlink>
        <a:folHlink>
          <a:srgbClr val="9900FF"/>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10">
        <a:dk1>
          <a:srgbClr val="000000"/>
        </a:dk1>
        <a:lt1>
          <a:srgbClr val="FFFFFF"/>
        </a:lt1>
        <a:dk2>
          <a:srgbClr val="CC6600"/>
        </a:dk2>
        <a:lt2>
          <a:srgbClr val="333399"/>
        </a:lt2>
        <a:accent1>
          <a:srgbClr val="CC6600"/>
        </a:accent1>
        <a:accent2>
          <a:srgbClr val="3399FF"/>
        </a:accent2>
        <a:accent3>
          <a:srgbClr val="FFFFFF"/>
        </a:accent3>
        <a:accent4>
          <a:srgbClr val="000000"/>
        </a:accent4>
        <a:accent5>
          <a:srgbClr val="E2B8AA"/>
        </a:accent5>
        <a:accent6>
          <a:srgbClr val="2D8AE7"/>
        </a:accent6>
        <a:hlink>
          <a:srgbClr val="339933"/>
        </a:hlink>
        <a:folHlink>
          <a:srgbClr val="9900FF"/>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11">
        <a:dk1>
          <a:srgbClr val="003366"/>
        </a:dk1>
        <a:lt1>
          <a:srgbClr val="FFFFFF"/>
        </a:lt1>
        <a:dk2>
          <a:srgbClr val="3399FF"/>
        </a:dk2>
        <a:lt2>
          <a:srgbClr val="000000"/>
        </a:lt2>
        <a:accent1>
          <a:srgbClr val="3399FF"/>
        </a:accent1>
        <a:accent2>
          <a:srgbClr val="339933"/>
        </a:accent2>
        <a:accent3>
          <a:srgbClr val="FFFFFF"/>
        </a:accent3>
        <a:accent4>
          <a:srgbClr val="002A56"/>
        </a:accent4>
        <a:accent5>
          <a:srgbClr val="ADCAFF"/>
        </a:accent5>
        <a:accent6>
          <a:srgbClr val="2D8A2D"/>
        </a:accent6>
        <a:hlink>
          <a:srgbClr val="9933FF"/>
        </a:hlink>
        <a:folHlink>
          <a:srgbClr val="FF6600"/>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12">
        <a:dk1>
          <a:srgbClr val="003366"/>
        </a:dk1>
        <a:lt1>
          <a:srgbClr val="FFFFFF"/>
        </a:lt1>
        <a:dk2>
          <a:srgbClr val="336699"/>
        </a:dk2>
        <a:lt2>
          <a:srgbClr val="000000"/>
        </a:lt2>
        <a:accent1>
          <a:srgbClr val="3399FF"/>
        </a:accent1>
        <a:accent2>
          <a:srgbClr val="339933"/>
        </a:accent2>
        <a:accent3>
          <a:srgbClr val="FFFFFF"/>
        </a:accent3>
        <a:accent4>
          <a:srgbClr val="002A56"/>
        </a:accent4>
        <a:accent5>
          <a:srgbClr val="ADCAFF"/>
        </a:accent5>
        <a:accent6>
          <a:srgbClr val="2D8A2D"/>
        </a:accent6>
        <a:hlink>
          <a:srgbClr val="9933FF"/>
        </a:hlink>
        <a:folHlink>
          <a:srgbClr val="FF6600"/>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13">
        <a:dk1>
          <a:srgbClr val="003366"/>
        </a:dk1>
        <a:lt1>
          <a:srgbClr val="FFFFFF"/>
        </a:lt1>
        <a:dk2>
          <a:srgbClr val="336699"/>
        </a:dk2>
        <a:lt2>
          <a:srgbClr val="000000"/>
        </a:lt2>
        <a:accent1>
          <a:srgbClr val="3399FF"/>
        </a:accent1>
        <a:accent2>
          <a:srgbClr val="009E60"/>
        </a:accent2>
        <a:accent3>
          <a:srgbClr val="FFFFFF"/>
        </a:accent3>
        <a:accent4>
          <a:srgbClr val="002A56"/>
        </a:accent4>
        <a:accent5>
          <a:srgbClr val="ADCAFF"/>
        </a:accent5>
        <a:accent6>
          <a:srgbClr val="008F56"/>
        </a:accent6>
        <a:hlink>
          <a:srgbClr val="9933FF"/>
        </a:hlink>
        <a:folHlink>
          <a:srgbClr val="FF6600"/>
        </a:folHlink>
      </a:clrScheme>
      <a:clrMap bg1="lt1" tx1="dk1" bg2="lt2" tx2="dk2" accent1="accent1" accent2="accent2" accent3="accent3" accent4="accent4" accent5="accent5" accent6="accent6" hlink="hlink" folHlink="folHlink"/>
    </a:extraClrScheme>
    <a:extraClrScheme>
      <a:clrScheme name="Structured Methodology for Implementing COTS Systems in a Large, Globally Diversified Company 14">
        <a:dk1>
          <a:srgbClr val="003366"/>
        </a:dk1>
        <a:lt1>
          <a:srgbClr val="FFFFFF"/>
        </a:lt1>
        <a:dk2>
          <a:srgbClr val="000000"/>
        </a:dk2>
        <a:lt2>
          <a:srgbClr val="FFFFFF"/>
        </a:lt2>
        <a:accent1>
          <a:srgbClr val="3399FF"/>
        </a:accent1>
        <a:accent2>
          <a:srgbClr val="009E60"/>
        </a:accent2>
        <a:accent3>
          <a:srgbClr val="AAAAAA"/>
        </a:accent3>
        <a:accent4>
          <a:srgbClr val="DADADA"/>
        </a:accent4>
        <a:accent5>
          <a:srgbClr val="ADCAFF"/>
        </a:accent5>
        <a:accent6>
          <a:srgbClr val="008F56"/>
        </a:accent6>
        <a:hlink>
          <a:srgbClr val="9933FF"/>
        </a:hlink>
        <a:folHlink>
          <a:srgbClr val="FF6600"/>
        </a:folHlink>
      </a:clrScheme>
      <a:clrMap bg1="dk2" tx1="lt1" bg2="dk1" tx2="lt2" accent1="accent1" accent2="accent2" accent3="accent3" accent4="accent4" accent5="accent5" accent6="accent6" hlink="hlink" folHlink="folHlink"/>
    </a:extraClrScheme>
    <a:extraClrScheme>
      <a:clrScheme name="Structured Methodology for Implementing COTS Systems in a Large, Globally Diversified Company 15">
        <a:dk1>
          <a:srgbClr val="003366"/>
        </a:dk1>
        <a:lt1>
          <a:srgbClr val="FFFFFF"/>
        </a:lt1>
        <a:dk2>
          <a:srgbClr val="004584"/>
        </a:dk2>
        <a:lt2>
          <a:srgbClr val="FFFFFF"/>
        </a:lt2>
        <a:accent1>
          <a:srgbClr val="3399FF"/>
        </a:accent1>
        <a:accent2>
          <a:srgbClr val="009E60"/>
        </a:accent2>
        <a:accent3>
          <a:srgbClr val="AAB0C2"/>
        </a:accent3>
        <a:accent4>
          <a:srgbClr val="DADADA"/>
        </a:accent4>
        <a:accent5>
          <a:srgbClr val="ADCAFF"/>
        </a:accent5>
        <a:accent6>
          <a:srgbClr val="008F56"/>
        </a:accent6>
        <a:hlink>
          <a:srgbClr val="9933FF"/>
        </a:hlink>
        <a:folHlink>
          <a:srgbClr val="FF6600"/>
        </a:folHlink>
      </a:clrScheme>
      <a:clrMap bg1="dk2" tx1="lt1" bg2="dk1" tx2="lt2" accent1="accent1" accent2="accent2" accent3="accent3" accent4="accent4" accent5="accent5" accent6="accent6" hlink="hlink" folHlink="folHlink"/>
    </a:extraClrScheme>
    <a:extraClrScheme>
      <a:clrScheme name="Structured Methodology for Implementing COTS Systems in a Large, Globally Diversified Company 16">
        <a:dk1>
          <a:srgbClr val="000000"/>
        </a:dk1>
        <a:lt1>
          <a:srgbClr val="FFFFFF"/>
        </a:lt1>
        <a:dk2>
          <a:srgbClr val="FFFFFF"/>
        </a:dk2>
        <a:lt2>
          <a:srgbClr val="003366"/>
        </a:lt2>
        <a:accent1>
          <a:srgbClr val="0092DD"/>
        </a:accent1>
        <a:accent2>
          <a:srgbClr val="009E60"/>
        </a:accent2>
        <a:accent3>
          <a:srgbClr val="FFFFFF"/>
        </a:accent3>
        <a:accent4>
          <a:srgbClr val="000000"/>
        </a:accent4>
        <a:accent5>
          <a:srgbClr val="AAC7EB"/>
        </a:accent5>
        <a:accent6>
          <a:srgbClr val="008F56"/>
        </a:accent6>
        <a:hlink>
          <a:srgbClr val="9933FF"/>
        </a:hlink>
        <a:folHlink>
          <a:srgbClr val="EEB21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ct:contentTypeSchema ct:_="" ma:_="" ma:contentTypeName="Document" ma:contentTypeID="0x0101008FFC349986C57A409F1D95F9E994F323" ma:contentTypeVersion="" ma:contentTypeDescription="Create a new document." ma:contentTypeScope="" ma:versionID="2c7f30b0a801f533d74517de85770f8c" xmlns:ct="http://schemas.microsoft.com/office/2006/metadata/contentType" xmlns:ma="http://schemas.microsoft.com/office/2006/metadata/properties/metaAttributes">
<xsd:schema targetNamespace="http://schemas.microsoft.com/office/2006/metadata/properties" ma:root="true" ma:fieldsID="239e790aedda6d81755fa3eb39d6b0d8" ns1:_="" ns2:_="" ns3:_="" ns4:_="" ns5:_="" xmlns:xsd="http://www.w3.org/2001/XMLSchema" xmlns:xs="http://www.w3.org/2001/XMLSchema" xmlns:p="http://schemas.microsoft.com/office/2006/metadata/properties" xmlns:ns1="http://schemas.microsoft.com/sharepoint/v3" xmlns:ns2="812183e9-4177-4a95-9887-6757facb7f0c" xmlns:ns3="$ListId:Knowledge Repository;" xmlns:ns4="a2054139-aa95-4ab4-8cc3-3d9331ffb219" xmlns:ns5="04d94fd2-82c2-4de9-bb06-26e23d1dfff6">
<xsd:import namespace="http://schemas.microsoft.com/sharepoint/v3"/>
<xsd:import namespace="812183e9-4177-4a95-9887-6757facb7f0c"/>
<xsd:import namespace="$ListId:Knowledge Repository;"/>
<xsd:import namespace="a2054139-aa95-4ab4-8cc3-3d9331ffb219"/>
<xsd:import namespace="04d94fd2-82c2-4de9-bb06-26e23d1dfff6"/>
<xsd:element name="properties">
<xsd:complexType>
<xsd:sequence>
<xsd:element name="documentManagement">
<xsd:complexType>
<xsd:all>
<xsd:element ref="ns2:Knowledge_x0020_Category0"/>
<xsd:element ref="ns2:Knowledge_x0020_Category"/>
<xsd:element ref="ns2:Review_x0020_Date"/>
<xsd:element ref="ns2:Workflow_x0020_Status" minOccurs="0"/>
<xsd:element ref="ns1:_dlc_Exempt" minOccurs="0"/>
<xsd:element ref="ns4:Abstract" minOccurs="0"/>
<xsd:element ref="ns3:Document_x0020_Author"/>
<xsd:element ref="ns5:SharedWithUsers" minOccurs="0"/>
</xsd:all>
</xsd:complexType>
</xsd:element>
</xsd:sequence>
</xsd:complexType>
</xsd:element>
</xsd:schema>
<xsd:schema targetNamespace="http://schemas.microsoft.com/sharepoint/v3" elementFormDefault="qualified" xmlns:xsd="http://www.w3.org/2001/XMLSchema" xmlns:xs="http://www.w3.org/2001/XMLSchema" xmlns:dms="http://schemas.microsoft.com/office/2006/documentManagement/types" xmlns:pc="http://schemas.microsoft.com/office/infopath/2007/PartnerControls">
<xsd:import namespace="http://schemas.microsoft.com/office/2006/documentManagement/types"/>
<xsd:import namespace="http://schemas.microsoft.com/office/infopath/2007/PartnerControls"/>
<xsd:element name="_dlc_Exempt" ma:index="15" nillable="true" ma:displayName="Exempt from Policy" ma:hidden="true" ma:internalName="_dlc_Exempt" ma:readOnly="true">
<xsd:simpleType>
<xsd:restriction base="dms:Unknown"/>
</xsd:simpleType>
</xsd:element>
</xsd:schema>
<xsd:schema targetNamespace="812183e9-4177-4a95-9887-6757facb7f0c" elementFormDefault="qualified" xmlns:xsd="http://www.w3.org/2001/XMLSchema" xmlns:xs="http://www.w3.org/2001/XMLSchema" xmlns:dms="http://schemas.microsoft.com/office/2006/documentManagement/types" xmlns:pc="http://schemas.microsoft.com/office/infopath/2007/PartnerControls">
<xsd:import namespace="http://schemas.microsoft.com/office/2006/documentManagement/types"/>
<xsd:import namespace="http://schemas.microsoft.com/office/infopath/2007/PartnerControls"/>
<xsd:element name="Knowledge_x0020_Category0" ma:index="2" ma:displayName="Knowledge Category" ma:format="Dropdown" ma:internalName="Knowledge_x0020_Category0">
<xsd:simpleType>
<xsd:restriction base="dms:Choice">
<xsd:enumeration value="Standard Drawings (P14)"/>
<xsd:enumeration value="Piping Material Classes (PMS)"/>
<xsd:enumeration value="Valves"/>
<xsd:enumeration value="Pipes, Fittings &amp; flanges"/>
<xsd:enumeration value="Piping Speciality items"/>
<xsd:enumeration value="Insulation"/>
<xsd:enumeration value="Painting"/>
<xsd:enumeration value="Underground piping"/>
<xsd:enumeration value="Piping Layout"/>
<xsd:enumeration value="Steam Tracing"/>
<xsd:enumeration value="Plot Plans"/>
<xsd:enumeration value="Piping Material Control"/>
<xsd:enumeration value="CAD 3D model"/>
<xsd:enumeration value="Smart Plant Materials (SPM)"/>
<xsd:enumeration value="Pipe Stress"/>
<xsd:enumeration value="Pipe support"/>
<xsd:enumeration value="Codes and standard"/>
<xsd:enumeration value="Hot tapping"/>
</xsd:restriction>
</xsd:simpleType>
</xsd:element>
<xsd:element name="Knowledge_x0020_Category" ma:index="3" ma:displayName="Knowledge Type" ma:default="Business Process" ma:format="Dropdown" ma:internalName="Knowledge_x0020_Category">
<xsd:simpleType>
<xsd:restriction base="dms:Choice">
<xsd:enumeration value="Business Process"/>
<xsd:enumeration value="Checklist"/>
<xsd:enumeration value="Departmental Work Procedure"/>
<xsd:enumeration value="Design Basis"/>
<xsd:enumeration value="Format"/>
<xsd:enumeration value="Guideline"/>
<xsd:enumeration value="Knowledge Article"/>
<xsd:enumeration value="Lessons Learnt"/>
<xsd:enumeration value="Manual"/>
<xsd:enumeration value="Presentation"/>
<xsd:enumeration value="Reference Material"/>
<xsd:enumeration value="Report"/>
<xsd:enumeration value="Specification"/>
<xsd:enumeration value="Standards"/>
<xsd:enumeration value="Work Instruction"/>
</xsd:restriction>
</xsd:simpleType>
</xsd:element>
<xsd:element name="Review_x0020_Date" ma:index="4" ma:displayName="Review Date" ma:format="DateOnly" ma:internalName="Review_x0020_Date">
<xsd:simpleType>
<xsd:restriction base="dms:DateTime"/>
</xsd:simpleType>
</xsd:element>
<xsd:element name="Workflow_x0020_Status" ma:index="12" nillable="true" ma:displayName="Workflow Status" ma:default="Pending for Manager Approval" ma:format="Dropdown" ma:hidden="true" ma:internalName="Workflow_x0020_Status" ma:readOnly="false">
<xsd:simpleType>
<xsd:restriction base="dms:Choice">
<xsd:enumeration value="Pending for Manager Approval"/>
<xsd:enumeration value="Pending for SME Approval"/>
<xsd:enumeration value="Approved"/>
<xsd:enumeration value="Rejected by Manager"/>
<xsd:enumeration value="Rejected by SME"/>
</xsd:restriction>
</xsd:simpleType>
</xsd:element>
</xsd:schema>
<xsd:schema targetNamespace="$ListId:Knowledge Repository;" elementFormDefault="qualified" xmlns:xsd="http://www.w3.org/2001/XMLSchema" xmlns:xs="http://www.w3.org/2001/XMLSchema" xmlns:dms="http://schemas.microsoft.com/office/2006/documentManagement/types" xmlns:pc="http://schemas.microsoft.com/office/infopath/2007/PartnerControls">
<xsd:import namespace="http://schemas.microsoft.com/office/2006/documentManagement/types"/>
<xsd:import namespace="http://schemas.microsoft.com/office/infopath/2007/PartnerControls"/>
<xsd:element name="Document_x0020_Author" ma:index="18" ma:displayName="Document Contribut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schema>
<xsd:schema targetNamespace="a2054139-aa95-4ab4-8cc3-3d9331ffb219" elementFormDefault="qualified" xmlns:xsd="http://www.w3.org/2001/XMLSchema" xmlns:xs="http://www.w3.org/2001/XMLSchema" xmlns:dms="http://schemas.microsoft.com/office/2006/documentManagement/types" xmlns:pc="http://schemas.microsoft.com/office/infopath/2007/PartnerControls">
<xsd:import namespace="http://schemas.microsoft.com/office/2006/documentManagement/types"/>
<xsd:import namespace="http://schemas.microsoft.com/office/infopath/2007/PartnerControls"/>
<xsd:element name="Abstract" ma:index="17" nillable="true" ma:displayName="Abstract" ma:internalName="Abstract">
<xsd:simpleType>
<xsd:restriction base="dms:Note">
<xsd:maxLength value="255"/>
</xsd:restriction>
</xsd:simpleType>
</xsd:element>
</xsd:schema>
<xsd:schema targetNamespace="04d94fd2-82c2-4de9-bb06-26e23d1dfff6" elementFormDefault="qualified" xmlns:xsd="http://www.w3.org/2001/XMLSchema" xmlns:xs="http://www.w3.org/2001/XMLSchema" xmlns:dms="http://schemas.microsoft.com/office/2006/documentManagement/types" xmlns:pc="http://schemas.microsoft.com/office/infopath/2007/PartnerControls">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targetNamespace="http://schemas.openxmlformats.org/package/2006/metadata/core-properties" elementFormDefault="qualified" attributeFormDefault="unqualified" blockDefault="#all" xmlns="http://schemas.openxmlformats.org/package/2006/metadata/core-properties" xmlns:xsd="http://www.w3.org/2001/XMLSchema" xmlns:xsi="http://www.w3.org/2001/XMLSchema-instance" xmlns:dc="http://purl.org/dc/elements/1.1/" xmlns:dcterms="http://purl.org/dc/terms/" xmlns:odoc="http://schemas.microsoft.com/internal/obd">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axOccurs="1" ma:index="1" ma:displayName="Title"/>
<xsd:element ref="dc:subject" minOccurs="0" maxOccurs="1"/>
<xsd:element ref="dc:description" minOccurs="0" maxOccurs="1"/>
<xsd:element name="keywords" minOccurs="0" maxOccurs="1" type="xsd:string" ma:index="1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targetNamespace="http://schemas.microsoft.com/office/infopath/2007/PartnerControls" elementFormDefault="qualified" attributeFormDefault="unqualified" xmlns:pc="http://schemas.microsoft.com/office/infopath/2007/PartnerControls" xmlns:xs="http://www.w3.org/2001/XMLSchema">
<xs:element name="Person">
<xs:complexType>
<xs:sequence>
<xs:element ref="pc:DisplayName" minOccurs="0"></xs:element>
<xs:element ref="pc:AccountId" minOccurs="0"></xs:element>
<xs:element ref="pc:AccountType" minOccurs="0"></xs:element>
</xs:sequence>
</xs:complexType>
</xs:element>
<xs:element name="DisplayName" type="xs:string"></xs:element>
<xs:element name="AccountId" type="xs:string"></xs:element>
<xs:element name="AccountType" type="xs:string"></xs:element>
<xs:element name="BDCAssociatedEntity">
<xs:complexType>
<xs:sequence>
<xs:element ref="pc:BDCEntity" minOccurs="0" maxOccurs="unbounded"></xs:element>
</xs:sequence>
<xs:attribute ref="pc:EntityNamespace"></xs:attribute>
<xs:attribute ref="pc:EntityName"></xs:attribute>
<xs:attribute ref="pc:SystemInstanceName"></xs:attribute>
<xs:attribute ref="pc:AssociationName"></xs:attribute>
</xs:complexType>
</xs:element>
<xs:attribute name="EntityNamespace" type="xs:string"></xs:attribute>
<xs:attribute name="EntityName" type="xs:string"></xs:attribute>
<xs:attribute name="SystemInstanceName" type="xs:string"></xs:attribute>
<xs:attribute name="AssociationName" type="xs:string"></xs:attribute>
<xs:element name="BDCEntity">
<xs:complexType>
<xs:sequence>
<xs:element ref="pc:EntityDisplayName" minOccurs="0"></xs:element>
<xs:element ref="pc:EntityInstanceReference" minOccurs="0"></xs:element>
<xs:element ref="pc:EntityId1" minOccurs="0"></xs:element>
<xs:element ref="pc:EntityId2" minOccurs="0"></xs:element>
<xs:element ref="pc:EntityId3" minOccurs="0"></xs:element>
<xs:element ref="pc:EntityId4" minOccurs="0"></xs:element>
<xs:element ref="pc:EntityId5" minOccurs="0"></xs:element>
</xs:sequence>
</xs:complexType>
</xs:element>
<xs:element name="EntityDisplayName" type="xs:string"></xs:element>
<xs:element name="EntityInstanceReference" type="xs:string"></xs:element>
<xs:element name="EntityId1" type="xs:string"></xs:element>
<xs:element name="EntityId2" type="xs:string"></xs:element>
<xs:element name="EntityId3" type="xs:string"></xs:element>
<xs:element name="EntityId4" type="xs:string"></xs:element>
<xs:element name="EntityId5" type="xs:string"></xs:element>
<xs:element name="Terms">
<xs:complexType>
<xs:sequence>
<xs:element ref="pc:TermInfo" minOccurs="0" maxOccurs="unbounded"></xs:element>
</xs:sequence>
</xs:complexType>
</xs:element>
<xs:element name="TermInfo">
<xs:complexType>
<xs:sequence>
<xs:element ref="pc:TermName" minOccurs="0"></xs:element>
<xs:element ref="pc:TermId" minOccurs="0"></xs:element>
</xs:sequence>
</xs:complexType>
</xs:element>
<xs:element name="TermName" type="xs:string"></xs:element>
<xs:element name="TermId" type="xs:string"></xs:element>
</xs:schema>
</ct:contentTypeSchema>
</file>

<file path=customXml/item3.xml><?xml version="1.0" encoding="utf-8"?><p:properties xmlns:p="http://schemas.microsoft.com/office/2006/metadata/properties" xmlns:xsi="http://www.w3.org/2001/XMLSchema-instance" xmlns:pc="http://schemas.microsoft.com/office/infopath/2007/PartnerControls"><documentManagement><Document_x0020_Author xmlns="$ListId:Knowledge Repository;"><UserInfo><DisplayName>P K Shrivastava</DisplayName><AccountId>5943</AccountId><AccountType/></UserInfo></Document_x0020_Author><Knowledge_x0020_Category0 xmlns="812183e9-4177-4a95-9887-6757facb7f0c">Codes and standard</Knowledge_x0020_Category0><Review_x0020_Date xmlns="812183e9-4177-4a95-9887-6757facb7f0c">2014-07-17T18:30:00+00:00</Review_x0020_Date><Knowledge_x0020_Category xmlns="812183e9-4177-4a95-9887-6757facb7f0c">Reference Material</Knowledge_x0020_Category><Abstract xmlns="a2054139-aa95-4ab4-8cc3-3d9331ffb219" xsi:nil="true"></Abstract><Workflow_x0020_Status xmlns="812183e9-4177-4a95-9887-6757facb7f0c">Pending for Manager Approval</Workflow_x0020_Status></documentManagement></p:properties>
</file>

<file path=customXml/itemProps1.xml><?xml version="1.0" encoding="utf-8"?>
<ds:datastoreItem xmlns:ds="http://schemas.openxmlformats.org/officeDocument/2006/customXml" ds:itemID="{6D701CD4-F10F-4BC6-909C-170C826DFB9C}"/>
</file>

<file path=customXml/itemProps2.xml><?xml version="1.0" encoding="utf-8"?>
<ds:datastoreItem xmlns:ds="http://schemas.openxmlformats.org/officeDocument/2006/customXml" ds:itemID="{16E18793-2B6D-4AD1-9F0A-B0AD73572607}"/>
</file>

<file path=customXml/itemProps3.xml><?xml version="1.0" encoding="utf-8"?>
<ds:datastoreItem xmlns:ds="http://schemas.openxmlformats.org/officeDocument/2006/customXml" ds:itemID="{F3C17219-6D4D-46A6-9AD4-401EAD150DEA}"/>
</file>

<file path=docProps/app.xml><?xml version="1.0" encoding="utf-8"?>
<Properties xmlns="http://schemas.openxmlformats.org/officeDocument/2006/extended-properties" xmlns:vt="http://schemas.openxmlformats.org/officeDocument/2006/docPropsVTypes">
  <Template>Theme</Template>
  <TotalTime>321</TotalTime>
  <Words>1862</Words>
  <Application>Microsoft Office PowerPoint</Application>
  <PresentationFormat>On-screen Show (4:3)</PresentationFormat>
  <Paragraphs>439</Paragraphs>
  <Slides>23</Slides>
  <Notes>5</Notes>
  <HiddenSlides>0</HiddenSlides>
  <MMClips>0</MMClips>
  <ScaleCrop>false</ScaleCrop>
  <HeadingPairs>
    <vt:vector size="6" baseType="variant">
      <vt:variant>
        <vt:lpstr>Fonts Used</vt:lpstr>
      </vt:variant>
      <vt:variant>
        <vt:i4>6</vt:i4>
      </vt:variant>
      <vt:variant>
        <vt:lpstr>Design Template</vt:lpstr>
      </vt:variant>
      <vt:variant>
        <vt:i4>5</vt:i4>
      </vt:variant>
      <vt:variant>
        <vt:lpstr>Slide Titles</vt:lpstr>
      </vt:variant>
      <vt:variant>
        <vt:i4>23</vt:i4>
      </vt:variant>
    </vt:vector>
  </HeadingPairs>
  <TitlesOfParts>
    <vt:vector size="34" baseType="lpstr">
      <vt:lpstr>Arial</vt:lpstr>
      <vt:lpstr>Monotype Sorts</vt:lpstr>
      <vt:lpstr>Calibri</vt:lpstr>
      <vt:lpstr>Wingdings</vt:lpstr>
      <vt:lpstr>Symbol</vt:lpstr>
      <vt:lpstr>Times New Roman</vt:lpstr>
      <vt:lpstr>Theme</vt:lpstr>
      <vt:lpstr>Theme</vt:lpstr>
      <vt:lpstr>Theme</vt:lpstr>
      <vt:lpstr>Theme</vt:lpstr>
      <vt:lpstr>Theme</vt:lpstr>
      <vt:lpstr>ENG0001E: Engineering Management - Level 2</vt:lpstr>
      <vt:lpstr>Engineering Contractor’s Document Preparation &amp; Issue</vt:lpstr>
      <vt:lpstr>Drawings  </vt:lpstr>
      <vt:lpstr>Drawings</vt:lpstr>
      <vt:lpstr>Drawing Numbering</vt:lpstr>
      <vt:lpstr>Drawings – Key Points</vt:lpstr>
      <vt:lpstr>Technical Review and Approval Matrix - TRAM</vt:lpstr>
      <vt:lpstr>DOR-Division of Responsibility Matrix</vt:lpstr>
      <vt:lpstr>Specifications</vt:lpstr>
      <vt:lpstr>Specifications</vt:lpstr>
      <vt:lpstr>Specification Numbering</vt:lpstr>
      <vt:lpstr>Specifications</vt:lpstr>
      <vt:lpstr>Specifications – Key Points</vt:lpstr>
      <vt:lpstr>Calculations</vt:lpstr>
      <vt:lpstr>Calculation Numbering</vt:lpstr>
      <vt:lpstr>Calculations</vt:lpstr>
      <vt:lpstr>Calculations – Key Points</vt:lpstr>
      <vt:lpstr>Engineering Study Reports</vt:lpstr>
      <vt:lpstr>Reports and Studies</vt:lpstr>
      <vt:lpstr>Study / Report Numbering </vt:lpstr>
      <vt:lpstr>Reports and Studies – Key Points</vt:lpstr>
      <vt:lpstr>Other Deliverables  </vt:lpstr>
      <vt:lpstr>Wrap up</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ENG0001E: Engineering Management - Level 2</dc:title>
  <dc:creator>Pranit Ubhare</dc:creator>
  <cp:keywords/>
  <cp:lastModifiedBy>raz17093</cp:lastModifiedBy>
  <cp:revision>69</cp:revision>
  <dcterms:created xsi:type="dcterms:W3CDTF">2013-07-01T09:57:32Z</dcterms:created>
  <dcterms:modified xsi:type="dcterms:W3CDTF">2013-09-23T12:02:01Z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0x0101008FFC349986C57A409F1D95F9E994F323</vt:lpwstr>
  </property>
</Properties>
</file>